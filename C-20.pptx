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8" r:id="rId2"/>
    <p:sldId id="257" r:id="rId3"/>
    <p:sldId id="286" r:id="rId4"/>
    <p:sldId id="285" r:id="rId5"/>
    <p:sldId id="287" r:id="rId6"/>
    <p:sldId id="269" r:id="rId7"/>
    <p:sldId id="270" r:id="rId8"/>
    <p:sldId id="276" r:id="rId9"/>
    <p:sldId id="262" r:id="rId10"/>
    <p:sldId id="297" r:id="rId11"/>
    <p:sldId id="289" r:id="rId12"/>
    <p:sldId id="310" r:id="rId13"/>
    <p:sldId id="311" r:id="rId14"/>
    <p:sldId id="296" r:id="rId15"/>
    <p:sldId id="291" r:id="rId16"/>
    <p:sldId id="308" r:id="rId17"/>
    <p:sldId id="304" r:id="rId18"/>
    <p:sldId id="305" r:id="rId19"/>
    <p:sldId id="306" r:id="rId20"/>
    <p:sldId id="307" r:id="rId21"/>
    <p:sldId id="299" r:id="rId22"/>
    <p:sldId id="300" r:id="rId23"/>
    <p:sldId id="301" r:id="rId24"/>
    <p:sldId id="302" r:id="rId25"/>
    <p:sldId id="309" r:id="rId26"/>
    <p:sldId id="295" r:id="rId27"/>
    <p:sldId id="275" r:id="rId28"/>
    <p:sldId id="274" r:id="rId29"/>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484" y="-6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file:///C:\Users\HP\Downloads\Book1.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HP\Downloads\Book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HP\Downloads\Book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a:t>Training vs Validation Loss for ResNet50</a:t>
            </a:r>
          </a:p>
        </c:rich>
      </c:tx>
      <c:layout/>
      <c:overlay val="0"/>
    </c:title>
    <c:autoTitleDeleted val="0"/>
    <c:plotArea>
      <c:layout/>
      <c:lineChart>
        <c:grouping val="standard"/>
        <c:varyColors val="0"/>
        <c:ser>
          <c:idx val="0"/>
          <c:order val="0"/>
          <c:tx>
            <c:strRef>
              <c:f>Sheet1!$B$74</c:f>
              <c:strCache>
                <c:ptCount val="1"/>
                <c:pt idx="0">
                  <c:v>Train Loss</c:v>
                </c:pt>
              </c:strCache>
            </c:strRef>
          </c:tx>
          <c:val>
            <c:numRef>
              <c:f>Sheet1!$B$75:$B$89</c:f>
              <c:numCache>
                <c:formatCode>General</c:formatCode>
                <c:ptCount val="15"/>
                <c:pt idx="0">
                  <c:v>1.7</c:v>
                </c:pt>
                <c:pt idx="1">
                  <c:v>1.1499999999999999</c:v>
                </c:pt>
                <c:pt idx="2">
                  <c:v>1</c:v>
                </c:pt>
                <c:pt idx="3">
                  <c:v>0.92</c:v>
                </c:pt>
                <c:pt idx="4">
                  <c:v>0.85</c:v>
                </c:pt>
                <c:pt idx="5">
                  <c:v>0.8</c:v>
                </c:pt>
                <c:pt idx="6">
                  <c:v>0.77</c:v>
                </c:pt>
                <c:pt idx="7">
                  <c:v>0.74</c:v>
                </c:pt>
                <c:pt idx="8">
                  <c:v>0.71</c:v>
                </c:pt>
                <c:pt idx="9">
                  <c:v>0.69</c:v>
                </c:pt>
                <c:pt idx="10">
                  <c:v>0.68</c:v>
                </c:pt>
                <c:pt idx="11">
                  <c:v>0.66</c:v>
                </c:pt>
                <c:pt idx="12">
                  <c:v>0.64</c:v>
                </c:pt>
                <c:pt idx="13">
                  <c:v>0.63</c:v>
                </c:pt>
                <c:pt idx="14">
                  <c:v>0.62</c:v>
                </c:pt>
              </c:numCache>
            </c:numRef>
          </c:val>
          <c:smooth val="0"/>
        </c:ser>
        <c:ser>
          <c:idx val="1"/>
          <c:order val="1"/>
          <c:tx>
            <c:strRef>
              <c:f>Sheet1!$C$74</c:f>
              <c:strCache>
                <c:ptCount val="1"/>
                <c:pt idx="0">
                  <c:v>Val Loss</c:v>
                </c:pt>
              </c:strCache>
            </c:strRef>
          </c:tx>
          <c:val>
            <c:numRef>
              <c:f>Sheet1!$C$75:$C$89</c:f>
              <c:numCache>
                <c:formatCode>General</c:formatCode>
                <c:ptCount val="15"/>
                <c:pt idx="0">
                  <c:v>2.6</c:v>
                </c:pt>
                <c:pt idx="1">
                  <c:v>2.1</c:v>
                </c:pt>
                <c:pt idx="2">
                  <c:v>1.45</c:v>
                </c:pt>
                <c:pt idx="3">
                  <c:v>1.05</c:v>
                </c:pt>
                <c:pt idx="4">
                  <c:v>0.95</c:v>
                </c:pt>
                <c:pt idx="5">
                  <c:v>0.94</c:v>
                </c:pt>
                <c:pt idx="6">
                  <c:v>0.93</c:v>
                </c:pt>
                <c:pt idx="7">
                  <c:v>0.95</c:v>
                </c:pt>
                <c:pt idx="8">
                  <c:v>0.96</c:v>
                </c:pt>
                <c:pt idx="9">
                  <c:v>0.92</c:v>
                </c:pt>
                <c:pt idx="10">
                  <c:v>0.93</c:v>
                </c:pt>
                <c:pt idx="11">
                  <c:v>0.95</c:v>
                </c:pt>
                <c:pt idx="12">
                  <c:v>0.97</c:v>
                </c:pt>
                <c:pt idx="13">
                  <c:v>0.96</c:v>
                </c:pt>
                <c:pt idx="14">
                  <c:v>0.94</c:v>
                </c:pt>
              </c:numCache>
            </c:numRef>
          </c:val>
          <c:smooth val="0"/>
        </c:ser>
        <c:dLbls>
          <c:showLegendKey val="0"/>
          <c:showVal val="0"/>
          <c:showCatName val="0"/>
          <c:showSerName val="0"/>
          <c:showPercent val="0"/>
          <c:showBubbleSize val="0"/>
        </c:dLbls>
        <c:marker val="1"/>
        <c:smooth val="0"/>
        <c:axId val="186702336"/>
        <c:axId val="190252736"/>
      </c:lineChart>
      <c:catAx>
        <c:axId val="186702336"/>
        <c:scaling>
          <c:orientation val="minMax"/>
        </c:scaling>
        <c:delete val="0"/>
        <c:axPos val="b"/>
        <c:title>
          <c:tx>
            <c:rich>
              <a:bodyPr/>
              <a:lstStyle/>
              <a:p>
                <a:pPr>
                  <a:defRPr/>
                </a:pPr>
                <a:r>
                  <a:rPr lang="en-IN"/>
                  <a:t>Epoch</a:t>
                </a:r>
              </a:p>
            </c:rich>
          </c:tx>
          <c:layout/>
          <c:overlay val="0"/>
        </c:title>
        <c:majorTickMark val="none"/>
        <c:minorTickMark val="none"/>
        <c:tickLblPos val="nextTo"/>
        <c:crossAx val="190252736"/>
        <c:crosses val="autoZero"/>
        <c:auto val="1"/>
        <c:lblAlgn val="ctr"/>
        <c:lblOffset val="100"/>
        <c:noMultiLvlLbl val="0"/>
      </c:catAx>
      <c:valAx>
        <c:axId val="190252736"/>
        <c:scaling>
          <c:orientation val="minMax"/>
        </c:scaling>
        <c:delete val="0"/>
        <c:axPos val="l"/>
        <c:title>
          <c:tx>
            <c:rich>
              <a:bodyPr rot="-5400000" vert="horz"/>
              <a:lstStyle/>
              <a:p>
                <a:pPr>
                  <a:defRPr/>
                </a:pPr>
                <a:r>
                  <a:rPr lang="en-IN"/>
                  <a:t>Loss</a:t>
                </a:r>
              </a:p>
            </c:rich>
          </c:tx>
          <c:layout/>
          <c:overlay val="0"/>
        </c:title>
        <c:numFmt formatCode="General" sourceLinked="1"/>
        <c:majorTickMark val="none"/>
        <c:minorTickMark val="none"/>
        <c:tickLblPos val="nextTo"/>
        <c:crossAx val="186702336"/>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I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a:t>Training and Validation Loss for fake/real (RoBERTa)</a:t>
            </a:r>
          </a:p>
        </c:rich>
      </c:tx>
      <c:layout/>
      <c:overlay val="0"/>
    </c:title>
    <c:autoTitleDeleted val="0"/>
    <c:plotArea>
      <c:layout/>
      <c:lineChart>
        <c:grouping val="standard"/>
        <c:varyColors val="0"/>
        <c:ser>
          <c:idx val="0"/>
          <c:order val="0"/>
          <c:tx>
            <c:strRef>
              <c:f>Sheet1!$A$118</c:f>
              <c:strCache>
                <c:ptCount val="1"/>
                <c:pt idx="0">
                  <c:v>Train loss</c:v>
                </c:pt>
              </c:strCache>
            </c:strRef>
          </c:tx>
          <c:marker>
            <c:symbol val="none"/>
          </c:marker>
          <c:val>
            <c:numRef>
              <c:f>Sheet1!$A$119:$A$123</c:f>
              <c:numCache>
                <c:formatCode>General</c:formatCode>
                <c:ptCount val="5"/>
                <c:pt idx="0">
                  <c:v>0.38</c:v>
                </c:pt>
                <c:pt idx="1">
                  <c:v>0.34</c:v>
                </c:pt>
                <c:pt idx="2">
                  <c:v>0.26</c:v>
                </c:pt>
                <c:pt idx="3">
                  <c:v>0.2</c:v>
                </c:pt>
                <c:pt idx="4">
                  <c:v>0.17</c:v>
                </c:pt>
              </c:numCache>
            </c:numRef>
          </c:val>
          <c:smooth val="0"/>
        </c:ser>
        <c:ser>
          <c:idx val="1"/>
          <c:order val="1"/>
          <c:tx>
            <c:strRef>
              <c:f>Sheet1!$B$118</c:f>
              <c:strCache>
                <c:ptCount val="1"/>
                <c:pt idx="0">
                  <c:v>Validation loss</c:v>
                </c:pt>
              </c:strCache>
            </c:strRef>
          </c:tx>
          <c:marker>
            <c:symbol val="none"/>
          </c:marker>
          <c:val>
            <c:numRef>
              <c:f>Sheet1!$B$119:$B$123</c:f>
              <c:numCache>
                <c:formatCode>General</c:formatCode>
                <c:ptCount val="5"/>
                <c:pt idx="0">
                  <c:v>0.39700000000000002</c:v>
                </c:pt>
                <c:pt idx="1">
                  <c:v>0.35</c:v>
                </c:pt>
                <c:pt idx="2">
                  <c:v>0.27</c:v>
                </c:pt>
                <c:pt idx="3">
                  <c:v>0.23</c:v>
                </c:pt>
                <c:pt idx="4">
                  <c:v>0.2</c:v>
                </c:pt>
              </c:numCache>
            </c:numRef>
          </c:val>
          <c:smooth val="0"/>
        </c:ser>
        <c:dLbls>
          <c:showLegendKey val="0"/>
          <c:showVal val="0"/>
          <c:showCatName val="0"/>
          <c:showSerName val="0"/>
          <c:showPercent val="0"/>
          <c:showBubbleSize val="0"/>
        </c:dLbls>
        <c:marker val="1"/>
        <c:smooth val="0"/>
        <c:axId val="186702848"/>
        <c:axId val="190255040"/>
      </c:lineChart>
      <c:catAx>
        <c:axId val="186702848"/>
        <c:scaling>
          <c:orientation val="minMax"/>
        </c:scaling>
        <c:delete val="0"/>
        <c:axPos val="b"/>
        <c:title>
          <c:tx>
            <c:rich>
              <a:bodyPr/>
              <a:lstStyle/>
              <a:p>
                <a:pPr>
                  <a:defRPr/>
                </a:pPr>
                <a:r>
                  <a:rPr lang="en-IN"/>
                  <a:t>Epoch</a:t>
                </a:r>
              </a:p>
            </c:rich>
          </c:tx>
          <c:layout/>
          <c:overlay val="0"/>
        </c:title>
        <c:majorTickMark val="none"/>
        <c:minorTickMark val="none"/>
        <c:tickLblPos val="nextTo"/>
        <c:crossAx val="190255040"/>
        <c:crosses val="autoZero"/>
        <c:auto val="1"/>
        <c:lblAlgn val="ctr"/>
        <c:lblOffset val="100"/>
        <c:noMultiLvlLbl val="0"/>
      </c:catAx>
      <c:valAx>
        <c:axId val="190255040"/>
        <c:scaling>
          <c:orientation val="minMax"/>
          <c:min val="0.1"/>
        </c:scaling>
        <c:delete val="0"/>
        <c:axPos val="l"/>
        <c:title>
          <c:tx>
            <c:rich>
              <a:bodyPr rot="-5400000" vert="horz"/>
              <a:lstStyle/>
              <a:p>
                <a:pPr>
                  <a:defRPr/>
                </a:pPr>
                <a:r>
                  <a:rPr lang="en-IN"/>
                  <a:t>Loss</a:t>
                </a:r>
              </a:p>
            </c:rich>
          </c:tx>
          <c:layout/>
          <c:overlay val="0"/>
        </c:title>
        <c:numFmt formatCode="General" sourceLinked="1"/>
        <c:majorTickMark val="none"/>
        <c:minorTickMark val="none"/>
        <c:tickLblPos val="nextTo"/>
        <c:crossAx val="186702848"/>
        <c:crosses val="autoZero"/>
        <c:crossBetween val="between"/>
      </c:valAx>
    </c:plotArea>
    <c:legend>
      <c:legendPos val="b"/>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I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a:t>Training vs Validation Loss of Disaster/Not (RoBERTa)</a:t>
            </a:r>
          </a:p>
        </c:rich>
      </c:tx>
      <c:layout/>
      <c:overlay val="0"/>
    </c:title>
    <c:autoTitleDeleted val="0"/>
    <c:plotArea>
      <c:layout/>
      <c:lineChart>
        <c:grouping val="standard"/>
        <c:varyColors val="0"/>
        <c:ser>
          <c:idx val="1"/>
          <c:order val="0"/>
          <c:tx>
            <c:strRef>
              <c:f>Sheet1!$B$13</c:f>
              <c:strCache>
                <c:ptCount val="1"/>
                <c:pt idx="0">
                  <c:v>Train loss</c:v>
                </c:pt>
              </c:strCache>
            </c:strRef>
          </c:tx>
          <c:cat>
            <c:numRef>
              <c:f>Sheet1!$A$14:$A$18</c:f>
              <c:numCache>
                <c:formatCode>General</c:formatCode>
                <c:ptCount val="5"/>
                <c:pt idx="0">
                  <c:v>1</c:v>
                </c:pt>
                <c:pt idx="1">
                  <c:v>2</c:v>
                </c:pt>
                <c:pt idx="2">
                  <c:v>3</c:v>
                </c:pt>
                <c:pt idx="3">
                  <c:v>4</c:v>
                </c:pt>
                <c:pt idx="4">
                  <c:v>5</c:v>
                </c:pt>
              </c:numCache>
            </c:numRef>
          </c:cat>
          <c:val>
            <c:numRef>
              <c:f>Sheet1!$B$14:$B$18</c:f>
              <c:numCache>
                <c:formatCode>General</c:formatCode>
                <c:ptCount val="5"/>
                <c:pt idx="0">
                  <c:v>0.36</c:v>
                </c:pt>
                <c:pt idx="1">
                  <c:v>0.32</c:v>
                </c:pt>
                <c:pt idx="2">
                  <c:v>0.24</c:v>
                </c:pt>
                <c:pt idx="3">
                  <c:v>0.17</c:v>
                </c:pt>
                <c:pt idx="4">
                  <c:v>0.15</c:v>
                </c:pt>
              </c:numCache>
            </c:numRef>
          </c:val>
          <c:smooth val="0"/>
        </c:ser>
        <c:ser>
          <c:idx val="2"/>
          <c:order val="1"/>
          <c:tx>
            <c:strRef>
              <c:f>Sheet1!$C$13</c:f>
              <c:strCache>
                <c:ptCount val="1"/>
                <c:pt idx="0">
                  <c:v>Validation loss</c:v>
                </c:pt>
              </c:strCache>
            </c:strRef>
          </c:tx>
          <c:cat>
            <c:numRef>
              <c:f>Sheet1!$A$14:$A$18</c:f>
              <c:numCache>
                <c:formatCode>General</c:formatCode>
                <c:ptCount val="5"/>
                <c:pt idx="0">
                  <c:v>1</c:v>
                </c:pt>
                <c:pt idx="1">
                  <c:v>2</c:v>
                </c:pt>
                <c:pt idx="2">
                  <c:v>3</c:v>
                </c:pt>
                <c:pt idx="3">
                  <c:v>4</c:v>
                </c:pt>
                <c:pt idx="4">
                  <c:v>5</c:v>
                </c:pt>
              </c:numCache>
            </c:numRef>
          </c:cat>
          <c:val>
            <c:numRef>
              <c:f>Sheet1!$C$14:$C$18</c:f>
              <c:numCache>
                <c:formatCode>General</c:formatCode>
                <c:ptCount val="5"/>
                <c:pt idx="0">
                  <c:v>0.39</c:v>
                </c:pt>
                <c:pt idx="1">
                  <c:v>0.33</c:v>
                </c:pt>
                <c:pt idx="2">
                  <c:v>0.27</c:v>
                </c:pt>
                <c:pt idx="3">
                  <c:v>0.19</c:v>
                </c:pt>
                <c:pt idx="4">
                  <c:v>0.17</c:v>
                </c:pt>
              </c:numCache>
            </c:numRef>
          </c:val>
          <c:smooth val="0"/>
        </c:ser>
        <c:dLbls>
          <c:showLegendKey val="0"/>
          <c:showVal val="0"/>
          <c:showCatName val="0"/>
          <c:showSerName val="0"/>
          <c:showPercent val="0"/>
          <c:showBubbleSize val="0"/>
        </c:dLbls>
        <c:marker val="1"/>
        <c:smooth val="0"/>
        <c:axId val="146734080"/>
        <c:axId val="190258496"/>
      </c:lineChart>
      <c:catAx>
        <c:axId val="146734080"/>
        <c:scaling>
          <c:orientation val="minMax"/>
        </c:scaling>
        <c:delete val="0"/>
        <c:axPos val="b"/>
        <c:title>
          <c:tx>
            <c:rich>
              <a:bodyPr/>
              <a:lstStyle/>
              <a:p>
                <a:pPr>
                  <a:defRPr/>
                </a:pPr>
                <a:r>
                  <a:rPr lang="en-IN"/>
                  <a:t>Epoch</a:t>
                </a:r>
              </a:p>
            </c:rich>
          </c:tx>
          <c:layout/>
          <c:overlay val="0"/>
        </c:title>
        <c:numFmt formatCode="General" sourceLinked="1"/>
        <c:majorTickMark val="none"/>
        <c:minorTickMark val="none"/>
        <c:tickLblPos val="nextTo"/>
        <c:crossAx val="190258496"/>
        <c:crosses val="autoZero"/>
        <c:auto val="1"/>
        <c:lblAlgn val="ctr"/>
        <c:lblOffset val="100"/>
        <c:noMultiLvlLbl val="0"/>
      </c:catAx>
      <c:valAx>
        <c:axId val="190258496"/>
        <c:scaling>
          <c:orientation val="minMax"/>
          <c:min val="0.1"/>
        </c:scaling>
        <c:delete val="0"/>
        <c:axPos val="l"/>
        <c:title>
          <c:tx>
            <c:rich>
              <a:bodyPr rot="-5400000" vert="horz"/>
              <a:lstStyle/>
              <a:p>
                <a:pPr>
                  <a:defRPr/>
                </a:pPr>
                <a:r>
                  <a:rPr lang="en-IN"/>
                  <a:t>Loss</a:t>
                </a:r>
              </a:p>
            </c:rich>
          </c:tx>
          <c:layout/>
          <c:overlay val="0"/>
        </c:title>
        <c:numFmt formatCode="General" sourceLinked="1"/>
        <c:majorTickMark val="none"/>
        <c:minorTickMark val="none"/>
        <c:tickLblPos val="nextTo"/>
        <c:crossAx val="146734080"/>
        <c:crosses val="autoZero"/>
        <c:crossBetween val="between"/>
      </c:valAx>
    </c:plotArea>
    <c:legend>
      <c:legendPos val="b"/>
      <c:layout/>
      <c:overlay val="0"/>
    </c:legend>
    <c:plotVisOnly val="1"/>
    <c:dispBlanksAs val="gap"/>
    <c:showDLblsOverMax val="0"/>
  </c:chart>
  <c:spPr>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C06BD5-0A00-4A50-88DE-40D00FE3E0AD}" type="datetimeFigureOut">
              <a:rPr lang="en-IN" smtClean="0"/>
              <a:t>21-04-2026</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CDDD19-EFFE-48BD-B1EB-DB6C0C5C5B7F}" type="slidenum">
              <a:rPr lang="en-IN" smtClean="0"/>
              <a:t>‹#›</a:t>
            </a:fld>
            <a:endParaRPr lang="en-IN"/>
          </a:p>
        </p:txBody>
      </p:sp>
    </p:spTree>
    <p:extLst>
      <p:ext uri="{BB962C8B-B14F-4D97-AF65-F5344CB8AC3E}">
        <p14:creationId xmlns:p14="http://schemas.microsoft.com/office/powerpoint/2010/main" val="812772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BCDDD19-EFFE-48BD-B1EB-DB6C0C5C5B7F}" type="slidenum">
              <a:rPr lang="en-IN" smtClean="0"/>
              <a:t>27</a:t>
            </a:fld>
            <a:endParaRPr lang="en-IN"/>
          </a:p>
        </p:txBody>
      </p:sp>
    </p:spTree>
    <p:extLst>
      <p:ext uri="{BB962C8B-B14F-4D97-AF65-F5344CB8AC3E}">
        <p14:creationId xmlns:p14="http://schemas.microsoft.com/office/powerpoint/2010/main" val="1984411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1" y="2130428"/>
            <a:ext cx="10361852"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563" y="3886200"/>
            <a:ext cx="853329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58" y="4406903"/>
            <a:ext cx="10361852"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2958" y="2906713"/>
            <a:ext cx="1036185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22" y="1600203"/>
            <a:ext cx="53840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6793" y="1600203"/>
            <a:ext cx="53840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22"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22"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2562"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2562"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2" y="273050"/>
            <a:ext cx="4010562"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114" y="273053"/>
            <a:ext cx="681478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22" y="1435103"/>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0600"/>
            <a:ext cx="7314248"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406" y="612775"/>
            <a:ext cx="731424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50" y="274641"/>
            <a:ext cx="2742843"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21" y="274641"/>
            <a:ext cx="8025355"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2" y="274638"/>
            <a:ext cx="10971372"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22" y="1600203"/>
            <a:ext cx="1097137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22" y="6356353"/>
            <a:ext cx="284443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4165058" y="6356353"/>
            <a:ext cx="386029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6464" y="6356353"/>
            <a:ext cx="284443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kaggle.com/datasets/kabeer2004/flood-images-for-training" TargetMode="External"/><Relationship Id="rId2" Type="http://schemas.openxmlformats.org/officeDocument/2006/relationships/hyperlink" Target="https://www.kaggle.com/datasets/varpit94/disaster-images-datase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3957BD51-A823-4BF8-98E8-ADE6BB589927}"/>
              </a:ext>
            </a:extLst>
          </p:cNvPr>
          <p:cNvSpPr txBox="1">
            <a:spLocks/>
          </p:cNvSpPr>
          <p:nvPr/>
        </p:nvSpPr>
        <p:spPr>
          <a:xfrm>
            <a:off x="938441" y="278143"/>
            <a:ext cx="10353313" cy="107344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altLang="en-US" sz="3200" b="1" dirty="0" smtClean="0">
                <a:solidFill>
                  <a:srgbClr val="FF0000"/>
                </a:solidFill>
                <a:latin typeface="Calisto MT" panose="02040603050505030304" pitchFamily="18" charset="0"/>
                <a:ea typeface="SF Pro Display" pitchFamily="50" charset="0"/>
                <a:cs typeface="SF Pro Display" pitchFamily="50" charset="0"/>
              </a:rPr>
              <a:t>VR Siddhartha Engineering College </a:t>
            </a:r>
            <a:r>
              <a:rPr lang="en-IN" altLang="en-US" sz="3200" b="1" dirty="0">
                <a:solidFill>
                  <a:srgbClr val="FF0000"/>
                </a:solidFill>
                <a:latin typeface="Calisto MT" panose="02040603050505030304" pitchFamily="18" charset="0"/>
                <a:ea typeface="SF Pro Display" pitchFamily="50" charset="0"/>
                <a:cs typeface="SF Pro Display" pitchFamily="50" charset="0"/>
              </a:rPr>
              <a:t/>
            </a:r>
            <a:br>
              <a:rPr lang="en-IN" altLang="en-US" sz="3200" b="1" dirty="0">
                <a:solidFill>
                  <a:srgbClr val="FF0000"/>
                </a:solidFill>
                <a:latin typeface="Calisto MT" panose="02040603050505030304" pitchFamily="18" charset="0"/>
                <a:ea typeface="SF Pro Display" pitchFamily="50" charset="0"/>
                <a:cs typeface="SF Pro Display" pitchFamily="50" charset="0"/>
              </a:rPr>
            </a:br>
            <a:r>
              <a:rPr lang="en-IN" altLang="en-US" sz="3200" b="1" dirty="0">
                <a:solidFill>
                  <a:srgbClr val="FF0000"/>
                </a:solidFill>
                <a:latin typeface="Calisto MT" panose="02040603050505030304" pitchFamily="18" charset="0"/>
                <a:ea typeface="SF Pro Display" pitchFamily="50" charset="0"/>
                <a:cs typeface="SF Pro Display" pitchFamily="50" charset="0"/>
              </a:rPr>
              <a:t>Department </a:t>
            </a:r>
            <a:r>
              <a:rPr lang="en-IN" altLang="en-US" sz="3200" b="1" dirty="0" smtClean="0">
                <a:solidFill>
                  <a:srgbClr val="FF0000"/>
                </a:solidFill>
                <a:latin typeface="Calisto MT" panose="02040603050505030304" pitchFamily="18" charset="0"/>
                <a:ea typeface="SF Pro Display" pitchFamily="50" charset="0"/>
                <a:cs typeface="SF Pro Display" pitchFamily="50" charset="0"/>
              </a:rPr>
              <a:t>of </a:t>
            </a:r>
            <a:r>
              <a:rPr lang="en-IN" altLang="en-US" sz="3200" b="1" dirty="0">
                <a:solidFill>
                  <a:srgbClr val="FF0000"/>
                </a:solidFill>
                <a:latin typeface="Calisto MT" panose="02040603050505030304" pitchFamily="18" charset="0"/>
                <a:ea typeface="SF Pro Display" pitchFamily="50" charset="0"/>
                <a:cs typeface="SF Pro Display" pitchFamily="50" charset="0"/>
              </a:rPr>
              <a:t>Information Technology</a:t>
            </a:r>
            <a:endParaRPr lang="en-IN" sz="3200" b="1" dirty="0">
              <a:solidFill>
                <a:srgbClr val="FF0000"/>
              </a:solidFill>
              <a:latin typeface="Calisto MT" panose="02040603050505030304" pitchFamily="18" charset="0"/>
              <a:ea typeface="SF Pro Display" pitchFamily="50" charset="0"/>
              <a:cs typeface="SF Pro Display" pitchFamily="50" charset="0"/>
            </a:endParaRPr>
          </a:p>
        </p:txBody>
      </p:sp>
      <p:sp>
        <p:nvSpPr>
          <p:cNvPr id="5" name="Subtitle 2">
            <a:extLst>
              <a:ext uri="{FF2B5EF4-FFF2-40B4-BE49-F238E27FC236}">
                <a16:creationId xmlns="" xmlns:a16="http://schemas.microsoft.com/office/drawing/2014/main" id="{5975C9C2-5501-4BF2-934D-D419923A594E}"/>
              </a:ext>
            </a:extLst>
          </p:cNvPr>
          <p:cNvSpPr txBox="1">
            <a:spLocks/>
          </p:cNvSpPr>
          <p:nvPr/>
        </p:nvSpPr>
        <p:spPr>
          <a:xfrm>
            <a:off x="700199" y="1554838"/>
            <a:ext cx="10829801" cy="10529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400" b="1" dirty="0">
                <a:solidFill>
                  <a:srgbClr val="0070C0"/>
                </a:solidFill>
                <a:latin typeface="Times New Roman" panose="02020603050405020304" pitchFamily="18" charset="0"/>
                <a:ea typeface="SF Pro Display" pitchFamily="50" charset="0"/>
                <a:cs typeface="Times New Roman" panose="02020603050405020304" pitchFamily="18" charset="0"/>
              </a:rPr>
              <a:t>Multimodal Fake Disaster News Detection on </a:t>
            </a:r>
            <a:r>
              <a:rPr lang="en-US" sz="3400" b="1" dirty="0" smtClean="0">
                <a:solidFill>
                  <a:srgbClr val="0070C0"/>
                </a:solidFill>
                <a:latin typeface="Times New Roman" panose="02020603050405020304" pitchFamily="18" charset="0"/>
                <a:ea typeface="SF Pro Display" pitchFamily="50" charset="0"/>
                <a:cs typeface="Times New Roman" panose="02020603050405020304" pitchFamily="18" charset="0"/>
              </a:rPr>
              <a:t>Social Media Using </a:t>
            </a:r>
            <a:r>
              <a:rPr lang="en-US" sz="3400" b="1" dirty="0">
                <a:solidFill>
                  <a:srgbClr val="0070C0"/>
                </a:solidFill>
                <a:latin typeface="Times New Roman" panose="02020603050405020304" pitchFamily="18" charset="0"/>
                <a:ea typeface="SF Pro Display" pitchFamily="50" charset="0"/>
                <a:cs typeface="Times New Roman" panose="02020603050405020304" pitchFamily="18" charset="0"/>
              </a:rPr>
              <a:t>Deep Learning</a:t>
            </a:r>
            <a:endParaRPr lang="en-IN" sz="3400" b="1" dirty="0">
              <a:solidFill>
                <a:srgbClr val="0070C0"/>
              </a:solidFill>
              <a:latin typeface="Times New Roman" panose="02020603050405020304" pitchFamily="18" charset="0"/>
              <a:ea typeface="SF Pro Display" pitchFamily="50" charset="0"/>
              <a:cs typeface="Times New Roman" panose="02020603050405020304" pitchFamily="18" charset="0"/>
            </a:endParaRPr>
          </a:p>
        </p:txBody>
      </p:sp>
      <p:pic>
        <p:nvPicPr>
          <p:cNvPr id="6" name="Picture 2">
            <a:extLst>
              <a:ext uri="{FF2B5EF4-FFF2-40B4-BE49-F238E27FC236}">
                <a16:creationId xmlns="" xmlns:a16="http://schemas.microsoft.com/office/drawing/2014/main" id="{6A21E8D1-ABD4-4870-899B-F4FDCDB6EB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04" t="1723" r="13665" b="7373"/>
          <a:stretch/>
        </p:blipFill>
        <p:spPr bwMode="auto">
          <a:xfrm>
            <a:off x="128818" y="185358"/>
            <a:ext cx="1927788" cy="1033774"/>
          </a:xfrm>
          <a:prstGeom prst="rect">
            <a:avLst/>
          </a:prstGeom>
          <a:extLst>
            <a:ext uri="{91240B29-F687-4F45-9708-019B960494DF}">
              <a14:hiddenLine xmlns:a14="http://schemas.microsoft.com/office/drawing/2010/main" w="9525">
                <a:solidFill>
                  <a:srgbClr val="000000"/>
                </a:solidFill>
                <a:miter lim="800000"/>
                <a:headEnd/>
                <a:tailEnd/>
              </a14:hiddenLine>
            </a:ext>
          </a:extLst>
        </p:spPr>
      </p:pic>
      <p:pic>
        <p:nvPicPr>
          <p:cNvPr id="7" name="Picture 22" descr="Image result for vrsec">
            <a:extLst>
              <a:ext uri="{FF2B5EF4-FFF2-40B4-BE49-F238E27FC236}">
                <a16:creationId xmlns="" xmlns:a16="http://schemas.microsoft.com/office/drawing/2014/main" id="{65916FF0-3664-489E-9DA1-F5CE85717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7175" y="90305"/>
            <a:ext cx="1216700" cy="1586095"/>
          </a:xfrm>
          <a:prstGeom prst="rect">
            <a:avLst/>
          </a:prstGeom>
          <a:extLs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 xmlns:a16="http://schemas.microsoft.com/office/drawing/2014/main" id="{E7AE7113-C95A-4DD0-8909-744EAE5586B2}"/>
              </a:ext>
            </a:extLst>
          </p:cNvPr>
          <p:cNvSpPr txBox="1"/>
          <p:nvPr/>
        </p:nvSpPr>
        <p:spPr>
          <a:xfrm>
            <a:off x="3142304" y="2792909"/>
            <a:ext cx="5945591" cy="3924023"/>
          </a:xfrm>
          <a:prstGeom prst="rect">
            <a:avLst/>
          </a:prstGeom>
          <a:noFill/>
        </p:spPr>
        <p:txBody>
          <a:bodyPr wrap="square" rtlCol="0">
            <a:spAutoFit/>
          </a:bodyPr>
          <a:lstStyle/>
          <a:p>
            <a:pPr algn="ctr"/>
            <a:r>
              <a:rPr lang="en-US" altLang="en-US" sz="2500" b="1" dirty="0">
                <a:latin typeface="Calisto MT" panose="02040603050505030304" pitchFamily="18" charset="0"/>
                <a:ea typeface="SF Pro Display" pitchFamily="50" charset="0"/>
                <a:cs typeface="SF Pro Display" pitchFamily="50" charset="0"/>
              </a:rPr>
              <a:t>B. Tech in Information Technology</a:t>
            </a:r>
          </a:p>
          <a:p>
            <a:pPr algn="ctr"/>
            <a:r>
              <a:rPr lang="en-US" altLang="en-US" sz="2500" b="1" dirty="0" smtClean="0">
                <a:solidFill>
                  <a:srgbClr val="FF0000"/>
                </a:solidFill>
                <a:latin typeface="Calisto MT" panose="02040603050505030304" pitchFamily="18" charset="0"/>
                <a:ea typeface="SF Pro Display" pitchFamily="50" charset="0"/>
                <a:cs typeface="SF Pro Display" pitchFamily="50" charset="0"/>
              </a:rPr>
              <a:t>20IT8551</a:t>
            </a:r>
            <a:r>
              <a:rPr lang="en-US" altLang="en-US" sz="2500" b="1" dirty="0">
                <a:solidFill>
                  <a:srgbClr val="FF0000"/>
                </a:solidFill>
                <a:latin typeface="Calisto MT" panose="02040603050505030304" pitchFamily="18" charset="0"/>
                <a:ea typeface="SF Pro Display" pitchFamily="50" charset="0"/>
                <a:cs typeface="SF Pro Display" pitchFamily="50" charset="0"/>
              </a:rPr>
              <a:t>: </a:t>
            </a:r>
            <a:r>
              <a:rPr lang="en-US" altLang="en-US" sz="2500" b="1" dirty="0" smtClean="0">
                <a:solidFill>
                  <a:srgbClr val="FF0000"/>
                </a:solidFill>
                <a:latin typeface="Calisto MT" panose="02040603050505030304" pitchFamily="18" charset="0"/>
                <a:ea typeface="SF Pro Display" pitchFamily="50" charset="0"/>
                <a:cs typeface="SF Pro Display" pitchFamily="50" charset="0"/>
              </a:rPr>
              <a:t>MAJOR PROJECT</a:t>
            </a:r>
            <a:endParaRPr lang="en-US" altLang="en-US" sz="2200" b="1" dirty="0" smtClean="0">
              <a:solidFill>
                <a:srgbClr val="FF0000"/>
              </a:solidFill>
              <a:latin typeface="Calisto MT" panose="02040603050505030304" pitchFamily="18" charset="0"/>
              <a:ea typeface="SF Pro Display" pitchFamily="50" charset="0"/>
              <a:cs typeface="SF Pro Display" pitchFamily="50" charset="0"/>
            </a:endParaRPr>
          </a:p>
          <a:p>
            <a:pPr algn="ctr"/>
            <a:r>
              <a:rPr lang="en-US" altLang="en-US" sz="2500" b="1" dirty="0" smtClean="0">
                <a:solidFill>
                  <a:srgbClr val="FF0000"/>
                </a:solidFill>
                <a:latin typeface="Calisto MT" panose="02040603050505030304" pitchFamily="18" charset="0"/>
                <a:ea typeface="SF Pro Display" pitchFamily="50" charset="0"/>
                <a:cs typeface="SF Pro Display" pitchFamily="50" charset="0"/>
              </a:rPr>
              <a:t>BATCH-20</a:t>
            </a:r>
            <a:endParaRPr lang="en-US" altLang="en-US" sz="2500" b="1" dirty="0">
              <a:solidFill>
                <a:srgbClr val="FF0000"/>
              </a:solidFill>
              <a:latin typeface="Calisto MT" panose="02040603050505030304" pitchFamily="18" charset="0"/>
              <a:ea typeface="SF Pro Display" pitchFamily="50" charset="0"/>
              <a:cs typeface="SF Pro Display" pitchFamily="50" charset="0"/>
            </a:endParaRPr>
          </a:p>
          <a:p>
            <a:pPr algn="ctr"/>
            <a:endParaRPr lang="en-US" altLang="en-US" sz="1999" b="1" dirty="0">
              <a:latin typeface="Calisto MT" panose="02040603050505030304" pitchFamily="18" charset="0"/>
              <a:ea typeface="SF Pro Display" pitchFamily="50" charset="0"/>
              <a:cs typeface="SF Pro Display" pitchFamily="50" charset="0"/>
            </a:endParaRPr>
          </a:p>
          <a:p>
            <a:pPr algn="ctr">
              <a:spcBef>
                <a:spcPct val="20000"/>
              </a:spcBef>
            </a:pPr>
            <a:r>
              <a:rPr lang="en-IN" altLang="en-US" sz="2200" b="1" dirty="0">
                <a:solidFill>
                  <a:srgbClr val="000000"/>
                </a:solidFill>
                <a:latin typeface="Calisto MT" panose="02040603050505030304" pitchFamily="18" charset="0"/>
                <a:ea typeface="SF Pro Display" pitchFamily="50" charset="0"/>
                <a:cs typeface="SF Pro Display" pitchFamily="50" charset="0"/>
              </a:rPr>
              <a:t>Presented by</a:t>
            </a:r>
            <a:endParaRPr lang="en-US" altLang="en-US" sz="2200" b="1" dirty="0">
              <a:solidFill>
                <a:srgbClr val="000000"/>
              </a:solidFill>
              <a:latin typeface="Calisto MT" panose="02040603050505030304" pitchFamily="18" charset="0"/>
              <a:ea typeface="SF Pro Display" pitchFamily="50" charset="0"/>
              <a:cs typeface="SF Pro Display" pitchFamily="50" charset="0"/>
            </a:endParaRPr>
          </a:p>
          <a:p>
            <a:pPr algn="ctr">
              <a:spcBef>
                <a:spcPct val="20000"/>
              </a:spcBef>
            </a:pPr>
            <a:r>
              <a:rPr lang="en-US" altLang="en-US" sz="2200" b="1" dirty="0" smtClean="0">
                <a:solidFill>
                  <a:srgbClr val="0070C0"/>
                </a:solidFill>
                <a:latin typeface="Calisto MT" panose="02040603050505030304" pitchFamily="18" charset="0"/>
                <a:ea typeface="SF Pro Display" pitchFamily="50" charset="0"/>
                <a:cs typeface="SF Pro Display" pitchFamily="50" charset="0"/>
              </a:rPr>
              <a:t>Shaik </a:t>
            </a:r>
            <a:r>
              <a:rPr lang="en-US" altLang="en-US" sz="2200" b="1" dirty="0" err="1" smtClean="0">
                <a:solidFill>
                  <a:srgbClr val="0070C0"/>
                </a:solidFill>
                <a:latin typeface="Calisto MT" panose="02040603050505030304" pitchFamily="18" charset="0"/>
                <a:ea typeface="SF Pro Display" pitchFamily="50" charset="0"/>
                <a:cs typeface="SF Pro Display" pitchFamily="50" charset="0"/>
              </a:rPr>
              <a:t>Nihajasmine</a:t>
            </a:r>
            <a:r>
              <a:rPr lang="en-US" altLang="en-US" sz="2200" b="1" dirty="0" smtClean="0">
                <a:solidFill>
                  <a:srgbClr val="0070C0"/>
                </a:solidFill>
                <a:latin typeface="Calisto MT" panose="02040603050505030304" pitchFamily="18" charset="0"/>
                <a:ea typeface="SF Pro Display" pitchFamily="50" charset="0"/>
                <a:cs typeface="SF Pro Display" pitchFamily="50" charset="0"/>
              </a:rPr>
              <a:t> (228W1A12i9)</a:t>
            </a:r>
            <a:endParaRPr lang="en-US" altLang="en-US" sz="2200" b="1" dirty="0">
              <a:solidFill>
                <a:srgbClr val="0070C0"/>
              </a:solidFill>
              <a:latin typeface="Calisto MT" panose="02040603050505030304" pitchFamily="18" charset="0"/>
              <a:ea typeface="SF Pro Display" pitchFamily="50" charset="0"/>
              <a:cs typeface="SF Pro Display" pitchFamily="50" charset="0"/>
            </a:endParaRPr>
          </a:p>
          <a:p>
            <a:pPr algn="ctr">
              <a:spcBef>
                <a:spcPct val="20000"/>
              </a:spcBef>
            </a:pPr>
            <a:r>
              <a:rPr lang="en-US" altLang="en-US" sz="2200" b="1" dirty="0" err="1" smtClean="0">
                <a:solidFill>
                  <a:srgbClr val="0070C0"/>
                </a:solidFill>
                <a:latin typeface="Calisto MT" panose="02040603050505030304" pitchFamily="18" charset="0"/>
                <a:ea typeface="SF Pro Display" pitchFamily="50" charset="0"/>
                <a:cs typeface="SF Pro Display" pitchFamily="50" charset="0"/>
              </a:rPr>
              <a:t>Chinni</a:t>
            </a:r>
            <a:r>
              <a:rPr lang="en-US" altLang="en-US" sz="2200" b="1" dirty="0" smtClean="0">
                <a:solidFill>
                  <a:srgbClr val="0070C0"/>
                </a:solidFill>
                <a:latin typeface="Calisto MT" panose="02040603050505030304" pitchFamily="18" charset="0"/>
                <a:ea typeface="SF Pro Display" pitchFamily="50" charset="0"/>
                <a:cs typeface="SF Pro Display" pitchFamily="50" charset="0"/>
              </a:rPr>
              <a:t> </a:t>
            </a:r>
            <a:r>
              <a:rPr lang="en-US" altLang="en-US" sz="2200" b="1" dirty="0" err="1" smtClean="0">
                <a:solidFill>
                  <a:srgbClr val="0070C0"/>
                </a:solidFill>
                <a:latin typeface="Calisto MT" panose="02040603050505030304" pitchFamily="18" charset="0"/>
                <a:ea typeface="SF Pro Display" pitchFamily="50" charset="0"/>
                <a:cs typeface="SF Pro Display" pitchFamily="50" charset="0"/>
              </a:rPr>
              <a:t>Bhanu</a:t>
            </a:r>
            <a:r>
              <a:rPr lang="en-US" altLang="en-US" sz="2200" b="1" dirty="0" smtClean="0">
                <a:solidFill>
                  <a:srgbClr val="0070C0"/>
                </a:solidFill>
                <a:latin typeface="Calisto MT" panose="02040603050505030304" pitchFamily="18" charset="0"/>
                <a:ea typeface="SF Pro Display" pitchFamily="50" charset="0"/>
                <a:cs typeface="SF Pro Display" pitchFamily="50" charset="0"/>
              </a:rPr>
              <a:t> Prakash (228W1A12E5)</a:t>
            </a:r>
            <a:br>
              <a:rPr lang="en-US" altLang="en-US" sz="2200" b="1" dirty="0" smtClean="0">
                <a:solidFill>
                  <a:srgbClr val="0070C0"/>
                </a:solidFill>
                <a:latin typeface="Calisto MT" panose="02040603050505030304" pitchFamily="18" charset="0"/>
                <a:ea typeface="SF Pro Display" pitchFamily="50" charset="0"/>
                <a:cs typeface="SF Pro Display" pitchFamily="50" charset="0"/>
              </a:rPr>
            </a:br>
            <a:endParaRPr lang="en-US" altLang="en-US" sz="2200" b="1" dirty="0">
              <a:solidFill>
                <a:srgbClr val="0070C0"/>
              </a:solidFill>
              <a:latin typeface="Calisto MT" panose="02040603050505030304" pitchFamily="18" charset="0"/>
              <a:ea typeface="SF Pro Display" pitchFamily="50" charset="0"/>
              <a:cs typeface="SF Pro Display" pitchFamily="50" charset="0"/>
            </a:endParaRPr>
          </a:p>
          <a:p>
            <a:pPr algn="ctr">
              <a:spcBef>
                <a:spcPct val="20000"/>
              </a:spcBef>
            </a:pPr>
            <a:r>
              <a:rPr lang="en-US" altLang="en-US" sz="2200" b="1" dirty="0">
                <a:latin typeface="Calisto MT" panose="02040603050505030304" pitchFamily="18" charset="0"/>
                <a:ea typeface="SF Pro Display" pitchFamily="50" charset="0"/>
                <a:cs typeface="SF Pro Display" pitchFamily="50" charset="0"/>
              </a:rPr>
              <a:t>Under the guidance of</a:t>
            </a:r>
          </a:p>
          <a:p>
            <a:pPr algn="ctr">
              <a:spcBef>
                <a:spcPct val="20000"/>
              </a:spcBef>
            </a:pPr>
            <a:r>
              <a:rPr lang="en-US" altLang="en-US" sz="2200" b="1" dirty="0">
                <a:solidFill>
                  <a:srgbClr val="0070C0"/>
                </a:solidFill>
                <a:latin typeface="Calisto MT" panose="02040603050505030304" pitchFamily="18" charset="0"/>
                <a:ea typeface="SF Pro Display" pitchFamily="50" charset="0"/>
                <a:cs typeface="SF Pro Display" pitchFamily="50" charset="0"/>
              </a:rPr>
              <a:t>Dr. T. </a:t>
            </a:r>
            <a:r>
              <a:rPr lang="en-US" altLang="en-US" sz="2200" b="1" dirty="0" err="1">
                <a:solidFill>
                  <a:srgbClr val="0070C0"/>
                </a:solidFill>
                <a:latin typeface="Calisto MT" panose="02040603050505030304" pitchFamily="18" charset="0"/>
                <a:ea typeface="SF Pro Display" pitchFamily="50" charset="0"/>
                <a:cs typeface="SF Pro Display" pitchFamily="50" charset="0"/>
              </a:rPr>
              <a:t>Anuradha</a:t>
            </a:r>
            <a:r>
              <a:rPr lang="en-US" altLang="en-US" sz="2200" b="1" dirty="0">
                <a:solidFill>
                  <a:srgbClr val="0070C0"/>
                </a:solidFill>
                <a:latin typeface="Calisto MT" panose="02040603050505030304" pitchFamily="18" charset="0"/>
                <a:ea typeface="SF Pro Display" pitchFamily="50" charset="0"/>
                <a:cs typeface="SF Pro Display" pitchFamily="50" charset="0"/>
              </a:rPr>
              <a:t>, Professor</a:t>
            </a:r>
          </a:p>
        </p:txBody>
      </p:sp>
    </p:spTree>
    <p:extLst>
      <p:ext uri="{BB962C8B-B14F-4D97-AF65-F5344CB8AC3E}">
        <p14:creationId xmlns:p14="http://schemas.microsoft.com/office/powerpoint/2010/main" val="2287667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Calisto MT" panose="02040603050505030304" pitchFamily="18" charset="0"/>
              </a:rPr>
              <a:t>Agenda</a:t>
            </a:r>
            <a:endParaRPr lang="en-IN" sz="4000" b="1" dirty="0">
              <a:latin typeface="Calisto MT" panose="02040603050505030304" pitchFamily="18" charset="0"/>
            </a:endParaRPr>
          </a:p>
        </p:txBody>
      </p:sp>
      <p:sp>
        <p:nvSpPr>
          <p:cNvPr id="3" name="Content Placeholder 2"/>
          <p:cNvSpPr>
            <a:spLocks noGrp="1"/>
          </p:cNvSpPr>
          <p:nvPr>
            <p:ph idx="1"/>
          </p:nvPr>
        </p:nvSpPr>
        <p:spPr/>
        <p:txBody>
          <a:bodyPr>
            <a:normAutofit lnSpcReduction="10000"/>
          </a:bodyPr>
          <a:lstStyle/>
          <a:p>
            <a:pPr algn="just"/>
            <a:r>
              <a:rPr lang="en-US" sz="2400" dirty="0" smtClean="0">
                <a:latin typeface="Calisto MT" panose="02040603050505030304" pitchFamily="18" charset="0"/>
              </a:rPr>
              <a:t>Introduction and </a:t>
            </a:r>
            <a:r>
              <a:rPr lang="en-US" sz="2400" dirty="0">
                <a:latin typeface="Calisto MT" panose="02040603050505030304" pitchFamily="18" charset="0"/>
              </a:rPr>
              <a:t>P</a:t>
            </a:r>
            <a:r>
              <a:rPr lang="en-US" sz="2400" dirty="0" smtClean="0">
                <a:latin typeface="Calisto MT" panose="02040603050505030304" pitchFamily="18" charset="0"/>
              </a:rPr>
              <a:t>roblem </a:t>
            </a:r>
            <a:r>
              <a:rPr lang="en-US" sz="2400" dirty="0">
                <a:latin typeface="Calisto MT" panose="02040603050505030304" pitchFamily="18" charset="0"/>
              </a:rPr>
              <a:t>S</a:t>
            </a:r>
            <a:r>
              <a:rPr lang="en-US" sz="2400" dirty="0" smtClean="0">
                <a:latin typeface="Calisto MT" panose="02040603050505030304" pitchFamily="18" charset="0"/>
              </a:rPr>
              <a:t>tatement</a:t>
            </a:r>
          </a:p>
          <a:p>
            <a:pPr algn="just"/>
            <a:r>
              <a:rPr lang="en-US" sz="2400" dirty="0" smtClean="0">
                <a:latin typeface="Calisto MT" panose="02040603050505030304" pitchFamily="18" charset="0"/>
              </a:rPr>
              <a:t>Objectives and Outcomes of the project</a:t>
            </a:r>
          </a:p>
          <a:p>
            <a:pPr algn="just"/>
            <a:r>
              <a:rPr lang="en-US" sz="2400" dirty="0" smtClean="0">
                <a:latin typeface="Calisto MT" panose="02040603050505030304" pitchFamily="18" charset="0"/>
              </a:rPr>
              <a:t>Literature Review and Summary</a:t>
            </a:r>
          </a:p>
          <a:p>
            <a:pPr algn="just"/>
            <a:r>
              <a:rPr lang="en-US" sz="2400" dirty="0" smtClean="0">
                <a:latin typeface="Calisto MT" panose="02040603050505030304" pitchFamily="18" charset="0"/>
              </a:rPr>
              <a:t>Dataset and requirement specifications</a:t>
            </a:r>
          </a:p>
          <a:p>
            <a:pPr algn="just"/>
            <a:r>
              <a:rPr lang="en-US" sz="2400" dirty="0" smtClean="0">
                <a:latin typeface="Calisto MT" panose="02040603050505030304" pitchFamily="18" charset="0"/>
              </a:rPr>
              <a:t>Algorithms used in the Project</a:t>
            </a:r>
          </a:p>
          <a:p>
            <a:pPr algn="just"/>
            <a:r>
              <a:rPr lang="en-US" sz="2400" dirty="0">
                <a:latin typeface="Calisto MT" panose="02040603050505030304" pitchFamily="18" charset="0"/>
              </a:rPr>
              <a:t>Architecture diagram</a:t>
            </a:r>
          </a:p>
          <a:p>
            <a:pPr algn="just"/>
            <a:r>
              <a:rPr lang="en-US" sz="2400" dirty="0" smtClean="0">
                <a:latin typeface="Calisto MT" panose="02040603050505030304" pitchFamily="18" charset="0"/>
              </a:rPr>
              <a:t>Implementation steps and Execution</a:t>
            </a:r>
          </a:p>
          <a:p>
            <a:pPr algn="just"/>
            <a:r>
              <a:rPr lang="en-US" sz="2400" dirty="0" smtClean="0">
                <a:latin typeface="Calisto MT" panose="02040603050505030304" pitchFamily="18" charset="0"/>
              </a:rPr>
              <a:t>Results obtained</a:t>
            </a:r>
          </a:p>
          <a:p>
            <a:pPr algn="just"/>
            <a:r>
              <a:rPr lang="en-US" sz="2400" dirty="0" smtClean="0">
                <a:latin typeface="Calisto MT" panose="02040603050505030304" pitchFamily="18" charset="0"/>
              </a:rPr>
              <a:t>Result analysis with charts</a:t>
            </a:r>
          </a:p>
          <a:p>
            <a:pPr algn="just"/>
            <a:r>
              <a:rPr lang="en-US" sz="2400" dirty="0" smtClean="0">
                <a:latin typeface="Calisto MT" panose="02040603050505030304" pitchFamily="18" charset="0"/>
              </a:rPr>
              <a:t>Conclusion and future work</a:t>
            </a:r>
          </a:p>
          <a:p>
            <a:pPr algn="just"/>
            <a:r>
              <a:rPr lang="en-US" sz="2400" dirty="0">
                <a:latin typeface="Calisto MT" panose="02040603050505030304" pitchFamily="18" charset="0"/>
              </a:rPr>
              <a:t>R</a:t>
            </a:r>
            <a:r>
              <a:rPr lang="en-US" sz="2400" dirty="0" smtClean="0">
                <a:latin typeface="Calisto MT" panose="02040603050505030304" pitchFamily="18" charset="0"/>
              </a:rPr>
              <a:t>eferences</a:t>
            </a:r>
          </a:p>
        </p:txBody>
      </p:sp>
    </p:spTree>
    <p:extLst>
      <p:ext uri="{BB962C8B-B14F-4D97-AF65-F5344CB8AC3E}">
        <p14:creationId xmlns:p14="http://schemas.microsoft.com/office/powerpoint/2010/main" val="856334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listo MT" panose="02040603050505030304" pitchFamily="18" charset="0"/>
              </a:rPr>
              <a:t>Introduction</a:t>
            </a:r>
            <a:endParaRPr lang="en-IN" sz="4000" dirty="0">
              <a:latin typeface="Calisto MT" panose="02040603050505030304" pitchFamily="18" charset="0"/>
            </a:endParaRPr>
          </a:p>
        </p:txBody>
      </p:sp>
      <p:sp>
        <p:nvSpPr>
          <p:cNvPr id="3" name="Content Placeholder 2"/>
          <p:cNvSpPr>
            <a:spLocks noGrp="1"/>
          </p:cNvSpPr>
          <p:nvPr>
            <p:ph idx="1"/>
          </p:nvPr>
        </p:nvSpPr>
        <p:spPr/>
        <p:txBody>
          <a:bodyPr>
            <a:normAutofit/>
          </a:bodyPr>
          <a:lstStyle/>
          <a:p>
            <a:pPr marL="285750" indent="-285750" algn="just">
              <a:lnSpc>
                <a:spcPct val="140000"/>
              </a:lnSpc>
            </a:pPr>
            <a:r>
              <a:rPr lang="en-US" altLang="en-US" sz="2400" dirty="0">
                <a:latin typeface="Calisto MT" panose="02040603050505030304" pitchFamily="18" charset="0"/>
                <a:cs typeface="Times New Roman" panose="02020603050405020304" charset="0"/>
              </a:rPr>
              <a:t>During disaster situations, timely and reliable information is critical for emergency response and public safety.</a:t>
            </a:r>
          </a:p>
          <a:p>
            <a:pPr marL="285750" indent="-285750" algn="just">
              <a:lnSpc>
                <a:spcPct val="140000"/>
              </a:lnSpc>
            </a:pPr>
            <a:r>
              <a:rPr lang="en-US" altLang="en-US" sz="2400" dirty="0">
                <a:latin typeface="Calisto MT" panose="02040603050505030304" pitchFamily="18" charset="0"/>
                <a:cs typeface="Times New Roman" panose="02020603050405020304" charset="0"/>
              </a:rPr>
              <a:t>The rapid spread of fake or misleading disaster-related tweets can cause panic, misguide rescue operations, and reduce trust in genuine information.</a:t>
            </a:r>
          </a:p>
          <a:p>
            <a:pPr marL="285750" indent="-285750" algn="just">
              <a:lnSpc>
                <a:spcPct val="140000"/>
              </a:lnSpc>
            </a:pPr>
            <a:r>
              <a:rPr lang="en-US" altLang="en-US" sz="2400" dirty="0">
                <a:latin typeface="Calisto MT" panose="02040603050505030304" pitchFamily="18" charset="0"/>
                <a:cs typeface="Times New Roman" panose="02020603050405020304" charset="0"/>
              </a:rPr>
              <a:t>An automated system capable of filtering fake disaster tweets can support faster decision-making and improve the reliability of social media as an information source during emergencies</a:t>
            </a:r>
            <a:r>
              <a:rPr lang="en-US" altLang="en-US" sz="2400" dirty="0" smtClean="0">
                <a:latin typeface="Calisto MT" panose="02040603050505030304" pitchFamily="18" charset="0"/>
                <a:cs typeface="Times New Roman" panose="02020603050405020304" charset="0"/>
              </a:rPr>
              <a:t>.</a:t>
            </a:r>
            <a:endParaRPr lang="en-US" altLang="en-US" sz="2400" dirty="0">
              <a:latin typeface="Calisto MT" panose="02040603050505030304" pitchFamily="18" charset="0"/>
              <a:cs typeface="Times New Roman" panose="02020603050405020304" charset="0"/>
            </a:endParaRPr>
          </a:p>
        </p:txBody>
      </p:sp>
    </p:spTree>
    <p:extLst>
      <p:ext uri="{BB962C8B-B14F-4D97-AF65-F5344CB8AC3E}">
        <p14:creationId xmlns:p14="http://schemas.microsoft.com/office/powerpoint/2010/main" val="1095398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listo MT" panose="02040603050505030304" pitchFamily="18" charset="0"/>
              </a:rPr>
              <a:t>Problem Statement</a:t>
            </a:r>
            <a:endParaRPr lang="en-IN" sz="4000" dirty="0">
              <a:latin typeface="Calisto MT" panose="02040603050505030304" pitchFamily="18" charset="0"/>
            </a:endParaRPr>
          </a:p>
        </p:txBody>
      </p:sp>
      <p:sp>
        <p:nvSpPr>
          <p:cNvPr id="3" name="Content Placeholder 2"/>
          <p:cNvSpPr>
            <a:spLocks noGrp="1"/>
          </p:cNvSpPr>
          <p:nvPr>
            <p:ph idx="1"/>
          </p:nvPr>
        </p:nvSpPr>
        <p:spPr/>
        <p:txBody>
          <a:bodyPr>
            <a:normAutofit/>
          </a:bodyPr>
          <a:lstStyle/>
          <a:p>
            <a:pPr marL="285750" indent="-285750" algn="just">
              <a:lnSpc>
                <a:spcPct val="140000"/>
              </a:lnSpc>
            </a:pPr>
            <a:r>
              <a:rPr lang="en-US" altLang="en-US" sz="2400" dirty="0">
                <a:latin typeface="Calisto MT" panose="02040603050505030304" pitchFamily="18" charset="0"/>
                <a:cs typeface="Times New Roman" panose="02020603050405020304" charset="0"/>
              </a:rPr>
              <a:t>The rapid spread of misinformation during disaster events on social media platforms creates confusion, panic, and challenges for emergency response efforts.</a:t>
            </a:r>
          </a:p>
          <a:p>
            <a:pPr marL="285750" indent="-285750" algn="just">
              <a:lnSpc>
                <a:spcPct val="140000"/>
              </a:lnSpc>
            </a:pPr>
            <a:r>
              <a:rPr lang="en-US" altLang="en-US" sz="2400" dirty="0">
                <a:latin typeface="Calisto MT" panose="02040603050505030304" pitchFamily="18" charset="0"/>
                <a:cs typeface="Times New Roman" panose="02020603050405020304" charset="0"/>
              </a:rPr>
              <a:t>Disaster-related tweets often circulate without verification, making it difficult to distinguish between genuine information and false claims in real time.</a:t>
            </a:r>
          </a:p>
          <a:p>
            <a:pPr marL="285750" indent="-285750" algn="just">
              <a:lnSpc>
                <a:spcPct val="140000"/>
              </a:lnSpc>
            </a:pPr>
            <a:r>
              <a:rPr lang="en-US" altLang="en-US" sz="2400" dirty="0">
                <a:latin typeface="Calisto MT" panose="02040603050505030304" pitchFamily="18" charset="0"/>
                <a:cs typeface="Times New Roman" panose="02020603050405020304" charset="0"/>
              </a:rPr>
              <a:t>Existing manual monitoring and verification methods are not scalable or efficient for handling the large volume of disaster-related social media data</a:t>
            </a:r>
            <a:r>
              <a:rPr lang="en-US" altLang="en-US" sz="2400" dirty="0" smtClean="0">
                <a:latin typeface="Calisto MT" panose="02040603050505030304" pitchFamily="18" charset="0"/>
                <a:cs typeface="Times New Roman" panose="02020603050405020304" charset="0"/>
              </a:rPr>
              <a:t>.</a:t>
            </a:r>
            <a:endParaRPr lang="en-US" altLang="en-US" sz="2400" dirty="0">
              <a:latin typeface="Calisto MT" panose="02040603050505030304" pitchFamily="18" charset="0"/>
              <a:cs typeface="Times New Roman" panose="02020603050405020304" charset="0"/>
            </a:endParaRPr>
          </a:p>
        </p:txBody>
      </p:sp>
    </p:spTree>
    <p:extLst>
      <p:ext uri="{BB962C8B-B14F-4D97-AF65-F5344CB8AC3E}">
        <p14:creationId xmlns:p14="http://schemas.microsoft.com/office/powerpoint/2010/main" val="283699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806" y="152400"/>
            <a:ext cx="10971372" cy="4525963"/>
          </a:xfrm>
        </p:spPr>
        <p:txBody>
          <a:bodyPr>
            <a:noAutofit/>
          </a:bodyPr>
          <a:lstStyle/>
          <a:p>
            <a:pPr marL="0" indent="0" algn="ctr">
              <a:lnSpc>
                <a:spcPct val="170000"/>
              </a:lnSpc>
              <a:buNone/>
            </a:pPr>
            <a:r>
              <a:rPr lang="en-US" altLang="en-US" sz="2800" b="1" dirty="0" smtClean="0">
                <a:latin typeface="Calisto MT" panose="02040603050505030304" pitchFamily="18" charset="0"/>
                <a:cs typeface="Times New Roman" panose="02020603050405020304" charset="0"/>
              </a:rPr>
              <a:t>OBJECTIVES</a:t>
            </a:r>
          </a:p>
          <a:p>
            <a:pPr algn="just">
              <a:lnSpc>
                <a:spcPct val="170000"/>
              </a:lnSpc>
            </a:pPr>
            <a:r>
              <a:rPr lang="en-US" altLang="en-US" sz="1800" dirty="0" smtClean="0">
                <a:latin typeface="Calisto MT" panose="02040603050505030304" pitchFamily="18" charset="0"/>
                <a:cs typeface="Times New Roman" panose="02020603050405020304" charset="0"/>
              </a:rPr>
              <a:t>To </a:t>
            </a:r>
            <a:r>
              <a:rPr lang="en-US" altLang="en-US" sz="1800" dirty="0">
                <a:latin typeface="Calisto MT" panose="02040603050505030304" pitchFamily="18" charset="0"/>
                <a:cs typeface="Times New Roman" panose="02020603050405020304" charset="0"/>
              </a:rPr>
              <a:t>develop a multimodal framework for detecting fake disaster-related tweets using from textual information and disaster information visual information.</a:t>
            </a:r>
          </a:p>
          <a:p>
            <a:pPr algn="just">
              <a:lnSpc>
                <a:spcPct val="170000"/>
              </a:lnSpc>
            </a:pPr>
            <a:r>
              <a:rPr lang="en-US" altLang="en-US" sz="1800" dirty="0">
                <a:latin typeface="Calisto MT" panose="02040603050505030304" pitchFamily="18" charset="0"/>
                <a:cs typeface="Times New Roman" panose="02020603050405020304" charset="0"/>
              </a:rPr>
              <a:t>To fine-tune pre-trained </a:t>
            </a:r>
            <a:r>
              <a:rPr lang="en-US" altLang="en-US" sz="1800" dirty="0" err="1">
                <a:latin typeface="Calisto MT" panose="02040603050505030304" pitchFamily="18" charset="0"/>
                <a:cs typeface="Times New Roman" panose="02020603050405020304" charset="0"/>
              </a:rPr>
              <a:t>RoBERTa</a:t>
            </a:r>
            <a:r>
              <a:rPr lang="en-US" altLang="en-US" sz="1800" dirty="0">
                <a:latin typeface="Calisto MT" panose="02040603050505030304" pitchFamily="18" charset="0"/>
                <a:cs typeface="Times New Roman" panose="02020603050405020304" charset="0"/>
              </a:rPr>
              <a:t> for contextual textual feature extraction and ResNet-50 for visual feature extraction from tweet-associated images.</a:t>
            </a:r>
          </a:p>
          <a:p>
            <a:pPr algn="just">
              <a:lnSpc>
                <a:spcPct val="170000"/>
              </a:lnSpc>
            </a:pPr>
            <a:r>
              <a:rPr lang="en-US" altLang="en-US" sz="1800" dirty="0">
                <a:latin typeface="Calisto MT" panose="02040603050505030304" pitchFamily="18" charset="0"/>
                <a:cs typeface="Times New Roman" panose="02020603050405020304" charset="0"/>
              </a:rPr>
              <a:t>To implement a decision-level fusion strategy to combine text and image predictions for final classification</a:t>
            </a:r>
            <a:r>
              <a:rPr lang="en-US" altLang="en-US" sz="1800" dirty="0" smtClean="0">
                <a:latin typeface="Calisto MT" panose="02040603050505030304" pitchFamily="18" charset="0"/>
                <a:cs typeface="Times New Roman" panose="02020603050405020304" charset="0"/>
              </a:rPr>
              <a:t>.</a:t>
            </a:r>
          </a:p>
          <a:p>
            <a:pPr marL="0" indent="0" algn="ctr">
              <a:lnSpc>
                <a:spcPct val="170000"/>
              </a:lnSpc>
              <a:buNone/>
            </a:pPr>
            <a:r>
              <a:rPr lang="en-US" altLang="en-US" sz="2800" b="1" dirty="0" smtClean="0">
                <a:latin typeface="Calisto MT" panose="02040603050505030304" pitchFamily="18" charset="0"/>
                <a:cs typeface="Times New Roman" panose="02020603050405020304" charset="0"/>
              </a:rPr>
              <a:t>OUTCOMES</a:t>
            </a:r>
          </a:p>
          <a:p>
            <a:pPr algn="just">
              <a:lnSpc>
                <a:spcPct val="170000"/>
              </a:lnSpc>
            </a:pPr>
            <a:r>
              <a:rPr lang="en-US" altLang="en-US" sz="1800" dirty="0" smtClean="0">
                <a:latin typeface="Calisto MT" panose="02040603050505030304" pitchFamily="18" charset="0"/>
                <a:cs typeface="Times New Roman" panose="02020603050405020304" charset="0"/>
              </a:rPr>
              <a:t>A </a:t>
            </a:r>
            <a:r>
              <a:rPr lang="en-US" altLang="en-US" sz="1800" dirty="0">
                <a:latin typeface="Calisto MT" panose="02040603050505030304" pitchFamily="18" charset="0"/>
                <a:cs typeface="Times New Roman" panose="02020603050405020304" charset="0"/>
              </a:rPr>
              <a:t>functional multimodal system capable of classifying disaster-related tweets as Fake or Real.</a:t>
            </a:r>
          </a:p>
          <a:p>
            <a:pPr algn="just">
              <a:lnSpc>
                <a:spcPct val="170000"/>
              </a:lnSpc>
            </a:pPr>
            <a:r>
              <a:rPr lang="en-US" altLang="en-US" sz="1800" dirty="0">
                <a:latin typeface="Calisto MT" panose="02040603050505030304" pitchFamily="18" charset="0"/>
                <a:cs typeface="Times New Roman" panose="02020603050405020304" charset="0"/>
              </a:rPr>
              <a:t>Individually fine-tuned text and image models capable of extracting meaningful semantic and visual features relevant to disaster misinformation.</a:t>
            </a:r>
          </a:p>
          <a:p>
            <a:pPr algn="just">
              <a:lnSpc>
                <a:spcPct val="170000"/>
              </a:lnSpc>
            </a:pPr>
            <a:r>
              <a:rPr lang="en-US" altLang="en-US" sz="1800" dirty="0">
                <a:latin typeface="Calisto MT" panose="02040603050505030304" pitchFamily="18" charset="0"/>
                <a:cs typeface="Times New Roman" panose="02020603050405020304" charset="0"/>
              </a:rPr>
              <a:t>A unified prediction mechanism using decision-level fusion, with evaluated performance comparison against unimodal (text-only and image-only) models.</a:t>
            </a:r>
          </a:p>
          <a:p>
            <a:pPr algn="just">
              <a:lnSpc>
                <a:spcPct val="170000"/>
              </a:lnSpc>
            </a:pPr>
            <a:endParaRPr lang="en-US" altLang="en-US" sz="1800" dirty="0" smtClean="0">
              <a:latin typeface="Calisto MT" panose="02040603050505030304" pitchFamily="18" charset="0"/>
              <a:cs typeface="Times New Roman" panose="02020603050405020304" charset="0"/>
            </a:endParaRPr>
          </a:p>
          <a:p>
            <a:pPr algn="just">
              <a:lnSpc>
                <a:spcPct val="170000"/>
              </a:lnSpc>
            </a:pPr>
            <a:endParaRPr lang="en-US" altLang="en-US" sz="1800" dirty="0">
              <a:latin typeface="Calisto MT" panose="02040603050505030304" pitchFamily="18" charset="0"/>
              <a:cs typeface="Times New Roman" panose="02020603050405020304" charset="0"/>
            </a:endParaRPr>
          </a:p>
        </p:txBody>
      </p:sp>
    </p:spTree>
    <p:extLst>
      <p:ext uri="{BB962C8B-B14F-4D97-AF65-F5344CB8AC3E}">
        <p14:creationId xmlns:p14="http://schemas.microsoft.com/office/powerpoint/2010/main" val="414182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04247447"/>
              </p:ext>
            </p:extLst>
          </p:nvPr>
        </p:nvGraphicFramePr>
        <p:xfrm>
          <a:off x="151607" y="914982"/>
          <a:ext cx="11963401" cy="5762809"/>
        </p:xfrm>
        <a:graphic>
          <a:graphicData uri="http://schemas.openxmlformats.org/drawingml/2006/table">
            <a:tbl>
              <a:tblPr firstRow="1" bandRow="1">
                <a:tableStyleId>{BC89EF96-8CEA-46FF-86C4-4CE0E7609802}</a:tableStyleId>
              </a:tblPr>
              <a:tblGrid>
                <a:gridCol w="1718952"/>
                <a:gridCol w="1328327"/>
                <a:gridCol w="2959606"/>
                <a:gridCol w="1501722"/>
                <a:gridCol w="1171155"/>
                <a:gridCol w="1624504"/>
                <a:gridCol w="1659135"/>
              </a:tblGrid>
              <a:tr h="611899">
                <a:tc>
                  <a:txBody>
                    <a:bodyPr/>
                    <a:lstStyle/>
                    <a:p>
                      <a:pPr algn="ctr"/>
                      <a:r>
                        <a:rPr lang="en-US" sz="1300" dirty="0" smtClean="0">
                          <a:latin typeface="Calisto MT" panose="02040603050505030304" pitchFamily="18" charset="0"/>
                        </a:rPr>
                        <a:t>Title-Journal</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Objective</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Methodology</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Algorithms</a:t>
                      </a:r>
                      <a:r>
                        <a:rPr lang="en-US" sz="1300" baseline="0" dirty="0" smtClean="0">
                          <a:latin typeface="Calisto MT" panose="02040603050505030304" pitchFamily="18" charset="0"/>
                        </a:rPr>
                        <a:t> used</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Dataset/Study</a:t>
                      </a:r>
                      <a:r>
                        <a:rPr lang="en-US" sz="1300" baseline="0" dirty="0" smtClean="0">
                          <a:latin typeface="Calisto MT" panose="02040603050505030304" pitchFamily="18" charset="0"/>
                        </a:rPr>
                        <a:t> area</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Limitations</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Conclusion</a:t>
                      </a:r>
                      <a:endParaRPr lang="en-IN" sz="1300" dirty="0">
                        <a:latin typeface="Calisto MT" panose="02040603050505030304" pitchFamily="18" charset="0"/>
                      </a:endParaRPr>
                    </a:p>
                  </a:txBody>
                  <a:tcPr marL="91428" marR="91428" anchor="ctr"/>
                </a:tc>
              </a:tr>
              <a:tr h="2087670">
                <a:tc>
                  <a:txBody>
                    <a:bodyPr/>
                    <a:lstStyle/>
                    <a:p>
                      <a:r>
                        <a:rPr lang="en-IN" sz="1300" dirty="0" smtClean="0">
                          <a:latin typeface="Calisto MT" panose="02040603050505030304" pitchFamily="18" charset="0"/>
                        </a:rPr>
                        <a:t>Fake News Detection With Credibility Scoring on Turkish Twitter Data</a:t>
                      </a:r>
                    </a:p>
                    <a:p>
                      <a:r>
                        <a:rPr lang="en-IN" sz="1300" b="1" dirty="0" smtClean="0">
                          <a:latin typeface="Calisto MT" panose="02040603050505030304" pitchFamily="18" charset="0"/>
                        </a:rPr>
                        <a:t>Author: </a:t>
                      </a:r>
                      <a:r>
                        <a:rPr lang="en-IN" sz="1300" dirty="0" smtClean="0">
                          <a:latin typeface="Calisto MT" panose="02040603050505030304" pitchFamily="18" charset="0"/>
                        </a:rPr>
                        <a:t>ÖA </a:t>
                      </a:r>
                      <a:r>
                        <a:rPr lang="en-IN" sz="1300" dirty="0" err="1" smtClean="0">
                          <a:latin typeface="Calisto MT" panose="02040603050505030304" pitchFamily="18" charset="0"/>
                        </a:rPr>
                        <a:t>Fidan</a:t>
                      </a:r>
                      <a:r>
                        <a:rPr lang="en-IN" sz="1300" dirty="0" smtClean="0">
                          <a:latin typeface="Calisto MT" panose="02040603050505030304" pitchFamily="18" charset="0"/>
                        </a:rPr>
                        <a:t>, E </a:t>
                      </a:r>
                      <a:r>
                        <a:rPr lang="en-IN" sz="1300" dirty="0" err="1" smtClean="0">
                          <a:latin typeface="Calisto MT" panose="02040603050505030304" pitchFamily="18" charset="0"/>
                        </a:rPr>
                        <a:t>Öztürk</a:t>
                      </a:r>
                      <a:r>
                        <a:rPr lang="en-IN" sz="1300" dirty="0" smtClean="0">
                          <a:latin typeface="Calisto MT" panose="02040603050505030304" pitchFamily="18" charset="0"/>
                        </a:rPr>
                        <a:t>, H </a:t>
                      </a:r>
                      <a:r>
                        <a:rPr lang="en-IN" sz="1300" dirty="0" err="1" smtClean="0">
                          <a:latin typeface="Calisto MT" panose="02040603050505030304" pitchFamily="18" charset="0"/>
                        </a:rPr>
                        <a:t>Kantarci</a:t>
                      </a:r>
                      <a:endParaRPr lang="en-IN" sz="1300" dirty="0" smtClean="0">
                        <a:latin typeface="Calisto MT" panose="02040603050505030304" pitchFamily="18" charset="0"/>
                      </a:endParaRPr>
                    </a:p>
                    <a:p>
                      <a:r>
                        <a:rPr lang="en-IN" sz="1300" b="1" dirty="0" smtClean="0">
                          <a:latin typeface="Calisto MT" panose="02040603050505030304" pitchFamily="18" charset="0"/>
                        </a:rPr>
                        <a:t>Journal: </a:t>
                      </a:r>
                      <a:r>
                        <a:rPr lang="en-IN" sz="1300" dirty="0" smtClean="0">
                          <a:latin typeface="Calisto MT" panose="02040603050505030304" pitchFamily="18" charset="0"/>
                        </a:rPr>
                        <a:t>IEEE Access </a:t>
                      </a:r>
                    </a:p>
                    <a:p>
                      <a:r>
                        <a:rPr lang="en-IN" sz="1300" b="1" dirty="0" smtClean="0">
                          <a:latin typeface="Calisto MT" panose="02040603050505030304" pitchFamily="18" charset="0"/>
                        </a:rPr>
                        <a:t>Year: </a:t>
                      </a:r>
                      <a:r>
                        <a:rPr lang="en-IN" sz="1300" dirty="0" smtClean="0">
                          <a:latin typeface="Calisto MT" panose="02040603050505030304" pitchFamily="18" charset="0"/>
                        </a:rPr>
                        <a:t>2025</a:t>
                      </a:r>
                    </a:p>
                  </a:txBody>
                  <a:tcPr marL="91428" marR="91428"/>
                </a:tc>
                <a:tc>
                  <a:txBody>
                    <a:bodyPr/>
                    <a:lstStyle/>
                    <a:p>
                      <a:r>
                        <a:rPr lang="en-US" sz="1300" dirty="0" smtClean="0">
                          <a:latin typeface="Calisto MT" panose="02040603050505030304" pitchFamily="18" charset="0"/>
                        </a:rPr>
                        <a:t>To improve fake news detection on Turkish Twitter by combining deep learning models with credibility scoring.</a:t>
                      </a:r>
                      <a:endParaRPr lang="en-IN" sz="1300" dirty="0">
                        <a:latin typeface="Calisto MT" panose="02040603050505030304" pitchFamily="18" charset="0"/>
                      </a:endParaRP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Collected 5,169 Turkish tweets from 38 news accounts.</a:t>
                      </a:r>
                    </a:p>
                    <a:p>
                      <a:pPr marL="171450" indent="-171450">
                        <a:buFont typeface="Arial" panose="020B0604020202020204" pitchFamily="34" charset="0"/>
                        <a:buChar char="•"/>
                      </a:pPr>
                      <a:r>
                        <a:rPr lang="en-US" sz="1300" dirty="0" smtClean="0">
                          <a:latin typeface="Calisto MT" panose="02040603050505030304" pitchFamily="18" charset="0"/>
                        </a:rPr>
                        <a:t>Calculated credibility score using text, user, and social features.</a:t>
                      </a:r>
                    </a:p>
                    <a:p>
                      <a:pPr marL="171450" indent="-171450">
                        <a:buFont typeface="Arial" panose="020B0604020202020204" pitchFamily="34" charset="0"/>
                        <a:buChar char="•"/>
                      </a:pPr>
                      <a:r>
                        <a:rPr lang="en-US" sz="1300" dirty="0" smtClean="0">
                          <a:latin typeface="Calisto MT" panose="02040603050505030304" pitchFamily="18" charset="0"/>
                        </a:rPr>
                        <a:t>Fine-tuned Llama-2-7B and Phi-3-mini models.</a:t>
                      </a:r>
                    </a:p>
                    <a:p>
                      <a:pPr marL="171450" indent="-171450">
                        <a:buFont typeface="Arial" panose="020B0604020202020204" pitchFamily="34" charset="0"/>
                        <a:buChar char="•"/>
                      </a:pPr>
                      <a:r>
                        <a:rPr lang="en-US" sz="1300" dirty="0" smtClean="0">
                          <a:latin typeface="Calisto MT" panose="02040603050505030304" pitchFamily="18" charset="0"/>
                        </a:rPr>
                        <a:t>Compared performance with and without credibility features.</a:t>
                      </a:r>
                    </a:p>
                    <a:p>
                      <a:pPr marL="171450" indent="-171450">
                        <a:buFont typeface="Arial" panose="020B0604020202020204" pitchFamily="34" charset="0"/>
                        <a:buChar char="•"/>
                      </a:pPr>
                      <a:r>
                        <a:rPr lang="en-US" sz="1300" dirty="0" smtClean="0">
                          <a:latin typeface="Calisto MT" panose="02040603050505030304" pitchFamily="18" charset="0"/>
                        </a:rPr>
                        <a:t>Conducted binary and multiclass experiments.</a:t>
                      </a:r>
                    </a:p>
                  </a:txBody>
                  <a:tcPr marL="91428" marR="91428"/>
                </a:tc>
                <a:tc>
                  <a:txBody>
                    <a:bodyPr/>
                    <a:lstStyle/>
                    <a:p>
                      <a:pPr marL="171450" indent="-171450">
                        <a:buFont typeface="Arial" panose="020B0604020202020204" pitchFamily="34" charset="0"/>
                        <a:buChar char="•"/>
                      </a:pPr>
                      <a:r>
                        <a:rPr lang="en-IN" sz="1300" dirty="0" smtClean="0">
                          <a:latin typeface="Calisto MT" panose="02040603050505030304" pitchFamily="18" charset="0"/>
                        </a:rPr>
                        <a:t>Llama-2-7B (fine-tuned)</a:t>
                      </a:r>
                    </a:p>
                    <a:p>
                      <a:pPr marL="171450" indent="-171450">
                        <a:buFont typeface="Arial" panose="020B0604020202020204" pitchFamily="34" charset="0"/>
                        <a:buChar char="•"/>
                      </a:pPr>
                      <a:r>
                        <a:rPr lang="en-IN" sz="1300" dirty="0" smtClean="0">
                          <a:latin typeface="Calisto MT" panose="02040603050505030304" pitchFamily="18" charset="0"/>
                        </a:rPr>
                        <a:t>Phi-3-mini-4k</a:t>
                      </a:r>
                    </a:p>
                    <a:p>
                      <a:pPr marL="171450" indent="-171450">
                        <a:buFont typeface="Arial" panose="020B0604020202020204" pitchFamily="34" charset="0"/>
                        <a:buChar char="•"/>
                      </a:pPr>
                      <a:r>
                        <a:rPr lang="en-IN" sz="1300" dirty="0" smtClean="0">
                          <a:latin typeface="Calisto MT" panose="02040603050505030304" pitchFamily="18" charset="0"/>
                        </a:rPr>
                        <a:t>Logistic Regression (baseline)</a:t>
                      </a:r>
                    </a:p>
                    <a:p>
                      <a:pPr marL="171450" indent="-171450">
                        <a:buFont typeface="Arial" panose="020B0604020202020204" pitchFamily="34" charset="0"/>
                        <a:buChar char="•"/>
                      </a:pPr>
                      <a:r>
                        <a:rPr lang="en-IN" sz="1300" dirty="0" smtClean="0">
                          <a:latin typeface="Calisto MT" panose="02040603050505030304" pitchFamily="18" charset="0"/>
                        </a:rPr>
                        <a:t>SHAP (feature importance)</a:t>
                      </a:r>
                    </a:p>
                    <a:p>
                      <a:endParaRPr lang="en-IN" sz="1300" dirty="0">
                        <a:latin typeface="Calisto MT" panose="02040603050505030304" pitchFamily="18" charset="0"/>
                      </a:endParaRP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Turkish Twitter dataset (5169 tweets)</a:t>
                      </a: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Requires high computational resources.</a:t>
                      </a:r>
                    </a:p>
                    <a:p>
                      <a:pPr marL="171450" indent="-171450">
                        <a:buFont typeface="Arial" panose="020B0604020202020204" pitchFamily="34" charset="0"/>
                        <a:buChar char="•"/>
                      </a:pPr>
                      <a:r>
                        <a:rPr lang="en-US" sz="1300" dirty="0" smtClean="0">
                          <a:latin typeface="Calisto MT" panose="02040603050505030304" pitchFamily="18" charset="0"/>
                        </a:rPr>
                        <a:t>Lower performance in multiclass setting.</a:t>
                      </a:r>
                    </a:p>
                    <a:p>
                      <a:pPr marL="171450" indent="-171450">
                        <a:buFont typeface="Arial" panose="020B0604020202020204" pitchFamily="34" charset="0"/>
                        <a:buChar char="•"/>
                      </a:pPr>
                      <a:r>
                        <a:rPr lang="en-US" sz="1300" dirty="0" smtClean="0">
                          <a:latin typeface="Calisto MT" panose="02040603050505030304" pitchFamily="18" charset="0"/>
                        </a:rPr>
                        <a:t>Language-specific (Turkish only).</a:t>
                      </a:r>
                    </a:p>
                    <a:p>
                      <a:endParaRPr lang="en-IN" sz="1300" dirty="0">
                        <a:latin typeface="Calisto MT" panose="02040603050505030304" pitchFamily="18" charset="0"/>
                      </a:endParaRPr>
                    </a:p>
                  </a:txBody>
                  <a:tcPr marL="91428" marR="91428"/>
                </a:tc>
                <a:tc>
                  <a:txBody>
                    <a:bodyPr/>
                    <a:lstStyle/>
                    <a:p>
                      <a:r>
                        <a:rPr lang="en-US" sz="1300" dirty="0" smtClean="0">
                          <a:latin typeface="Calisto MT" panose="02040603050505030304" pitchFamily="18" charset="0"/>
                        </a:rPr>
                        <a:t>Credibility-based modeling significantly improves fake news detection, with near-perfect binary F1 performance.</a:t>
                      </a:r>
                      <a:endParaRPr lang="en-IN" sz="1300" dirty="0">
                        <a:latin typeface="Calisto MT" panose="02040603050505030304" pitchFamily="18" charset="0"/>
                      </a:endParaRPr>
                    </a:p>
                  </a:txBody>
                  <a:tcPr marL="91428" marR="91428"/>
                </a:tc>
              </a:tr>
              <a:tr h="3062553">
                <a:tc>
                  <a:txBody>
                    <a:bodyPr/>
                    <a:lstStyle/>
                    <a:p>
                      <a:r>
                        <a:rPr lang="en-US" sz="1300" dirty="0" smtClean="0">
                          <a:latin typeface="Calisto MT" panose="02040603050505030304" pitchFamily="18" charset="0"/>
                        </a:rPr>
                        <a:t>Emotions-Based Disaster Tweets Classification: Real or Fake</a:t>
                      </a:r>
                    </a:p>
                    <a:p>
                      <a:r>
                        <a:rPr lang="en-US" sz="1300" b="1" dirty="0" smtClean="0">
                          <a:latin typeface="Calisto MT" panose="02040603050505030304" pitchFamily="18" charset="0"/>
                        </a:rPr>
                        <a:t>Author: </a:t>
                      </a:r>
                      <a:r>
                        <a:rPr lang="en-US" sz="1300" dirty="0" smtClean="0">
                          <a:latin typeface="Calisto MT" panose="02040603050505030304" pitchFamily="18" charset="0"/>
                        </a:rPr>
                        <a:t>Marco Alfonse, Mariam </a:t>
                      </a:r>
                      <a:r>
                        <a:rPr lang="en-US" sz="1300" dirty="0" err="1" smtClean="0">
                          <a:latin typeface="Calisto MT" panose="02040603050505030304" pitchFamily="18" charset="0"/>
                        </a:rPr>
                        <a:t>Gawich</a:t>
                      </a:r>
                      <a:endParaRPr lang="en-US" sz="1300" dirty="0" smtClean="0">
                        <a:latin typeface="Calisto MT" panose="02040603050505030304" pitchFamily="18" charset="0"/>
                      </a:endParaRPr>
                    </a:p>
                    <a:p>
                      <a:r>
                        <a:rPr lang="en-US" sz="1300" b="1" dirty="0" smtClean="0">
                          <a:latin typeface="Calisto MT" panose="02040603050505030304" pitchFamily="18" charset="0"/>
                        </a:rPr>
                        <a:t>Journal: </a:t>
                      </a:r>
                      <a:r>
                        <a:rPr lang="en-US" sz="1300" dirty="0" smtClean="0">
                          <a:latin typeface="Calisto MT" panose="02040603050505030304" pitchFamily="18" charset="0"/>
                        </a:rPr>
                        <a:t>WSEAS Transactions on Information Science and Applications</a:t>
                      </a:r>
                    </a:p>
                    <a:p>
                      <a:r>
                        <a:rPr lang="en-US" sz="1300" b="1" dirty="0" smtClean="0">
                          <a:latin typeface="Calisto MT" panose="02040603050505030304" pitchFamily="18" charset="0"/>
                        </a:rPr>
                        <a:t>Year: </a:t>
                      </a:r>
                      <a:r>
                        <a:rPr lang="en-US" sz="1300" dirty="0" smtClean="0">
                          <a:latin typeface="Calisto MT" panose="02040603050505030304" pitchFamily="18" charset="0"/>
                        </a:rPr>
                        <a:t>2023</a:t>
                      </a:r>
                    </a:p>
                  </a:txBody>
                  <a:tcPr marL="91428" marR="91428"/>
                </a:tc>
                <a:tc>
                  <a:txBody>
                    <a:bodyPr/>
                    <a:lstStyle/>
                    <a:p>
                      <a:r>
                        <a:rPr lang="en-US" sz="1300" dirty="0" smtClean="0">
                          <a:latin typeface="Calisto MT" panose="02040603050505030304" pitchFamily="18" charset="0"/>
                        </a:rPr>
                        <a:t>To distinguish between fake disaster tweets and real ones and to evaluate the impact of emotion (sentiment) extraction on classification performance</a:t>
                      </a:r>
                      <a:endParaRPr lang="en-IN" sz="1300" dirty="0">
                        <a:latin typeface="Calisto MT" panose="02040603050505030304" pitchFamily="18" charset="0"/>
                      </a:endParaRPr>
                    </a:p>
                  </a:txBody>
                  <a:tcPr marL="91428" marR="91428"/>
                </a:tc>
                <a:tc>
                  <a:txBody>
                    <a:bodyPr/>
                    <a:lstStyle/>
                    <a:p>
                      <a:pPr marL="171450" indent="-171450">
                        <a:buFont typeface="Arial" panose="020B0604020202020204" pitchFamily="34" charset="0"/>
                        <a:buChar char="•"/>
                      </a:pPr>
                      <a:r>
                        <a:rPr lang="en-IN" sz="1300" dirty="0" smtClean="0">
                          <a:latin typeface="Calisto MT" panose="02040603050505030304" pitchFamily="18" charset="0"/>
                        </a:rPr>
                        <a:t>Dataset selection (</a:t>
                      </a:r>
                      <a:r>
                        <a:rPr lang="en-IN" sz="1300" dirty="0" err="1" smtClean="0">
                          <a:latin typeface="Calisto MT" panose="02040603050505030304" pitchFamily="18" charset="0"/>
                        </a:rPr>
                        <a:t>Kaggle</a:t>
                      </a:r>
                      <a:r>
                        <a:rPr lang="en-IN" sz="1300" dirty="0" smtClean="0">
                          <a:latin typeface="Calisto MT" panose="02040603050505030304" pitchFamily="18" charset="0"/>
                        </a:rPr>
                        <a:t> disaster tweets dataset).</a:t>
                      </a:r>
                    </a:p>
                    <a:p>
                      <a:pPr marL="171450" indent="-171450">
                        <a:buFont typeface="Arial" panose="020B0604020202020204" pitchFamily="34" charset="0"/>
                        <a:buChar char="•"/>
                      </a:pPr>
                      <a:r>
                        <a:rPr lang="en-IN" sz="1300" dirty="0" err="1" smtClean="0">
                          <a:latin typeface="Calisto MT" panose="02040603050505030304" pitchFamily="18" charset="0"/>
                        </a:rPr>
                        <a:t>Preprocessing</a:t>
                      </a:r>
                      <a:r>
                        <a:rPr lang="en-IN" sz="1300" dirty="0" smtClean="0">
                          <a:latin typeface="Calisto MT" panose="02040603050505030304" pitchFamily="18" charset="0"/>
                        </a:rPr>
                        <a:t> (removal of </a:t>
                      </a:r>
                      <a:r>
                        <a:rPr lang="en-IN" sz="1300" dirty="0" err="1" smtClean="0">
                          <a:latin typeface="Calisto MT" panose="02040603050505030304" pitchFamily="18" charset="0"/>
                        </a:rPr>
                        <a:t>NaN</a:t>
                      </a:r>
                      <a:r>
                        <a:rPr lang="en-IN" sz="1300" dirty="0" smtClean="0">
                          <a:latin typeface="Calisto MT" panose="02040603050505030304" pitchFamily="18" charset="0"/>
                        </a:rPr>
                        <a:t> values, lemmatization, regex cleaning, noun phrase detection).</a:t>
                      </a:r>
                    </a:p>
                    <a:p>
                      <a:pPr marL="171450" indent="-171450">
                        <a:buFont typeface="Arial" panose="020B0604020202020204" pitchFamily="34" charset="0"/>
                        <a:buChar char="•"/>
                      </a:pPr>
                      <a:r>
                        <a:rPr lang="en-IN" sz="1300" dirty="0" smtClean="0">
                          <a:latin typeface="Calisto MT" panose="02040603050505030304" pitchFamily="18" charset="0"/>
                        </a:rPr>
                        <a:t>Emotion extraction using </a:t>
                      </a:r>
                      <a:r>
                        <a:rPr lang="en-IN" sz="1300" dirty="0" err="1" smtClean="0">
                          <a:latin typeface="Calisto MT" panose="02040603050505030304" pitchFamily="18" charset="0"/>
                        </a:rPr>
                        <a:t>Syuzhet</a:t>
                      </a:r>
                      <a:r>
                        <a:rPr lang="en-IN" sz="1300" dirty="0" smtClean="0">
                          <a:latin typeface="Calisto MT" panose="02040603050505030304" pitchFamily="18" charset="0"/>
                        </a:rPr>
                        <a:t> (R package) to compute tweet polarity.</a:t>
                      </a:r>
                    </a:p>
                    <a:p>
                      <a:pPr marL="171450" indent="-171450">
                        <a:buFont typeface="Arial" panose="020B0604020202020204" pitchFamily="34" charset="0"/>
                        <a:buChar char="•"/>
                      </a:pPr>
                      <a:r>
                        <a:rPr lang="en-IN" sz="1300" dirty="0" smtClean="0">
                          <a:latin typeface="Calisto MT" panose="02040603050505030304" pitchFamily="18" charset="0"/>
                        </a:rPr>
                        <a:t>Feature extraction using:</a:t>
                      </a:r>
                      <a:r>
                        <a:rPr lang="en-IN" sz="1300" baseline="0" dirty="0" smtClean="0">
                          <a:latin typeface="Calisto MT" panose="02040603050505030304" pitchFamily="18" charset="0"/>
                        </a:rPr>
                        <a:t> </a:t>
                      </a:r>
                      <a:r>
                        <a:rPr lang="en-IN" sz="1300" dirty="0" smtClean="0">
                          <a:latin typeface="Calisto MT" panose="02040603050505030304" pitchFamily="18" charset="0"/>
                        </a:rPr>
                        <a:t>TF-IDF,</a:t>
                      </a:r>
                      <a:r>
                        <a:rPr lang="en-IN" sz="1300" baseline="0" dirty="0" smtClean="0">
                          <a:latin typeface="Calisto MT" panose="02040603050505030304" pitchFamily="18" charset="0"/>
                        </a:rPr>
                        <a:t> </a:t>
                      </a:r>
                      <a:r>
                        <a:rPr lang="en-IN" sz="1300" dirty="0" smtClean="0">
                          <a:latin typeface="Calisto MT" panose="02040603050505030304" pitchFamily="18" charset="0"/>
                        </a:rPr>
                        <a:t>Count </a:t>
                      </a:r>
                      <a:r>
                        <a:rPr lang="en-IN" sz="1300" dirty="0" err="1" smtClean="0">
                          <a:latin typeface="Calisto MT" panose="02040603050505030304" pitchFamily="18" charset="0"/>
                        </a:rPr>
                        <a:t>Vectorizer</a:t>
                      </a:r>
                      <a:endParaRPr lang="en-IN" sz="1300" dirty="0" smtClean="0">
                        <a:latin typeface="Calisto MT" panose="02040603050505030304" pitchFamily="18" charset="0"/>
                      </a:endParaRPr>
                    </a:p>
                    <a:p>
                      <a:pPr marL="171450" indent="-171450">
                        <a:buFont typeface="Arial" panose="020B0604020202020204" pitchFamily="34" charset="0"/>
                        <a:buChar char="•"/>
                      </a:pPr>
                      <a:r>
                        <a:rPr lang="en-IN" sz="1300" dirty="0" smtClean="0">
                          <a:latin typeface="Calisto MT" panose="02040603050505030304" pitchFamily="18" charset="0"/>
                        </a:rPr>
                        <a:t>Classification using multiple ML algorithms.</a:t>
                      </a:r>
                    </a:p>
                  </a:txBody>
                  <a:tcPr marL="91428" marR="91428"/>
                </a:tc>
                <a:tc>
                  <a:txBody>
                    <a:bodyPr/>
                    <a:lstStyle/>
                    <a:p>
                      <a:pPr marL="171450" indent="-171450">
                        <a:buFont typeface="Arial" panose="020B0604020202020204" pitchFamily="34" charset="0"/>
                        <a:buChar char="•"/>
                      </a:pPr>
                      <a:r>
                        <a:rPr lang="en-IN" sz="1300" dirty="0" smtClean="0">
                          <a:latin typeface="Calisto MT" panose="02040603050505030304" pitchFamily="18" charset="0"/>
                        </a:rPr>
                        <a:t>Multinomial Naive Bayes (MNB)</a:t>
                      </a:r>
                    </a:p>
                    <a:p>
                      <a:pPr marL="171450" indent="-171450">
                        <a:buFont typeface="Arial" panose="020B0604020202020204" pitchFamily="34" charset="0"/>
                        <a:buChar char="•"/>
                      </a:pPr>
                      <a:r>
                        <a:rPr lang="en-IN" sz="1300" dirty="0" smtClean="0">
                          <a:latin typeface="Calisto MT" panose="02040603050505030304" pitchFamily="18" charset="0"/>
                        </a:rPr>
                        <a:t>Logistic Regression (LR)</a:t>
                      </a:r>
                    </a:p>
                    <a:p>
                      <a:pPr marL="171450" indent="-171450">
                        <a:buFont typeface="Arial" panose="020B0604020202020204" pitchFamily="34" charset="0"/>
                        <a:buChar char="•"/>
                      </a:pPr>
                      <a:r>
                        <a:rPr lang="en-IN" sz="1300" dirty="0" smtClean="0">
                          <a:latin typeface="Calisto MT" panose="02040603050505030304" pitchFamily="18" charset="0"/>
                        </a:rPr>
                        <a:t>Linear SVC</a:t>
                      </a:r>
                    </a:p>
                    <a:p>
                      <a:pPr marL="171450" indent="-171450">
                        <a:buFont typeface="Arial" panose="020B0604020202020204" pitchFamily="34" charset="0"/>
                        <a:buChar char="•"/>
                      </a:pPr>
                      <a:r>
                        <a:rPr lang="en-IN" sz="1300" dirty="0" smtClean="0">
                          <a:latin typeface="Calisto MT" panose="02040603050505030304" pitchFamily="18" charset="0"/>
                        </a:rPr>
                        <a:t>KNN</a:t>
                      </a:r>
                    </a:p>
                    <a:p>
                      <a:pPr marL="171450" indent="-171450">
                        <a:buFont typeface="Arial" panose="020B0604020202020204" pitchFamily="34" charset="0"/>
                        <a:buChar char="•"/>
                      </a:pPr>
                      <a:r>
                        <a:rPr lang="en-IN" sz="1300" dirty="0" smtClean="0">
                          <a:latin typeface="Calisto MT" panose="02040603050505030304" pitchFamily="18" charset="0"/>
                        </a:rPr>
                        <a:t>Decision Tree</a:t>
                      </a:r>
                    </a:p>
                    <a:p>
                      <a:pPr marL="171450" indent="-171450">
                        <a:buFont typeface="Arial" panose="020B0604020202020204" pitchFamily="34" charset="0"/>
                        <a:buChar char="•"/>
                      </a:pPr>
                      <a:r>
                        <a:rPr lang="en-IN" sz="1300" dirty="0" smtClean="0">
                          <a:latin typeface="Calisto MT" panose="02040603050505030304" pitchFamily="18" charset="0"/>
                        </a:rPr>
                        <a:t>Random Forest</a:t>
                      </a:r>
                    </a:p>
                    <a:p>
                      <a:pPr marL="171450" indent="-171450">
                        <a:buFont typeface="Arial" panose="020B0604020202020204" pitchFamily="34" charset="0"/>
                        <a:buChar char="•"/>
                      </a:pPr>
                      <a:r>
                        <a:rPr lang="en-IN" sz="1300" dirty="0" smtClean="0">
                          <a:latin typeface="Calisto MT" panose="02040603050505030304" pitchFamily="18" charset="0"/>
                        </a:rPr>
                        <a:t>Gradient Boosting</a:t>
                      </a:r>
                    </a:p>
                    <a:p>
                      <a:pPr marL="171450" indent="-171450">
                        <a:buFont typeface="Arial" panose="020B0604020202020204" pitchFamily="34" charset="0"/>
                        <a:buChar char="•"/>
                      </a:pPr>
                      <a:r>
                        <a:rPr lang="en-IN" sz="1300" dirty="0" smtClean="0">
                          <a:latin typeface="Calisto MT" panose="02040603050505030304" pitchFamily="18" charset="0"/>
                        </a:rPr>
                        <a:t>SGD</a:t>
                      </a:r>
                    </a:p>
                    <a:p>
                      <a:pPr marL="171450" indent="-171450">
                        <a:buFont typeface="Arial" panose="020B0604020202020204" pitchFamily="34" charset="0"/>
                        <a:buChar char="•"/>
                      </a:pPr>
                      <a:r>
                        <a:rPr lang="en-IN" sz="1300" dirty="0" smtClean="0">
                          <a:latin typeface="Calisto MT" panose="02040603050505030304" pitchFamily="18" charset="0"/>
                        </a:rPr>
                        <a:t>MLP</a:t>
                      </a:r>
                    </a:p>
                    <a:p>
                      <a:pPr marL="171450" indent="-171450">
                        <a:buFont typeface="Arial" panose="020B0604020202020204" pitchFamily="34" charset="0"/>
                        <a:buChar char="•"/>
                      </a:pPr>
                      <a:r>
                        <a:rPr lang="en-IN" sz="1300" dirty="0" smtClean="0">
                          <a:latin typeface="Calisto MT" panose="02040603050505030304" pitchFamily="18" charset="0"/>
                        </a:rPr>
                        <a:t>Bagging Classifier </a:t>
                      </a:r>
                    </a:p>
                  </a:txBody>
                  <a:tcPr marL="91428" marR="91428"/>
                </a:tc>
                <a:tc>
                  <a:txBody>
                    <a:bodyPr/>
                    <a:lstStyle/>
                    <a:p>
                      <a:r>
                        <a:rPr lang="en-IN" sz="1300" dirty="0" err="1" smtClean="0">
                          <a:latin typeface="Calisto MT" panose="02040603050505030304" pitchFamily="18" charset="0"/>
                        </a:rPr>
                        <a:t>Kaggle</a:t>
                      </a:r>
                      <a:r>
                        <a:rPr lang="en-IN" sz="1300" dirty="0" smtClean="0">
                          <a:latin typeface="Calisto MT" panose="02040603050505030304" pitchFamily="18" charset="0"/>
                        </a:rPr>
                        <a:t> Disaster Tweets Dataset</a:t>
                      </a:r>
                      <a:endParaRPr lang="en-IN" sz="1300" dirty="0">
                        <a:latin typeface="Calisto MT" panose="02040603050505030304" pitchFamily="18" charset="0"/>
                      </a:endParaRP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Does not process emoticons.</a:t>
                      </a:r>
                    </a:p>
                    <a:p>
                      <a:pPr marL="171450" indent="-171450">
                        <a:buFont typeface="Arial" panose="020B0604020202020204" pitchFamily="34" charset="0"/>
                        <a:buChar char="•"/>
                      </a:pPr>
                      <a:r>
                        <a:rPr lang="en-US" sz="1300" dirty="0" smtClean="0">
                          <a:latin typeface="Calisto MT" panose="02040603050505030304" pitchFamily="18" charset="0"/>
                        </a:rPr>
                        <a:t>Performance improvement from emotion feature is modest.</a:t>
                      </a:r>
                    </a:p>
                    <a:p>
                      <a:pPr marL="171450" indent="-171450">
                        <a:buFont typeface="Arial" panose="020B0604020202020204" pitchFamily="34" charset="0"/>
                        <a:buChar char="•"/>
                      </a:pPr>
                      <a:r>
                        <a:rPr lang="en-US" sz="1300" dirty="0" smtClean="0">
                          <a:latin typeface="Calisto MT" panose="02040603050505030304" pitchFamily="18" charset="0"/>
                        </a:rPr>
                        <a:t>Model is text-only.</a:t>
                      </a:r>
                      <a:endParaRPr lang="en-IN" sz="1300" dirty="0">
                        <a:latin typeface="Calisto MT" panose="02040603050505030304" pitchFamily="18" charset="0"/>
                      </a:endParaRPr>
                    </a:p>
                  </a:txBody>
                  <a:tcPr marL="91428" marR="91428"/>
                </a:tc>
                <a:tc>
                  <a:txBody>
                    <a:bodyPr/>
                    <a:lstStyle/>
                    <a:p>
                      <a:r>
                        <a:rPr lang="en-US" sz="1300" dirty="0" smtClean="0">
                          <a:latin typeface="Calisto MT" panose="02040603050505030304" pitchFamily="18" charset="0"/>
                        </a:rPr>
                        <a:t>The inclusion of emotion extraction (tweet polarity) improves disaster fake tweet classification performance, achieving 89.39% accuracy, outperforming previous compared models</a:t>
                      </a:r>
                      <a:endParaRPr lang="en-IN" sz="1300" dirty="0">
                        <a:latin typeface="Calisto MT" panose="02040603050505030304" pitchFamily="18" charset="0"/>
                      </a:endParaRPr>
                    </a:p>
                  </a:txBody>
                  <a:tcPr marL="91428" marR="91428"/>
                </a:tc>
              </a:tr>
            </a:tbl>
          </a:graphicData>
        </a:graphic>
      </p:graphicFrame>
      <p:sp>
        <p:nvSpPr>
          <p:cNvPr id="3" name="Title 1"/>
          <p:cNvSpPr>
            <a:spLocks noGrp="1"/>
          </p:cNvSpPr>
          <p:nvPr>
            <p:ph type="title"/>
          </p:nvPr>
        </p:nvSpPr>
        <p:spPr>
          <a:xfrm>
            <a:off x="608806" y="153159"/>
            <a:ext cx="10971372" cy="731204"/>
          </a:xfrm>
        </p:spPr>
        <p:txBody>
          <a:bodyPr>
            <a:normAutofit/>
          </a:bodyPr>
          <a:lstStyle/>
          <a:p>
            <a:r>
              <a:rPr lang="en-US" sz="4000" b="1" dirty="0" smtClean="0">
                <a:latin typeface="Calisto MT" panose="02040603050505030304" pitchFamily="18" charset="0"/>
              </a:rPr>
              <a:t>Literature Survey</a:t>
            </a:r>
            <a:endParaRPr lang="en-IN" sz="4000" b="1" dirty="0">
              <a:latin typeface="Calisto MT" panose="02040603050505030304" pitchFamily="18" charset="0"/>
            </a:endParaRPr>
          </a:p>
        </p:txBody>
      </p:sp>
    </p:spTree>
    <p:extLst>
      <p:ext uri="{BB962C8B-B14F-4D97-AF65-F5344CB8AC3E}">
        <p14:creationId xmlns:p14="http://schemas.microsoft.com/office/powerpoint/2010/main" val="3694168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88973194"/>
              </p:ext>
            </p:extLst>
          </p:nvPr>
        </p:nvGraphicFramePr>
        <p:xfrm>
          <a:off x="151606" y="76200"/>
          <a:ext cx="11963400" cy="6656845"/>
        </p:xfrm>
        <a:graphic>
          <a:graphicData uri="http://schemas.openxmlformats.org/drawingml/2006/table">
            <a:tbl>
              <a:tblPr firstRow="1" bandRow="1">
                <a:tableStyleId>{BC89EF96-8CEA-46FF-86C4-4CE0E7609802}</a:tableStyleId>
              </a:tblPr>
              <a:tblGrid>
                <a:gridCol w="1709057"/>
                <a:gridCol w="1281403"/>
                <a:gridCol w="2421405"/>
                <a:gridCol w="1424364"/>
                <a:gridCol w="1709057"/>
                <a:gridCol w="1709057"/>
                <a:gridCol w="1709057"/>
              </a:tblGrid>
              <a:tr h="530365">
                <a:tc>
                  <a:txBody>
                    <a:bodyPr/>
                    <a:lstStyle/>
                    <a:p>
                      <a:pPr algn="ctr"/>
                      <a:r>
                        <a:rPr lang="en-US" sz="1300" dirty="0" smtClean="0">
                          <a:latin typeface="Calisto MT" panose="02040603050505030304" pitchFamily="18" charset="0"/>
                        </a:rPr>
                        <a:t>Title-Journal</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Objective</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Methodology</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Algorithms</a:t>
                      </a:r>
                      <a:r>
                        <a:rPr lang="en-US" sz="1300" baseline="0" dirty="0" smtClean="0">
                          <a:latin typeface="Calisto MT" panose="02040603050505030304" pitchFamily="18" charset="0"/>
                        </a:rPr>
                        <a:t> used</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Dataset/Study</a:t>
                      </a:r>
                      <a:r>
                        <a:rPr lang="en-US" sz="1300" baseline="0" dirty="0" smtClean="0">
                          <a:latin typeface="Calisto MT" panose="02040603050505030304" pitchFamily="18" charset="0"/>
                        </a:rPr>
                        <a:t> area</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Limitations</a:t>
                      </a:r>
                      <a:endParaRPr lang="en-IN" sz="1300" dirty="0">
                        <a:latin typeface="Calisto MT" panose="02040603050505030304" pitchFamily="18" charset="0"/>
                      </a:endParaRPr>
                    </a:p>
                  </a:txBody>
                  <a:tcPr marL="91428" marR="91428" anchor="ctr"/>
                </a:tc>
                <a:tc>
                  <a:txBody>
                    <a:bodyPr/>
                    <a:lstStyle/>
                    <a:p>
                      <a:pPr algn="ctr"/>
                      <a:r>
                        <a:rPr lang="en-US" sz="1300" dirty="0" smtClean="0">
                          <a:latin typeface="Calisto MT" panose="02040603050505030304" pitchFamily="18" charset="0"/>
                        </a:rPr>
                        <a:t>Conclusion</a:t>
                      </a:r>
                      <a:endParaRPr lang="en-IN" sz="1300" dirty="0">
                        <a:latin typeface="Calisto MT" panose="02040603050505030304" pitchFamily="18" charset="0"/>
                      </a:endParaRPr>
                    </a:p>
                  </a:txBody>
                  <a:tcPr marL="91428" marR="91428" anchor="ctr"/>
                </a:tc>
              </a:tr>
              <a:tr h="1989930">
                <a:tc>
                  <a:txBody>
                    <a:bodyPr/>
                    <a:lstStyle/>
                    <a:p>
                      <a:r>
                        <a:rPr lang="en-IN" sz="1300" dirty="0" smtClean="0">
                          <a:latin typeface="Calisto MT" panose="02040603050505030304" pitchFamily="18" charset="0"/>
                        </a:rPr>
                        <a:t>A BERT-Based Multimodal Framework for Enhanced Fake News Detection Using Text and Image Data Fusion</a:t>
                      </a:r>
                    </a:p>
                    <a:p>
                      <a:r>
                        <a:rPr lang="en-IN" sz="1300" b="1" dirty="0" smtClean="0">
                          <a:latin typeface="Calisto MT" panose="02040603050505030304" pitchFamily="18" charset="0"/>
                        </a:rPr>
                        <a:t>Authors: </a:t>
                      </a:r>
                      <a:r>
                        <a:rPr lang="en-IN" sz="1300" dirty="0" smtClean="0">
                          <a:latin typeface="Calisto MT" panose="02040603050505030304" pitchFamily="18" charset="0"/>
                        </a:rPr>
                        <a:t>Mohammed Al-</a:t>
                      </a:r>
                      <a:r>
                        <a:rPr lang="en-IN" sz="1300" dirty="0" err="1" smtClean="0">
                          <a:latin typeface="Calisto MT" panose="02040603050505030304" pitchFamily="18" charset="0"/>
                        </a:rPr>
                        <a:t>alshaqi</a:t>
                      </a:r>
                      <a:r>
                        <a:rPr lang="en-IN" sz="1300" dirty="0" smtClean="0">
                          <a:latin typeface="Calisto MT" panose="02040603050505030304" pitchFamily="18" charset="0"/>
                        </a:rPr>
                        <a:t>, </a:t>
                      </a:r>
                      <a:r>
                        <a:rPr lang="en-IN" sz="1300" dirty="0" err="1" smtClean="0">
                          <a:latin typeface="Calisto MT" panose="02040603050505030304" pitchFamily="18" charset="0"/>
                        </a:rPr>
                        <a:t>Danda</a:t>
                      </a:r>
                      <a:r>
                        <a:rPr lang="en-IN" sz="1300" dirty="0" smtClean="0">
                          <a:latin typeface="Calisto MT" panose="02040603050505030304" pitchFamily="18" charset="0"/>
                        </a:rPr>
                        <a:t> B. </a:t>
                      </a:r>
                      <a:r>
                        <a:rPr lang="en-IN" sz="1300" dirty="0" err="1" smtClean="0">
                          <a:latin typeface="Calisto MT" panose="02040603050505030304" pitchFamily="18" charset="0"/>
                        </a:rPr>
                        <a:t>Rawat</a:t>
                      </a:r>
                      <a:r>
                        <a:rPr lang="en-IN" sz="1300" dirty="0" smtClean="0">
                          <a:latin typeface="Calisto MT" panose="02040603050505030304" pitchFamily="18" charset="0"/>
                        </a:rPr>
                        <a:t>, </a:t>
                      </a:r>
                      <a:r>
                        <a:rPr lang="en-IN" sz="1300" dirty="0" err="1" smtClean="0">
                          <a:latin typeface="Calisto MT" panose="02040603050505030304" pitchFamily="18" charset="0"/>
                        </a:rPr>
                        <a:t>Chunmei</a:t>
                      </a:r>
                      <a:r>
                        <a:rPr lang="en-IN" sz="1300" dirty="0" smtClean="0">
                          <a:latin typeface="Calisto MT" panose="02040603050505030304" pitchFamily="18" charset="0"/>
                        </a:rPr>
                        <a:t> Liu</a:t>
                      </a:r>
                    </a:p>
                    <a:p>
                      <a:r>
                        <a:rPr lang="en-IN" sz="1300" b="1" dirty="0" smtClean="0">
                          <a:latin typeface="Calisto MT" panose="02040603050505030304" pitchFamily="18" charset="0"/>
                        </a:rPr>
                        <a:t>Journal: </a:t>
                      </a:r>
                      <a:r>
                        <a:rPr lang="en-IN" sz="1300" dirty="0" smtClean="0">
                          <a:latin typeface="Calisto MT" panose="02040603050505030304" pitchFamily="18" charset="0"/>
                        </a:rPr>
                        <a:t>Computers (ISSN 2073-431X)</a:t>
                      </a:r>
                    </a:p>
                    <a:p>
                      <a:r>
                        <a:rPr lang="en-IN" sz="1300" b="1" dirty="0" smtClean="0">
                          <a:latin typeface="Calisto MT" panose="02040603050505030304" pitchFamily="18" charset="0"/>
                        </a:rPr>
                        <a:t>Year: </a:t>
                      </a:r>
                      <a:r>
                        <a:rPr lang="en-IN" sz="1300" dirty="0" smtClean="0">
                          <a:latin typeface="Calisto MT" panose="02040603050505030304" pitchFamily="18" charset="0"/>
                        </a:rPr>
                        <a:t>2025</a:t>
                      </a:r>
                    </a:p>
                  </a:txBody>
                  <a:tcPr marL="91428" marR="91428"/>
                </a:tc>
                <a:tc>
                  <a:txBody>
                    <a:bodyPr/>
                    <a:lstStyle/>
                    <a:p>
                      <a:r>
                        <a:rPr lang="en-US" sz="1300" dirty="0" smtClean="0">
                          <a:latin typeface="Calisto MT" panose="02040603050505030304" pitchFamily="18" charset="0"/>
                        </a:rPr>
                        <a:t>To improve fake news detection by combining textual and visual information using multimodal deep learning with cross-attention fusion</a:t>
                      </a:r>
                      <a:endParaRPr lang="en-IN" sz="1300" dirty="0">
                        <a:latin typeface="Calisto MT" panose="02040603050505030304" pitchFamily="18" charset="0"/>
                      </a:endParaRP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Collected multimodal fake news datasets.</a:t>
                      </a:r>
                    </a:p>
                    <a:p>
                      <a:pPr marL="171450" indent="-171450">
                        <a:buFont typeface="Arial" panose="020B0604020202020204" pitchFamily="34" charset="0"/>
                        <a:buChar char="•"/>
                      </a:pPr>
                      <a:r>
                        <a:rPr lang="en-US" sz="1300" dirty="0" smtClean="0">
                          <a:latin typeface="Calisto MT" panose="02040603050505030304" pitchFamily="18" charset="0"/>
                        </a:rPr>
                        <a:t>Applied OCR to extract embedded image text.</a:t>
                      </a:r>
                    </a:p>
                    <a:p>
                      <a:pPr marL="171450" indent="-171450">
                        <a:buFont typeface="Arial" panose="020B0604020202020204" pitchFamily="34" charset="0"/>
                        <a:buChar char="•"/>
                      </a:pPr>
                      <a:r>
                        <a:rPr lang="en-US" sz="1300" dirty="0" smtClean="0">
                          <a:latin typeface="Calisto MT" panose="02040603050505030304" pitchFamily="18" charset="0"/>
                        </a:rPr>
                        <a:t>Used </a:t>
                      </a:r>
                      <a:r>
                        <a:rPr lang="en-US" sz="1300" dirty="0" err="1" smtClean="0">
                          <a:latin typeface="Calisto MT" panose="02040603050505030304" pitchFamily="18" charset="0"/>
                        </a:rPr>
                        <a:t>BERT_base_uncased</a:t>
                      </a:r>
                      <a:r>
                        <a:rPr lang="en-US" sz="1300" dirty="0" smtClean="0">
                          <a:latin typeface="Calisto MT" panose="02040603050505030304" pitchFamily="18" charset="0"/>
                        </a:rPr>
                        <a:t> for text features.</a:t>
                      </a:r>
                    </a:p>
                    <a:p>
                      <a:pPr marL="171450" indent="-171450">
                        <a:buFont typeface="Arial" panose="020B0604020202020204" pitchFamily="34" charset="0"/>
                        <a:buChar char="•"/>
                      </a:pPr>
                      <a:r>
                        <a:rPr lang="en-US" sz="1300" dirty="0" smtClean="0">
                          <a:latin typeface="Calisto MT" panose="02040603050505030304" pitchFamily="18" charset="0"/>
                        </a:rPr>
                        <a:t>Used CNN for image feature extraction.</a:t>
                      </a:r>
                    </a:p>
                    <a:p>
                      <a:pPr marL="171450" indent="-171450">
                        <a:buFont typeface="Arial" panose="020B0604020202020204" pitchFamily="34" charset="0"/>
                        <a:buChar char="•"/>
                      </a:pPr>
                      <a:r>
                        <a:rPr lang="en-US" sz="1300" dirty="0" smtClean="0">
                          <a:latin typeface="Calisto MT" panose="02040603050505030304" pitchFamily="18" charset="0"/>
                        </a:rPr>
                        <a:t>Applied cross-attention feature-level fusion.</a:t>
                      </a:r>
                    </a:p>
                    <a:p>
                      <a:pPr marL="171450" indent="-171450">
                        <a:buFont typeface="Arial" panose="020B0604020202020204" pitchFamily="34" charset="0"/>
                        <a:buChar char="•"/>
                      </a:pPr>
                      <a:r>
                        <a:rPr lang="en-US" sz="1300" dirty="0" smtClean="0">
                          <a:latin typeface="Calisto MT" panose="02040603050505030304" pitchFamily="18" charset="0"/>
                        </a:rPr>
                        <a:t>Classified news as fake or real.</a:t>
                      </a:r>
                    </a:p>
                  </a:txBody>
                  <a:tcPr marL="91428" marR="91428"/>
                </a:tc>
                <a:tc>
                  <a:txBody>
                    <a:bodyPr/>
                    <a:lstStyle/>
                    <a:p>
                      <a:pPr marL="171450" indent="-171450">
                        <a:buFont typeface="Arial" panose="020B0604020202020204" pitchFamily="34" charset="0"/>
                        <a:buChar char="•"/>
                      </a:pPr>
                      <a:r>
                        <a:rPr lang="en-US" sz="1300" dirty="0" err="1" smtClean="0">
                          <a:latin typeface="Calisto MT" panose="02040603050505030304" pitchFamily="18" charset="0"/>
                        </a:rPr>
                        <a:t>BERT_base_uncased</a:t>
                      </a:r>
                      <a:endParaRPr lang="en-US" sz="1300" dirty="0" smtClean="0">
                        <a:latin typeface="Calisto MT" panose="02040603050505030304" pitchFamily="18" charset="0"/>
                      </a:endParaRPr>
                    </a:p>
                    <a:p>
                      <a:pPr marL="171450" indent="-171450">
                        <a:buFont typeface="Arial" panose="020B0604020202020204" pitchFamily="34" charset="0"/>
                        <a:buChar char="•"/>
                      </a:pPr>
                      <a:r>
                        <a:rPr lang="en-US" sz="1300" dirty="0" smtClean="0">
                          <a:latin typeface="Calisto MT" panose="02040603050505030304" pitchFamily="18" charset="0"/>
                        </a:rPr>
                        <a:t>OCR</a:t>
                      </a:r>
                    </a:p>
                    <a:p>
                      <a:pPr marL="171450" indent="-171450">
                        <a:buFont typeface="Arial" panose="020B0604020202020204" pitchFamily="34" charset="0"/>
                        <a:buChar char="•"/>
                      </a:pPr>
                      <a:r>
                        <a:rPr lang="en-US" sz="1300" dirty="0" smtClean="0">
                          <a:latin typeface="Calisto MT" panose="02040603050505030304" pitchFamily="18" charset="0"/>
                        </a:rPr>
                        <a:t>CNN for image features</a:t>
                      </a:r>
                    </a:p>
                    <a:p>
                      <a:pPr marL="171450" indent="-171450">
                        <a:buFont typeface="Arial" panose="020B0604020202020204" pitchFamily="34" charset="0"/>
                        <a:buChar char="•"/>
                      </a:pPr>
                      <a:r>
                        <a:rPr lang="en-US" sz="1300" dirty="0" smtClean="0">
                          <a:latin typeface="Calisto MT" panose="02040603050505030304" pitchFamily="18" charset="0"/>
                        </a:rPr>
                        <a:t>Cross-attention fusion</a:t>
                      </a:r>
                    </a:p>
                    <a:p>
                      <a:pPr marL="171450" indent="-171450">
                        <a:buFont typeface="Arial" panose="020B0604020202020204" pitchFamily="34" charset="0"/>
                        <a:buChar char="•"/>
                      </a:pPr>
                      <a:r>
                        <a:rPr lang="en-US" sz="1300" dirty="0" smtClean="0">
                          <a:latin typeface="Calisto MT" panose="02040603050505030304" pitchFamily="18" charset="0"/>
                        </a:rPr>
                        <a:t>Deep learning classifier</a:t>
                      </a:r>
                    </a:p>
                  </a:txBody>
                  <a:tcPr marL="91428" marR="91428"/>
                </a:tc>
                <a:tc>
                  <a:txBody>
                    <a:bodyPr/>
                    <a:lstStyle/>
                    <a:p>
                      <a:pPr marL="171450" indent="-171450">
                        <a:buFont typeface="Arial" panose="020B0604020202020204" pitchFamily="34" charset="0"/>
                        <a:buChar char="•"/>
                      </a:pPr>
                      <a:r>
                        <a:rPr lang="en-IN" sz="1300" dirty="0" smtClean="0">
                          <a:latin typeface="Calisto MT" panose="02040603050505030304" pitchFamily="18" charset="0"/>
                        </a:rPr>
                        <a:t>ISOT</a:t>
                      </a:r>
                    </a:p>
                    <a:p>
                      <a:pPr marL="171450" indent="-171450">
                        <a:buFont typeface="Arial" panose="020B0604020202020204" pitchFamily="34" charset="0"/>
                        <a:buChar char="•"/>
                      </a:pPr>
                      <a:r>
                        <a:rPr lang="en-IN" sz="1300" dirty="0" err="1" smtClean="0">
                          <a:latin typeface="Calisto MT" panose="02040603050505030304" pitchFamily="18" charset="0"/>
                        </a:rPr>
                        <a:t>WELFake</a:t>
                      </a:r>
                      <a:endParaRPr lang="en-IN" sz="1300" dirty="0" smtClean="0">
                        <a:latin typeface="Calisto MT" panose="02040603050505030304" pitchFamily="18" charset="0"/>
                      </a:endParaRPr>
                    </a:p>
                    <a:p>
                      <a:pPr marL="171450" indent="-171450">
                        <a:buFont typeface="Arial" panose="020B0604020202020204" pitchFamily="34" charset="0"/>
                        <a:buChar char="•"/>
                      </a:pPr>
                      <a:r>
                        <a:rPr lang="en-IN" sz="1300" dirty="0" err="1" smtClean="0">
                          <a:latin typeface="Calisto MT" panose="02040603050505030304" pitchFamily="18" charset="0"/>
                        </a:rPr>
                        <a:t>TruthSeeker</a:t>
                      </a:r>
                      <a:r>
                        <a:rPr lang="en-IN" sz="1300" dirty="0" smtClean="0">
                          <a:latin typeface="Calisto MT" panose="02040603050505030304" pitchFamily="18" charset="0"/>
                        </a:rPr>
                        <a:t/>
                      </a:r>
                      <a:br>
                        <a:rPr lang="en-IN" sz="1300" dirty="0" smtClean="0">
                          <a:latin typeface="Calisto MT" panose="02040603050505030304" pitchFamily="18" charset="0"/>
                        </a:rPr>
                      </a:br>
                      <a:r>
                        <a:rPr lang="en-IN" sz="1300" dirty="0" smtClean="0">
                          <a:latin typeface="Calisto MT" panose="02040603050505030304" pitchFamily="18" charset="0"/>
                        </a:rPr>
                        <a:t>(Social media fake news datasets)</a:t>
                      </a: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Requires large multimodal datasets.</a:t>
                      </a:r>
                    </a:p>
                    <a:p>
                      <a:pPr marL="171450" indent="-171450">
                        <a:buFont typeface="Arial" panose="020B0604020202020204" pitchFamily="34" charset="0"/>
                        <a:buChar char="•"/>
                      </a:pPr>
                      <a:r>
                        <a:rPr lang="en-US" sz="1300" dirty="0" smtClean="0">
                          <a:latin typeface="Calisto MT" panose="02040603050505030304" pitchFamily="18" charset="0"/>
                        </a:rPr>
                        <a:t>Computationally expensive.</a:t>
                      </a:r>
                    </a:p>
                    <a:p>
                      <a:pPr marL="171450" indent="-171450">
                        <a:buFont typeface="Arial" panose="020B0604020202020204" pitchFamily="34" charset="0"/>
                        <a:buChar char="•"/>
                      </a:pPr>
                      <a:r>
                        <a:rPr lang="en-US" sz="1300" dirty="0" smtClean="0">
                          <a:latin typeface="Calisto MT" panose="02040603050505030304" pitchFamily="18" charset="0"/>
                        </a:rPr>
                        <a:t>Performance sensitive to OCR quality.</a:t>
                      </a:r>
                    </a:p>
                  </a:txBody>
                  <a:tcPr marL="91428" marR="91428"/>
                </a:tc>
                <a:tc>
                  <a:txBody>
                    <a:bodyPr/>
                    <a:lstStyle/>
                    <a:p>
                      <a:r>
                        <a:rPr lang="en-US" sz="1300" dirty="0" smtClean="0">
                          <a:latin typeface="Calisto MT" panose="02040603050505030304" pitchFamily="18" charset="0"/>
                        </a:rPr>
                        <a:t>Feature-level multimodal fusion using cross-attention significantly improves fake news detection accuracy and generalization compared to unimodal approaches.</a:t>
                      </a:r>
                    </a:p>
                    <a:p>
                      <a:r>
                        <a:rPr lang="en-IN" sz="1300" dirty="0" smtClean="0">
                          <a:latin typeface="Calisto MT" panose="02040603050505030304" pitchFamily="18" charset="0"/>
                        </a:rPr>
                        <a:t>Reported Accuracy ≈ 99.97%</a:t>
                      </a:r>
                      <a:endParaRPr lang="en-IN" sz="1300" dirty="0">
                        <a:latin typeface="Calisto MT" panose="02040603050505030304" pitchFamily="18" charset="0"/>
                      </a:endParaRPr>
                    </a:p>
                  </a:txBody>
                  <a:tcPr marL="91428" marR="91428"/>
                </a:tc>
              </a:tr>
              <a:tr h="2275206">
                <a:tc>
                  <a:txBody>
                    <a:bodyPr/>
                    <a:lstStyle/>
                    <a:p>
                      <a:r>
                        <a:rPr lang="en-IN" sz="1300" dirty="0" err="1" smtClean="0">
                          <a:latin typeface="Calisto MT" panose="02040603050505030304" pitchFamily="18" charset="0"/>
                        </a:rPr>
                        <a:t>ContCommRTD</a:t>
                      </a:r>
                      <a:r>
                        <a:rPr lang="en-IN" sz="1300" dirty="0" smtClean="0">
                          <a:latin typeface="Calisto MT" panose="02040603050505030304" pitchFamily="18" charset="0"/>
                        </a:rPr>
                        <a:t>: A Distributed Content-Based Misinformation-Aware Community Detection System for Real-Time Disaster Reporting</a:t>
                      </a:r>
                    </a:p>
                    <a:p>
                      <a:r>
                        <a:rPr lang="en-IN" sz="1300" b="1" dirty="0" smtClean="0">
                          <a:latin typeface="Calisto MT" panose="02040603050505030304" pitchFamily="18" charset="0"/>
                        </a:rPr>
                        <a:t>Author: </a:t>
                      </a:r>
                      <a:r>
                        <a:rPr lang="en-IN" sz="1300" dirty="0" smtClean="0">
                          <a:latin typeface="Calisto MT" panose="02040603050505030304" pitchFamily="18" charset="0"/>
                        </a:rPr>
                        <a:t>Elena-Simona Apostol et al.</a:t>
                      </a:r>
                    </a:p>
                    <a:p>
                      <a:r>
                        <a:rPr lang="en-IN" sz="1300" b="1" dirty="0" smtClean="0">
                          <a:latin typeface="Calisto MT" panose="02040603050505030304" pitchFamily="18" charset="0"/>
                        </a:rPr>
                        <a:t>Journal:</a:t>
                      </a:r>
                      <a:r>
                        <a:rPr lang="en-IN" sz="1300" dirty="0" smtClean="0">
                          <a:latin typeface="Calisto MT" panose="02040603050505030304" pitchFamily="18" charset="0"/>
                        </a:rPr>
                        <a:t> IEEE Transaction</a:t>
                      </a:r>
                    </a:p>
                    <a:p>
                      <a:r>
                        <a:rPr lang="en-IN" sz="1300" b="1" dirty="0" smtClean="0">
                          <a:latin typeface="Calisto MT" panose="02040603050505030304" pitchFamily="18" charset="0"/>
                        </a:rPr>
                        <a:t>Year:</a:t>
                      </a:r>
                      <a:r>
                        <a:rPr lang="en-IN" sz="1300" dirty="0" smtClean="0">
                          <a:latin typeface="Calisto MT" panose="02040603050505030304" pitchFamily="18" charset="0"/>
                        </a:rPr>
                        <a:t> 2023</a:t>
                      </a:r>
                    </a:p>
                  </a:txBody>
                  <a:tcPr marL="91428" marR="91428"/>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dirty="0" smtClean="0">
                          <a:latin typeface="Calisto MT" panose="02040603050505030304" pitchFamily="18" charset="0"/>
                        </a:rPr>
                        <a:t>To build a distributed real-time system that detects disaster-related communities on Twitter while filtering misinformation.</a:t>
                      </a: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Collected </a:t>
                      </a:r>
                      <a:r>
                        <a:rPr lang="en-US" sz="1300" dirty="0" err="1" smtClean="0">
                          <a:latin typeface="Calisto MT" panose="02040603050505030304" pitchFamily="18" charset="0"/>
                        </a:rPr>
                        <a:t>geolocated</a:t>
                      </a:r>
                      <a:r>
                        <a:rPr lang="en-US" sz="1300" dirty="0" smtClean="0">
                          <a:latin typeface="Calisto MT" panose="02040603050505030304" pitchFamily="18" charset="0"/>
                        </a:rPr>
                        <a:t> Twitter data using a meta-knowledge dictionary.</a:t>
                      </a:r>
                    </a:p>
                    <a:p>
                      <a:pPr marL="171450" indent="-171450">
                        <a:buFont typeface="Arial" panose="020B0604020202020204" pitchFamily="34" charset="0"/>
                        <a:buChar char="•"/>
                      </a:pPr>
                      <a:r>
                        <a:rPr lang="en-US" sz="1300" dirty="0" smtClean="0">
                          <a:latin typeface="Calisto MT" panose="02040603050505030304" pitchFamily="18" charset="0"/>
                        </a:rPr>
                        <a:t>Constructed social graph (retweets + replies).</a:t>
                      </a:r>
                    </a:p>
                    <a:p>
                      <a:pPr marL="171450" indent="-171450">
                        <a:buFont typeface="Arial" panose="020B0604020202020204" pitchFamily="34" charset="0"/>
                        <a:buChar char="•"/>
                      </a:pPr>
                      <a:r>
                        <a:rPr lang="en-US" sz="1300" dirty="0" smtClean="0">
                          <a:latin typeface="Calisto MT" panose="02040603050505030304" pitchFamily="18" charset="0"/>
                        </a:rPr>
                        <a:t>Applied misinformation detection before community formation.</a:t>
                      </a:r>
                    </a:p>
                    <a:p>
                      <a:pPr marL="171450" indent="-171450">
                        <a:buFont typeface="Arial" panose="020B0604020202020204" pitchFamily="34" charset="0"/>
                        <a:buChar char="•"/>
                      </a:pPr>
                      <a:r>
                        <a:rPr lang="en-US" sz="1300" dirty="0" smtClean="0">
                          <a:latin typeface="Calisto MT" panose="02040603050505030304" pitchFamily="18" charset="0"/>
                        </a:rPr>
                        <a:t>Used OLDA for topic modeling.</a:t>
                      </a:r>
                    </a:p>
                    <a:p>
                      <a:pPr marL="171450" indent="-171450">
                        <a:buFont typeface="Arial" panose="020B0604020202020204" pitchFamily="34" charset="0"/>
                        <a:buChar char="•"/>
                      </a:pPr>
                      <a:r>
                        <a:rPr lang="en-US" sz="1300" dirty="0" smtClean="0">
                          <a:latin typeface="Calisto MT" panose="02040603050505030304" pitchFamily="18" charset="0"/>
                        </a:rPr>
                        <a:t>Applied DBSCAN for geolocation-based community detection.</a:t>
                      </a:r>
                    </a:p>
                    <a:p>
                      <a:pPr marL="171450" indent="-171450">
                        <a:buFont typeface="Arial" panose="020B0604020202020204" pitchFamily="34" charset="0"/>
                        <a:buChar char="•"/>
                      </a:pPr>
                      <a:r>
                        <a:rPr lang="en-US" sz="1300" dirty="0" smtClean="0">
                          <a:latin typeface="Calisto MT" panose="02040603050505030304" pitchFamily="18" charset="0"/>
                        </a:rPr>
                        <a:t>Implemented distributed system using Kafka + MongoDB.</a:t>
                      </a:r>
                    </a:p>
                  </a:txBody>
                  <a:tcPr marL="91428" marR="91428"/>
                </a:tc>
                <a:tc>
                  <a:txBody>
                    <a:bodyPr/>
                    <a:lstStyle/>
                    <a:p>
                      <a:pPr marL="171450" indent="-171450">
                        <a:buFont typeface="Arial" panose="020B0604020202020204" pitchFamily="34" charset="0"/>
                        <a:buChar char="•"/>
                      </a:pPr>
                      <a:r>
                        <a:rPr lang="en-IN" sz="1300" dirty="0" smtClean="0">
                          <a:latin typeface="Calisto MT" panose="02040603050505030304" pitchFamily="18" charset="0"/>
                        </a:rPr>
                        <a:t>FN-BERT-TFIDF (</a:t>
                      </a:r>
                      <a:r>
                        <a:rPr lang="en-IN" sz="1300" dirty="0" err="1" smtClean="0">
                          <a:latin typeface="Calisto MT" panose="02040603050505030304" pitchFamily="18" charset="0"/>
                        </a:rPr>
                        <a:t>BiLSTM</a:t>
                      </a:r>
                      <a:r>
                        <a:rPr lang="en-IN" sz="1300" dirty="0" smtClean="0">
                          <a:latin typeface="Calisto MT" panose="02040603050505030304" pitchFamily="18" charset="0"/>
                        </a:rPr>
                        <a:t> + CNN + BERT + TF-IDF)</a:t>
                      </a:r>
                    </a:p>
                    <a:p>
                      <a:pPr marL="171450" indent="-171450">
                        <a:buFont typeface="Arial" panose="020B0604020202020204" pitchFamily="34" charset="0"/>
                        <a:buChar char="•"/>
                      </a:pPr>
                      <a:r>
                        <a:rPr lang="en-IN" sz="1300" dirty="0" smtClean="0">
                          <a:latin typeface="Calisto MT" panose="02040603050505030304" pitchFamily="18" charset="0"/>
                        </a:rPr>
                        <a:t>Online LDA (OLDA)</a:t>
                      </a:r>
                    </a:p>
                    <a:p>
                      <a:pPr marL="171450" indent="-171450">
                        <a:buFont typeface="Arial" panose="020B0604020202020204" pitchFamily="34" charset="0"/>
                        <a:buChar char="•"/>
                      </a:pPr>
                      <a:r>
                        <a:rPr lang="en-IN" sz="1300" dirty="0" smtClean="0">
                          <a:latin typeface="Calisto MT" panose="02040603050505030304" pitchFamily="18" charset="0"/>
                        </a:rPr>
                        <a:t>DBSCAN</a:t>
                      </a:r>
                    </a:p>
                    <a:p>
                      <a:pPr marL="171450" indent="-171450">
                        <a:buFont typeface="Arial" panose="020B0604020202020204" pitchFamily="34" charset="0"/>
                        <a:buChar char="•"/>
                      </a:pPr>
                      <a:r>
                        <a:rPr lang="en-IN" sz="1300" dirty="0" smtClean="0">
                          <a:latin typeface="Calisto MT" panose="02040603050505030304" pitchFamily="18" charset="0"/>
                        </a:rPr>
                        <a:t>Named Entity Recognition (NER)</a:t>
                      </a: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Hydrological hazards: 356,483 tweets</a:t>
                      </a:r>
                    </a:p>
                    <a:p>
                      <a:pPr marL="171450" indent="-171450">
                        <a:buFont typeface="Arial" panose="020B0604020202020204" pitchFamily="34" charset="0"/>
                        <a:buChar char="•"/>
                      </a:pPr>
                      <a:r>
                        <a:rPr lang="en-US" sz="1300" dirty="0" smtClean="0">
                          <a:latin typeface="Calisto MT" panose="02040603050505030304" pitchFamily="18" charset="0"/>
                        </a:rPr>
                        <a:t>COVID-19 hazards: 50,230 tweets</a:t>
                      </a:r>
                    </a:p>
                    <a:p>
                      <a:pPr marL="171450" indent="-171450">
                        <a:buFont typeface="Arial" panose="020B0604020202020204" pitchFamily="34" charset="0"/>
                        <a:buChar char="•"/>
                      </a:pPr>
                      <a:r>
                        <a:rPr lang="en-US" sz="1300" dirty="0" smtClean="0">
                          <a:latin typeface="Calisto MT" panose="02040603050505030304" pitchFamily="18" charset="0"/>
                        </a:rPr>
                        <a:t>Fake detection tested on:</a:t>
                      </a:r>
                    </a:p>
                    <a:p>
                      <a:pPr marL="171450" indent="-171450">
                        <a:buFont typeface="Arial" panose="020B0604020202020204" pitchFamily="34" charset="0"/>
                        <a:buChar char="•"/>
                      </a:pPr>
                      <a:r>
                        <a:rPr lang="en-US" sz="1300" dirty="0" smtClean="0">
                          <a:latin typeface="Calisto MT" panose="02040603050505030304" pitchFamily="18" charset="0"/>
                        </a:rPr>
                        <a:t>LIAR dataset</a:t>
                      </a:r>
                    </a:p>
                    <a:p>
                      <a:pPr marL="171450" indent="-171450">
                        <a:buFont typeface="Arial" panose="020B0604020202020204" pitchFamily="34" charset="0"/>
                        <a:buChar char="•"/>
                      </a:pPr>
                      <a:r>
                        <a:rPr lang="en-US" sz="1300" dirty="0" smtClean="0">
                          <a:latin typeface="Calisto MT" panose="02040603050505030304" pitchFamily="18" charset="0"/>
                        </a:rPr>
                        <a:t>COVID-19 rumor dataset</a:t>
                      </a:r>
                    </a:p>
                  </a:txBody>
                  <a:tcPr marL="91428" marR="91428"/>
                </a:tc>
                <a:tc>
                  <a:txBody>
                    <a:bodyPr/>
                    <a:lstStyle/>
                    <a:p>
                      <a:pPr marL="171450" indent="-171450">
                        <a:buFont typeface="Arial" panose="020B0604020202020204" pitchFamily="34" charset="0"/>
                        <a:buChar char="•"/>
                      </a:pPr>
                      <a:r>
                        <a:rPr lang="en-US" sz="1300" dirty="0" smtClean="0">
                          <a:latin typeface="Calisto MT" panose="02040603050505030304" pitchFamily="18" charset="0"/>
                        </a:rPr>
                        <a:t>Depends on geolocation availability or NER extraction</a:t>
                      </a:r>
                    </a:p>
                    <a:p>
                      <a:pPr marL="171450" indent="-171450">
                        <a:buFont typeface="Arial" panose="020B0604020202020204" pitchFamily="34" charset="0"/>
                        <a:buChar char="•"/>
                      </a:pPr>
                      <a:r>
                        <a:rPr lang="en-US" sz="1300" dirty="0" smtClean="0">
                          <a:latin typeface="Calisto MT" panose="02040603050505030304" pitchFamily="18" charset="0"/>
                        </a:rPr>
                        <a:t>Moderate fake detection accuracy on LIAR dataset</a:t>
                      </a:r>
                    </a:p>
                    <a:p>
                      <a:pPr marL="171450" indent="-171450">
                        <a:buFont typeface="Arial" panose="020B0604020202020204" pitchFamily="34" charset="0"/>
                        <a:buChar char="•"/>
                      </a:pPr>
                      <a:r>
                        <a:rPr lang="en-US" sz="1300" dirty="0" smtClean="0">
                          <a:latin typeface="Calisto MT" panose="02040603050505030304" pitchFamily="18" charset="0"/>
                        </a:rPr>
                        <a:t>Computationally heavy distributed architecture</a:t>
                      </a:r>
                    </a:p>
                  </a:txBody>
                  <a:tcPr marL="91428" marR="91428"/>
                </a:tc>
                <a:tc>
                  <a:txBody>
                    <a:bodyPr/>
                    <a:lstStyle/>
                    <a:p>
                      <a:pPr marL="0" indent="0">
                        <a:buFont typeface="Arial" panose="020B0604020202020204" pitchFamily="34" charset="0"/>
                        <a:buNone/>
                      </a:pPr>
                      <a:r>
                        <a:rPr lang="en-US" sz="1300" dirty="0" smtClean="0">
                          <a:latin typeface="Calisto MT" panose="02040603050505030304" pitchFamily="18" charset="0"/>
                        </a:rPr>
                        <a:t>The system successfully integrates misinformation detection with real-time disaster community detection. FN-BERT-TFIDF improves performance over single-input models, and DBSCAN produces highly separated communities (Accuracy-87%).</a:t>
                      </a:r>
                      <a:endParaRPr lang="en-IN" sz="1300" dirty="0">
                        <a:latin typeface="Calisto MT" panose="02040603050505030304" pitchFamily="18" charset="0"/>
                      </a:endParaRPr>
                    </a:p>
                  </a:txBody>
                  <a:tcPr marL="91428" marR="91428"/>
                </a:tc>
              </a:tr>
            </a:tbl>
          </a:graphicData>
        </a:graphic>
      </p:graphicFrame>
    </p:spTree>
    <p:extLst>
      <p:ext uri="{BB962C8B-B14F-4D97-AF65-F5344CB8AC3E}">
        <p14:creationId xmlns:p14="http://schemas.microsoft.com/office/powerpoint/2010/main" val="1800824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522" y="457201"/>
            <a:ext cx="10971372" cy="5668966"/>
          </a:xfrm>
        </p:spPr>
        <p:txBody>
          <a:bodyPr>
            <a:normAutofit/>
          </a:bodyPr>
          <a:lstStyle/>
          <a:p>
            <a:pPr marL="0" indent="0" algn="ctr">
              <a:buNone/>
            </a:pPr>
            <a:r>
              <a:rPr lang="en-US" sz="3600" b="1" dirty="0">
                <a:latin typeface="Calisto MT" panose="02040603050505030304" pitchFamily="18" charset="0"/>
              </a:rPr>
              <a:t>Literature Summary </a:t>
            </a:r>
          </a:p>
          <a:p>
            <a:pPr algn="just"/>
            <a:r>
              <a:rPr lang="en-US" sz="2100" dirty="0">
                <a:latin typeface="Calisto MT" panose="02040603050505030304" pitchFamily="18" charset="0"/>
              </a:rPr>
              <a:t>Recent studies in fake news detection show a shift from traditional machine learning to deep learning and multimodal approaches. Early methods using sentiment and text-based features improve performance but remain limited to textual analysis.</a:t>
            </a:r>
          </a:p>
          <a:p>
            <a:pPr algn="just"/>
            <a:r>
              <a:rPr lang="en-US" sz="2100" dirty="0">
                <a:latin typeface="Calisto MT" panose="02040603050505030304" pitchFamily="18" charset="0"/>
              </a:rPr>
              <a:t>Recent works incorporate credibility features and large language models, improving detection accuracy, though they are computationally expensive and dataset-specific. Multimodal frameworks combining text and image data further enhance performance by capturing complementary information, but require large datasets and complex processing.</a:t>
            </a:r>
          </a:p>
          <a:p>
            <a:pPr algn="just"/>
            <a:r>
              <a:rPr lang="en-US" sz="2100" dirty="0">
                <a:latin typeface="Calisto MT" panose="02040603050505030304" pitchFamily="18" charset="0"/>
              </a:rPr>
              <a:t>System-level approaches focus on real-time detection and community analysis, improving scalability but lacking deep content understanding. Overall, while multimodal and deep learning methods are effective, challenges remain in fusion efficiency, generalization, and unified detection of disaster relevance and misinformation</a:t>
            </a:r>
            <a:r>
              <a:rPr lang="en-US" sz="2100" dirty="0" smtClean="0">
                <a:latin typeface="Calisto MT" panose="02040603050505030304" pitchFamily="18" charset="0"/>
              </a:rPr>
              <a:t>.</a:t>
            </a:r>
            <a:endParaRPr lang="en-US" sz="2100" dirty="0">
              <a:latin typeface="Calisto MT" panose="02040603050505030304" pitchFamily="18" charset="0"/>
            </a:endParaRPr>
          </a:p>
        </p:txBody>
      </p:sp>
    </p:spTree>
    <p:extLst>
      <p:ext uri="{BB962C8B-B14F-4D97-AF65-F5344CB8AC3E}">
        <p14:creationId xmlns:p14="http://schemas.microsoft.com/office/powerpoint/2010/main" val="12696682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22" y="274638"/>
            <a:ext cx="10971372" cy="715962"/>
          </a:xfrm>
        </p:spPr>
        <p:txBody>
          <a:bodyPr>
            <a:normAutofit/>
          </a:bodyPr>
          <a:lstStyle/>
          <a:p>
            <a:r>
              <a:rPr lang="en-US" sz="4000" b="1" u="sng" dirty="0" smtClean="0">
                <a:latin typeface="Calisto MT" panose="02040603050505030304" pitchFamily="18" charset="0"/>
              </a:rPr>
              <a:t>Datasets Used</a:t>
            </a:r>
            <a:endParaRPr lang="en-IN" sz="4000" b="1" u="sng" dirty="0">
              <a:latin typeface="Calisto MT" panose="02040603050505030304" pitchFamily="18" charset="0"/>
            </a:endParaRPr>
          </a:p>
        </p:txBody>
      </p:sp>
      <p:sp>
        <p:nvSpPr>
          <p:cNvPr id="3" name="Content Placeholder 2"/>
          <p:cNvSpPr>
            <a:spLocks noGrp="1"/>
          </p:cNvSpPr>
          <p:nvPr>
            <p:ph idx="1"/>
          </p:nvPr>
        </p:nvSpPr>
        <p:spPr>
          <a:xfrm>
            <a:off x="609522" y="1295401"/>
            <a:ext cx="10971372" cy="4830766"/>
          </a:xfrm>
        </p:spPr>
        <p:txBody>
          <a:bodyPr>
            <a:noAutofit/>
          </a:bodyPr>
          <a:lstStyle/>
          <a:p>
            <a:r>
              <a:rPr lang="en-IN" sz="1800" b="1" dirty="0" smtClean="0">
                <a:latin typeface="Calisto MT" panose="02040603050505030304" pitchFamily="18" charset="0"/>
              </a:rPr>
              <a:t>PHEME </a:t>
            </a:r>
            <a:r>
              <a:rPr lang="en-IN" sz="1800" b="1" dirty="0">
                <a:latin typeface="Calisto MT" panose="02040603050505030304" pitchFamily="18" charset="0"/>
              </a:rPr>
              <a:t>Dataset</a:t>
            </a:r>
            <a:r>
              <a:rPr lang="en-IN" sz="1800" dirty="0">
                <a:latin typeface="Calisto MT" panose="02040603050505030304" pitchFamily="18" charset="0"/>
              </a:rPr>
              <a:t> </a:t>
            </a:r>
          </a:p>
          <a:p>
            <a:pPr lvl="1">
              <a:buFont typeface="Courier New" panose="02070309020205020404" pitchFamily="49" charset="0"/>
              <a:buChar char="o"/>
            </a:pPr>
            <a:r>
              <a:rPr lang="en-IN" sz="1800" dirty="0">
                <a:latin typeface="Calisto MT" panose="02040603050505030304" pitchFamily="18" charset="0"/>
              </a:rPr>
              <a:t>Used for </a:t>
            </a:r>
            <a:r>
              <a:rPr lang="en-IN" sz="1800" b="1" dirty="0">
                <a:latin typeface="Calisto MT" panose="02040603050505030304" pitchFamily="18" charset="0"/>
              </a:rPr>
              <a:t>Real vs Fake classification</a:t>
            </a:r>
            <a:r>
              <a:rPr lang="en-IN" sz="1800" dirty="0">
                <a:latin typeface="Calisto MT" panose="02040603050505030304" pitchFamily="18" charset="0"/>
              </a:rPr>
              <a:t> </a:t>
            </a:r>
          </a:p>
          <a:p>
            <a:r>
              <a:rPr lang="en-IN" sz="1800" b="1" dirty="0" smtClean="0">
                <a:latin typeface="Calisto MT" panose="02040603050505030304" pitchFamily="18" charset="0"/>
              </a:rPr>
              <a:t>Disaster-related </a:t>
            </a:r>
            <a:r>
              <a:rPr lang="en-IN" sz="1800" b="1" dirty="0">
                <a:latin typeface="Calisto MT" panose="02040603050505030304" pitchFamily="18" charset="0"/>
              </a:rPr>
              <a:t>Tweet Datasets</a:t>
            </a:r>
            <a:r>
              <a:rPr lang="en-IN" sz="1800" dirty="0">
                <a:latin typeface="Calisto MT" panose="02040603050505030304" pitchFamily="18" charset="0"/>
              </a:rPr>
              <a:t> </a:t>
            </a:r>
          </a:p>
          <a:p>
            <a:pPr lvl="1">
              <a:buFont typeface="Courier New" panose="02070309020205020404" pitchFamily="49" charset="0"/>
              <a:buChar char="o"/>
            </a:pPr>
            <a:r>
              <a:rPr lang="en-IN" sz="1800" dirty="0">
                <a:latin typeface="Calisto MT" panose="02040603050505030304" pitchFamily="18" charset="0"/>
              </a:rPr>
              <a:t>Used for </a:t>
            </a:r>
            <a:r>
              <a:rPr lang="en-IN" sz="1800" b="1" dirty="0">
                <a:latin typeface="Calisto MT" panose="02040603050505030304" pitchFamily="18" charset="0"/>
              </a:rPr>
              <a:t>Disaster vs Non-Disaster classification</a:t>
            </a:r>
            <a:r>
              <a:rPr lang="en-IN" sz="1800" dirty="0">
                <a:latin typeface="Calisto MT" panose="02040603050505030304" pitchFamily="18" charset="0"/>
              </a:rPr>
              <a:t> </a:t>
            </a:r>
          </a:p>
          <a:p>
            <a:pPr lvl="1">
              <a:buFont typeface="Courier New" panose="02070309020205020404" pitchFamily="49" charset="0"/>
              <a:buChar char="o"/>
            </a:pPr>
            <a:r>
              <a:rPr lang="en-IN" sz="1800" dirty="0">
                <a:latin typeface="Calisto MT" panose="02040603050505030304" pitchFamily="18" charset="0"/>
              </a:rPr>
              <a:t>Includes tweets from floods, earthquakes, wildfires, accidents </a:t>
            </a:r>
          </a:p>
          <a:p>
            <a:r>
              <a:rPr lang="en-IN" sz="1800" b="1" dirty="0" smtClean="0">
                <a:latin typeface="Calisto MT" panose="02040603050505030304" pitchFamily="18" charset="0"/>
              </a:rPr>
              <a:t>Disaster </a:t>
            </a:r>
            <a:r>
              <a:rPr lang="en-IN" sz="1800" b="1" dirty="0">
                <a:latin typeface="Calisto MT" panose="02040603050505030304" pitchFamily="18" charset="0"/>
              </a:rPr>
              <a:t>Image Datasets</a:t>
            </a:r>
            <a:r>
              <a:rPr lang="en-IN" sz="1800" dirty="0">
                <a:latin typeface="Calisto MT" panose="02040603050505030304" pitchFamily="18" charset="0"/>
              </a:rPr>
              <a:t> </a:t>
            </a:r>
          </a:p>
          <a:p>
            <a:pPr lvl="1">
              <a:buFont typeface="Courier New" panose="02070309020205020404" pitchFamily="49" charset="0"/>
              <a:buChar char="o"/>
            </a:pPr>
            <a:r>
              <a:rPr lang="en-IN" sz="1800" dirty="0">
                <a:latin typeface="Calisto MT" panose="02040603050505030304" pitchFamily="18" charset="0"/>
              </a:rPr>
              <a:t>Used for </a:t>
            </a:r>
            <a:r>
              <a:rPr lang="en-IN" sz="1800" b="1" dirty="0">
                <a:latin typeface="Calisto MT" panose="02040603050505030304" pitchFamily="18" charset="0"/>
              </a:rPr>
              <a:t>Disaster Type Classification</a:t>
            </a:r>
            <a:r>
              <a:rPr lang="en-IN" sz="1800" dirty="0">
                <a:latin typeface="Calisto MT" panose="02040603050505030304" pitchFamily="18" charset="0"/>
              </a:rPr>
              <a:t> </a:t>
            </a:r>
          </a:p>
          <a:p>
            <a:pPr lvl="1">
              <a:buFont typeface="Courier New" panose="02070309020205020404" pitchFamily="49" charset="0"/>
              <a:buChar char="o"/>
            </a:pPr>
            <a:r>
              <a:rPr lang="en-IN" sz="1800" b="1" dirty="0">
                <a:latin typeface="Calisto MT" panose="02040603050505030304" pitchFamily="18" charset="0"/>
              </a:rPr>
              <a:t>Categories: </a:t>
            </a:r>
            <a:r>
              <a:rPr lang="en-IN" sz="1800" dirty="0">
                <a:latin typeface="Calisto MT" panose="02040603050505030304" pitchFamily="18" charset="0"/>
              </a:rPr>
              <a:t>flood, fire, earthquake, cyclone, etc. </a:t>
            </a:r>
          </a:p>
          <a:p>
            <a:pPr lvl="1">
              <a:buFont typeface="Courier New" panose="02070309020205020404" pitchFamily="49" charset="0"/>
              <a:buChar char="o"/>
            </a:pPr>
            <a:r>
              <a:rPr lang="en-IN" sz="1800" dirty="0">
                <a:latin typeface="Calisto MT" panose="02040603050505030304" pitchFamily="18" charset="0"/>
              </a:rPr>
              <a:t>Helps model learn visual patterns of </a:t>
            </a:r>
            <a:r>
              <a:rPr lang="en-IN" sz="1800" dirty="0" smtClean="0">
                <a:latin typeface="Calisto MT" panose="02040603050505030304" pitchFamily="18" charset="0"/>
              </a:rPr>
              <a:t>disasters</a:t>
            </a:r>
            <a:endParaRPr lang="en-IN" sz="1800" dirty="0">
              <a:latin typeface="Calisto MT" panose="02040603050505030304" pitchFamily="18" charset="0"/>
            </a:endParaRPr>
          </a:p>
        </p:txBody>
      </p:sp>
    </p:spTree>
    <p:extLst>
      <p:ext uri="{BB962C8B-B14F-4D97-AF65-F5344CB8AC3E}">
        <p14:creationId xmlns:p14="http://schemas.microsoft.com/office/powerpoint/2010/main" val="9465546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806" y="152400"/>
            <a:ext cx="10971372" cy="609600"/>
          </a:xfrm>
        </p:spPr>
        <p:txBody>
          <a:bodyPr>
            <a:noAutofit/>
          </a:bodyPr>
          <a:lstStyle/>
          <a:p>
            <a:r>
              <a:rPr lang="en-US" sz="4000" b="1" u="sng" dirty="0" smtClean="0">
                <a:latin typeface="Calisto MT" panose="02040603050505030304" pitchFamily="18" charset="0"/>
              </a:rPr>
              <a:t>Requirement Specifications</a:t>
            </a:r>
            <a:endParaRPr lang="en-IN" sz="4000" b="1" u="sng" dirty="0"/>
          </a:p>
        </p:txBody>
      </p:sp>
      <p:sp>
        <p:nvSpPr>
          <p:cNvPr id="3" name="Content Placeholder 2"/>
          <p:cNvSpPr>
            <a:spLocks noGrp="1"/>
          </p:cNvSpPr>
          <p:nvPr>
            <p:ph sz="half" idx="1"/>
          </p:nvPr>
        </p:nvSpPr>
        <p:spPr>
          <a:xfrm>
            <a:off x="608806" y="1143000"/>
            <a:ext cx="5384098" cy="5287966"/>
          </a:xfrm>
        </p:spPr>
        <p:txBody>
          <a:bodyPr>
            <a:normAutofit/>
          </a:bodyPr>
          <a:lstStyle/>
          <a:p>
            <a:r>
              <a:rPr lang="en-IN" sz="1800" b="1" u="sng" dirty="0">
                <a:latin typeface="Calisto MT" panose="02040603050505030304" pitchFamily="18" charset="0"/>
              </a:rPr>
              <a:t>Hardware Requirements</a:t>
            </a:r>
          </a:p>
          <a:p>
            <a:pPr lvl="1">
              <a:buFont typeface="Courier New" panose="02070309020205020404" pitchFamily="49" charset="0"/>
              <a:buChar char="o"/>
            </a:pPr>
            <a:r>
              <a:rPr lang="en-IN" sz="1800" dirty="0">
                <a:latin typeface="Calisto MT" panose="02040603050505030304" pitchFamily="18" charset="0"/>
              </a:rPr>
              <a:t>Processor: Intel i5 or higher </a:t>
            </a:r>
          </a:p>
          <a:p>
            <a:pPr lvl="1">
              <a:buFont typeface="Courier New" panose="02070309020205020404" pitchFamily="49" charset="0"/>
              <a:buChar char="o"/>
            </a:pPr>
            <a:r>
              <a:rPr lang="en-IN" sz="1800" dirty="0">
                <a:latin typeface="Calisto MT" panose="02040603050505030304" pitchFamily="18" charset="0"/>
              </a:rPr>
              <a:t>RAM: Minimum 8 GB (16 GB recommended) </a:t>
            </a:r>
          </a:p>
          <a:p>
            <a:pPr lvl="1">
              <a:buFont typeface="Courier New" panose="02070309020205020404" pitchFamily="49" charset="0"/>
              <a:buChar char="o"/>
            </a:pPr>
            <a:r>
              <a:rPr lang="en-IN" sz="1800" dirty="0">
                <a:latin typeface="Calisto MT" panose="02040603050505030304" pitchFamily="18" charset="0"/>
              </a:rPr>
              <a:t>GPU: Required for deep learning training </a:t>
            </a:r>
          </a:p>
          <a:p>
            <a:pPr lvl="1">
              <a:buFont typeface="Courier New" panose="02070309020205020404" pitchFamily="49" charset="0"/>
              <a:buChar char="o"/>
            </a:pPr>
            <a:r>
              <a:rPr lang="en-IN" sz="1800" dirty="0">
                <a:latin typeface="Calisto MT" panose="02040603050505030304" pitchFamily="18" charset="0"/>
              </a:rPr>
              <a:t>Storage: ≥ 10 GB </a:t>
            </a:r>
          </a:p>
          <a:p>
            <a:r>
              <a:rPr lang="en-IN" sz="1800" b="1" u="sng" dirty="0">
                <a:latin typeface="Calisto MT" panose="02040603050505030304" pitchFamily="18" charset="0"/>
              </a:rPr>
              <a:t>Software Requirements</a:t>
            </a:r>
          </a:p>
          <a:p>
            <a:pPr lvl="1">
              <a:buFont typeface="Courier New" panose="02070309020205020404" pitchFamily="49" charset="0"/>
              <a:buChar char="o"/>
            </a:pPr>
            <a:r>
              <a:rPr lang="en-IN" sz="1800" dirty="0">
                <a:latin typeface="Calisto MT" panose="02040603050505030304" pitchFamily="18" charset="0"/>
              </a:rPr>
              <a:t>Operating System: Windows / Linux </a:t>
            </a:r>
          </a:p>
          <a:p>
            <a:pPr lvl="1">
              <a:buFont typeface="Courier New" panose="02070309020205020404" pitchFamily="49" charset="0"/>
              <a:buChar char="o"/>
            </a:pPr>
            <a:r>
              <a:rPr lang="en-IN" sz="1800" dirty="0">
                <a:latin typeface="Calisto MT" panose="02040603050505030304" pitchFamily="18" charset="0"/>
              </a:rPr>
              <a:t>Programming Language: Python </a:t>
            </a:r>
          </a:p>
          <a:p>
            <a:pPr lvl="1">
              <a:buFont typeface="Courier New" panose="02070309020205020404" pitchFamily="49" charset="0"/>
              <a:buChar char="o"/>
            </a:pPr>
            <a:r>
              <a:rPr lang="en-IN" sz="1800" dirty="0">
                <a:latin typeface="Calisto MT" panose="02040603050505030304" pitchFamily="18" charset="0"/>
              </a:rPr>
              <a:t>Development Tools: </a:t>
            </a:r>
            <a:r>
              <a:rPr lang="en-IN" sz="1800" dirty="0" err="1">
                <a:latin typeface="Calisto MT" panose="02040603050505030304" pitchFamily="18" charset="0"/>
              </a:rPr>
              <a:t>Jupyter</a:t>
            </a:r>
            <a:r>
              <a:rPr lang="en-IN" sz="1800" dirty="0">
                <a:latin typeface="Calisto MT" panose="02040603050505030304" pitchFamily="18" charset="0"/>
              </a:rPr>
              <a:t> Notebook / VS Code </a:t>
            </a:r>
          </a:p>
        </p:txBody>
      </p:sp>
      <p:sp>
        <p:nvSpPr>
          <p:cNvPr id="4" name="Content Placeholder 3"/>
          <p:cNvSpPr>
            <a:spLocks noGrp="1"/>
          </p:cNvSpPr>
          <p:nvPr>
            <p:ph sz="half" idx="2"/>
          </p:nvPr>
        </p:nvSpPr>
        <p:spPr>
          <a:xfrm>
            <a:off x="6247606" y="1143000"/>
            <a:ext cx="5384098" cy="5287966"/>
          </a:xfrm>
        </p:spPr>
        <p:txBody>
          <a:bodyPr>
            <a:normAutofit/>
          </a:bodyPr>
          <a:lstStyle/>
          <a:p>
            <a:pPr marL="0" indent="0">
              <a:buNone/>
            </a:pPr>
            <a:r>
              <a:rPr lang="en-IN" sz="1800" b="1" u="sng" dirty="0">
                <a:latin typeface="Calisto MT" panose="02040603050505030304" pitchFamily="18" charset="0"/>
              </a:rPr>
              <a:t>Tools &amp; Technologies </a:t>
            </a:r>
          </a:p>
          <a:p>
            <a:pPr lvl="1">
              <a:buFont typeface="Courier New" panose="02070309020205020404" pitchFamily="49" charset="0"/>
              <a:buChar char="o"/>
            </a:pPr>
            <a:r>
              <a:rPr lang="en-IN" sz="1800" b="1" dirty="0" err="1">
                <a:latin typeface="Calisto MT" panose="02040603050505030304" pitchFamily="18" charset="0"/>
              </a:rPr>
              <a:t>PyTorch</a:t>
            </a:r>
            <a:r>
              <a:rPr lang="en-IN" sz="1800" dirty="0">
                <a:latin typeface="Calisto MT" panose="02040603050505030304" pitchFamily="18" charset="0"/>
              </a:rPr>
              <a:t>: used for Model training </a:t>
            </a:r>
          </a:p>
          <a:p>
            <a:pPr lvl="1">
              <a:buFont typeface="Courier New" panose="02070309020205020404" pitchFamily="49" charset="0"/>
              <a:buChar char="o"/>
            </a:pPr>
            <a:r>
              <a:rPr lang="en-IN" sz="1800" b="1" dirty="0">
                <a:latin typeface="Calisto MT" panose="02040603050505030304" pitchFamily="18" charset="0"/>
              </a:rPr>
              <a:t>Hugging Face Transformers</a:t>
            </a:r>
            <a:r>
              <a:rPr lang="en-IN" sz="1800" dirty="0">
                <a:latin typeface="Calisto MT" panose="02040603050505030304" pitchFamily="18" charset="0"/>
              </a:rPr>
              <a:t>: used for </a:t>
            </a:r>
            <a:r>
              <a:rPr lang="en-IN" sz="1800" dirty="0" err="1">
                <a:latin typeface="Calisto MT" panose="02040603050505030304" pitchFamily="18" charset="0"/>
              </a:rPr>
              <a:t>RoBERTa</a:t>
            </a:r>
            <a:r>
              <a:rPr lang="en-IN" sz="1800" dirty="0">
                <a:latin typeface="Calisto MT" panose="02040603050505030304" pitchFamily="18" charset="0"/>
              </a:rPr>
              <a:t> implementation </a:t>
            </a:r>
          </a:p>
          <a:p>
            <a:pPr lvl="1">
              <a:buFont typeface="Courier New" panose="02070309020205020404" pitchFamily="49" charset="0"/>
              <a:buChar char="o"/>
            </a:pPr>
            <a:r>
              <a:rPr lang="en-IN" sz="1800" b="1" dirty="0" err="1">
                <a:latin typeface="Calisto MT" panose="02040603050505030304" pitchFamily="18" charset="0"/>
              </a:rPr>
              <a:t>Scikit</a:t>
            </a:r>
            <a:r>
              <a:rPr lang="en-IN" sz="1800" b="1" dirty="0">
                <a:latin typeface="Calisto MT" panose="02040603050505030304" pitchFamily="18" charset="0"/>
              </a:rPr>
              <a:t>-learn</a:t>
            </a:r>
            <a:r>
              <a:rPr lang="en-IN" sz="1800" dirty="0">
                <a:latin typeface="Calisto MT" panose="02040603050505030304" pitchFamily="18" charset="0"/>
              </a:rPr>
              <a:t>: used for Evaluation metrics </a:t>
            </a:r>
          </a:p>
          <a:p>
            <a:pPr lvl="1">
              <a:buFont typeface="Courier New" panose="02070309020205020404" pitchFamily="49" charset="0"/>
              <a:buChar char="o"/>
            </a:pPr>
            <a:r>
              <a:rPr lang="en-IN" sz="1800" b="1" dirty="0" err="1">
                <a:latin typeface="Calisto MT" panose="02040603050505030304" pitchFamily="18" charset="0"/>
              </a:rPr>
              <a:t>NumPy</a:t>
            </a:r>
            <a:r>
              <a:rPr lang="en-IN" sz="1800" b="1" dirty="0">
                <a:latin typeface="Calisto MT" panose="02040603050505030304" pitchFamily="18" charset="0"/>
              </a:rPr>
              <a:t> &amp; Pandas</a:t>
            </a:r>
            <a:r>
              <a:rPr lang="en-IN" sz="1800" dirty="0">
                <a:latin typeface="Calisto MT" panose="02040603050505030304" pitchFamily="18" charset="0"/>
              </a:rPr>
              <a:t>: used for Data </a:t>
            </a:r>
            <a:r>
              <a:rPr lang="en-IN" sz="1800" dirty="0" err="1">
                <a:latin typeface="Calisto MT" panose="02040603050505030304" pitchFamily="18" charset="0"/>
              </a:rPr>
              <a:t>preprocessing</a:t>
            </a:r>
            <a:r>
              <a:rPr lang="en-IN" sz="1800" dirty="0">
                <a:latin typeface="Calisto MT" panose="02040603050505030304" pitchFamily="18" charset="0"/>
              </a:rPr>
              <a:t> </a:t>
            </a:r>
          </a:p>
          <a:p>
            <a:pPr lvl="1">
              <a:buFont typeface="Courier New" panose="02070309020205020404" pitchFamily="49" charset="0"/>
              <a:buChar char="o"/>
            </a:pPr>
            <a:r>
              <a:rPr lang="en-IN" sz="1800" b="1" dirty="0" err="1">
                <a:latin typeface="Calisto MT" panose="02040603050505030304" pitchFamily="18" charset="0"/>
              </a:rPr>
              <a:t>OpenCV</a:t>
            </a:r>
            <a:r>
              <a:rPr lang="en-IN" sz="1800" dirty="0">
                <a:latin typeface="Calisto MT" panose="02040603050505030304" pitchFamily="18" charset="0"/>
              </a:rPr>
              <a:t>: used for Image processing </a:t>
            </a:r>
          </a:p>
          <a:p>
            <a:pPr marL="57150" indent="0">
              <a:buNone/>
            </a:pPr>
            <a:r>
              <a:rPr lang="en-US" sz="1800" b="1" u="sng" dirty="0">
                <a:latin typeface="Calisto MT" panose="02040603050505030304" pitchFamily="18" charset="0"/>
              </a:rPr>
              <a:t>Interface:</a:t>
            </a:r>
            <a:endParaRPr lang="en-IN" sz="1800" b="1" u="sng" dirty="0">
              <a:latin typeface="Calisto MT" panose="02040603050505030304" pitchFamily="18" charset="0"/>
            </a:endParaRPr>
          </a:p>
          <a:p>
            <a:pPr lvl="1">
              <a:buFont typeface="Courier New" panose="02070309020205020404" pitchFamily="49" charset="0"/>
              <a:buChar char="o"/>
            </a:pPr>
            <a:r>
              <a:rPr lang="en-IN" sz="1800" b="1" dirty="0">
                <a:latin typeface="Calisto MT" panose="02040603050505030304" pitchFamily="18" charset="0"/>
              </a:rPr>
              <a:t>Flask</a:t>
            </a:r>
            <a:r>
              <a:rPr lang="en-IN" sz="1800" dirty="0">
                <a:latin typeface="Calisto MT" panose="02040603050505030304" pitchFamily="18" charset="0"/>
              </a:rPr>
              <a:t> : used for Backend API </a:t>
            </a:r>
          </a:p>
          <a:p>
            <a:pPr lvl="1">
              <a:buFont typeface="Courier New" panose="02070309020205020404" pitchFamily="49" charset="0"/>
              <a:buChar char="o"/>
            </a:pPr>
            <a:r>
              <a:rPr lang="en-IN" sz="1800" b="1" dirty="0">
                <a:latin typeface="Calisto MT" panose="02040603050505030304" pitchFamily="18" charset="0"/>
              </a:rPr>
              <a:t>React (</a:t>
            </a:r>
            <a:r>
              <a:rPr lang="en-IN" sz="1800" b="1" dirty="0" err="1">
                <a:latin typeface="Calisto MT" panose="02040603050505030304" pitchFamily="18" charset="0"/>
              </a:rPr>
              <a:t>Vite</a:t>
            </a:r>
            <a:r>
              <a:rPr lang="en-IN" sz="1800" b="1" dirty="0">
                <a:latin typeface="Calisto MT" panose="02040603050505030304" pitchFamily="18" charset="0"/>
              </a:rPr>
              <a:t>)</a:t>
            </a:r>
            <a:r>
              <a:rPr lang="en-IN" sz="1800" dirty="0">
                <a:latin typeface="Calisto MT" panose="02040603050505030304" pitchFamily="18" charset="0"/>
              </a:rPr>
              <a:t>: used for Frontend dashboard </a:t>
            </a:r>
          </a:p>
          <a:p>
            <a:pPr lvl="1">
              <a:buFont typeface="Courier New" panose="02070309020205020404" pitchFamily="49" charset="0"/>
              <a:buChar char="o"/>
            </a:pPr>
            <a:r>
              <a:rPr lang="en-IN" sz="1800" b="1" dirty="0">
                <a:latin typeface="Calisto MT" panose="02040603050505030304" pitchFamily="18" charset="0"/>
              </a:rPr>
              <a:t>MySQL</a:t>
            </a:r>
            <a:r>
              <a:rPr lang="en-IN" sz="1800" dirty="0">
                <a:latin typeface="Calisto MT" panose="02040603050505030304" pitchFamily="18" charset="0"/>
              </a:rPr>
              <a:t>: used for Data storage </a:t>
            </a:r>
          </a:p>
          <a:p>
            <a:pPr lvl="1">
              <a:buFont typeface="Courier New" panose="02070309020205020404" pitchFamily="49" charset="0"/>
              <a:buChar char="o"/>
            </a:pPr>
            <a:r>
              <a:rPr lang="en-IN" sz="1800" b="1" dirty="0">
                <a:latin typeface="Calisto MT" panose="02040603050505030304" pitchFamily="18" charset="0"/>
              </a:rPr>
              <a:t>Leaflet + </a:t>
            </a:r>
            <a:r>
              <a:rPr lang="en-IN" sz="1800" b="1" dirty="0" err="1">
                <a:latin typeface="Calisto MT" panose="02040603050505030304" pitchFamily="18" charset="0"/>
              </a:rPr>
              <a:t>OpenStreetMap</a:t>
            </a:r>
            <a:r>
              <a:rPr lang="en-IN" sz="1800" dirty="0">
                <a:latin typeface="Calisto MT" panose="02040603050505030304" pitchFamily="18" charset="0"/>
              </a:rPr>
              <a:t> : used for Map visualization </a:t>
            </a:r>
          </a:p>
        </p:txBody>
      </p:sp>
    </p:spTree>
    <p:extLst>
      <p:ext uri="{BB962C8B-B14F-4D97-AF65-F5344CB8AC3E}">
        <p14:creationId xmlns:p14="http://schemas.microsoft.com/office/powerpoint/2010/main" val="924880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2606" y="152400"/>
                <a:ext cx="10971372" cy="4525963"/>
              </a:xfrm>
            </p:spPr>
            <p:txBody>
              <a:bodyPr>
                <a:noAutofit/>
              </a:bodyPr>
              <a:lstStyle/>
              <a:p>
                <a:pPr marL="0" indent="0" algn="ctr">
                  <a:buNone/>
                </a:pPr>
                <a:r>
                  <a:rPr lang="en-IN" sz="1800" b="1" dirty="0" err="1">
                    <a:latin typeface="Calisto MT" panose="02040603050505030304" pitchFamily="18" charset="0"/>
                  </a:rPr>
                  <a:t>RoBERTa</a:t>
                </a:r>
                <a:r>
                  <a:rPr lang="en-IN" sz="1800" b="1" dirty="0">
                    <a:latin typeface="Calisto MT" panose="02040603050505030304" pitchFamily="18" charset="0"/>
                  </a:rPr>
                  <a:t> Training (Masked Language </a:t>
                </a:r>
                <a:r>
                  <a:rPr lang="en-IN" sz="1800" b="1" dirty="0" err="1">
                    <a:latin typeface="Calisto MT" panose="02040603050505030304" pitchFamily="18" charset="0"/>
                  </a:rPr>
                  <a:t>Modeling</a:t>
                </a:r>
                <a:r>
                  <a:rPr lang="en-IN" sz="1800" b="1" dirty="0">
                    <a:latin typeface="Calisto MT" panose="02040603050505030304" pitchFamily="18" charset="0"/>
                  </a:rPr>
                  <a:t>)</a:t>
                </a:r>
              </a:p>
              <a:p>
                <a:r>
                  <a:rPr lang="en-IN" sz="1450" b="1" dirty="0">
                    <a:latin typeface="Calisto MT" panose="02040603050505030304" pitchFamily="18" charset="0"/>
                  </a:rPr>
                  <a:t>Input:</a:t>
                </a:r>
                <a:r>
                  <a:rPr lang="en-IN" sz="1450" dirty="0">
                    <a:latin typeface="Calisto MT" panose="02040603050505030304" pitchFamily="18" charset="0"/>
                  </a:rPr>
                  <a:t/>
                </a:r>
                <a:br>
                  <a:rPr lang="en-IN" sz="1450" dirty="0">
                    <a:latin typeface="Calisto MT" panose="02040603050505030304" pitchFamily="18" charset="0"/>
                  </a:rPr>
                </a:br>
                <a:r>
                  <a:rPr lang="en-IN" sz="1450" dirty="0">
                    <a:latin typeface="Calisto MT" panose="02040603050505030304" pitchFamily="18" charset="0"/>
                  </a:rPr>
                  <a:t>Tokenized text sequence </a:t>
                </a:r>
                <a14:m>
                  <m:oMath xmlns:m="http://schemas.openxmlformats.org/officeDocument/2006/math">
                    <m:r>
                      <a:rPr lang="en-IN" sz="1450" i="1"/>
                      <m:t>𝑋</m:t>
                    </m:r>
                    <m:r>
                      <a:rPr lang="en-IN" sz="1450" i="1"/>
                      <m:t>=(</m:t>
                    </m:r>
                    <m:sSub>
                      <m:sSubPr>
                        <m:ctrlPr>
                          <a:rPr lang="en-IN" sz="1450" i="1"/>
                        </m:ctrlPr>
                      </m:sSubPr>
                      <m:e>
                        <m:r>
                          <a:rPr lang="en-IN" sz="1450" i="1"/>
                          <m:t>𝑥</m:t>
                        </m:r>
                      </m:e>
                      <m:sub>
                        <m:r>
                          <a:rPr lang="en-IN" sz="1450" i="1"/>
                          <m:t>1</m:t>
                        </m:r>
                      </m:sub>
                    </m:sSub>
                    <m:r>
                      <a:rPr lang="en-IN" sz="1450" i="1"/>
                      <m:t>,</m:t>
                    </m:r>
                    <m:sSub>
                      <m:sSubPr>
                        <m:ctrlPr>
                          <a:rPr lang="en-IN" sz="1450" i="1"/>
                        </m:ctrlPr>
                      </m:sSubPr>
                      <m:e>
                        <m:r>
                          <a:rPr lang="en-IN" sz="1450" i="1"/>
                          <m:t>𝑥</m:t>
                        </m:r>
                      </m:e>
                      <m:sub>
                        <m:r>
                          <a:rPr lang="en-IN" sz="1450" i="1"/>
                          <m:t>2</m:t>
                        </m:r>
                      </m:sub>
                    </m:sSub>
                    <m:r>
                      <a:rPr lang="en-IN" sz="1450" i="1"/>
                      <m:t>,…, </m:t>
                    </m:r>
                    <m:sSub>
                      <m:sSubPr>
                        <m:ctrlPr>
                          <a:rPr lang="en-IN" sz="1450" i="1"/>
                        </m:ctrlPr>
                      </m:sSubPr>
                      <m:e>
                        <m:r>
                          <a:rPr lang="en-IN" sz="1450" i="1"/>
                          <m:t>𝑥</m:t>
                        </m:r>
                      </m:e>
                      <m:sub>
                        <m:r>
                          <a:rPr lang="en-IN" sz="1450" i="1"/>
                          <m:t>𝑛</m:t>
                        </m:r>
                      </m:sub>
                    </m:sSub>
                    <m:r>
                      <a:rPr lang="en-IN" sz="1450" i="1"/>
                      <m:t>)</m:t>
                    </m:r>
                  </m:oMath>
                </a14:m>
                <a:endParaRPr lang="en-IN" sz="1450" dirty="0">
                  <a:latin typeface="Calisto MT" panose="02040603050505030304" pitchFamily="18" charset="0"/>
                </a:endParaRPr>
              </a:p>
              <a:p>
                <a:r>
                  <a:rPr lang="en-IN" sz="1450" b="1" dirty="0">
                    <a:latin typeface="Calisto MT" panose="02040603050505030304" pitchFamily="18" charset="0"/>
                  </a:rPr>
                  <a:t>Output:</a:t>
                </a:r>
                <a:r>
                  <a:rPr lang="en-IN" sz="1450" dirty="0">
                    <a:latin typeface="Calisto MT" panose="02040603050505030304" pitchFamily="18" charset="0"/>
                  </a:rPr>
                  <a:t/>
                </a:r>
                <a:br>
                  <a:rPr lang="en-IN" sz="1450" dirty="0">
                    <a:latin typeface="Calisto MT" panose="02040603050505030304" pitchFamily="18" charset="0"/>
                  </a:rPr>
                </a:br>
                <a:r>
                  <a:rPr lang="en-IN" sz="1450" dirty="0">
                    <a:latin typeface="Calisto MT" panose="02040603050505030304" pitchFamily="18" charset="0"/>
                  </a:rPr>
                  <a:t>Trained model with contextual representations</a:t>
                </a:r>
              </a:p>
              <a:p>
                <a:r>
                  <a:rPr lang="en-IN" sz="1450" b="1" dirty="0">
                    <a:latin typeface="Calisto MT" panose="02040603050505030304" pitchFamily="18" charset="0"/>
                  </a:rPr>
                  <a:t>Method</a:t>
                </a:r>
              </a:p>
              <a:p>
                <a:r>
                  <a:rPr lang="en-IN" sz="1450" b="1" dirty="0">
                    <a:latin typeface="Calisto MT" panose="02040603050505030304" pitchFamily="18" charset="0"/>
                  </a:rPr>
                  <a:t>1. Input Preparation</a:t>
                </a:r>
              </a:p>
              <a:p>
                <a:r>
                  <a:rPr lang="en-IN" sz="1450" dirty="0">
                    <a:latin typeface="Calisto MT" panose="02040603050505030304" pitchFamily="18" charset="0"/>
                  </a:rPr>
                  <a:t>Convert tokens into </a:t>
                </a:r>
                <a:r>
                  <a:rPr lang="en-IN" sz="1450" dirty="0" err="1">
                    <a:latin typeface="Calisto MT" panose="02040603050505030304" pitchFamily="18" charset="0"/>
                  </a:rPr>
                  <a:t>embeddings</a:t>
                </a:r>
                <a:endParaRPr lang="en-IN" sz="1450" dirty="0">
                  <a:latin typeface="Calisto MT" panose="02040603050505030304" pitchFamily="18" charset="0"/>
                </a:endParaRPr>
              </a:p>
              <a:p>
                <a:r>
                  <a:rPr lang="en-IN" sz="1450" b="1" dirty="0">
                    <a:latin typeface="Calisto MT" panose="02040603050505030304" pitchFamily="18" charset="0"/>
                  </a:rPr>
                  <a:t>2. Dynamic Masking</a:t>
                </a:r>
              </a:p>
              <a:p>
                <a:r>
                  <a:rPr lang="en-IN" sz="1450" dirty="0">
                    <a:latin typeface="Calisto MT" panose="02040603050505030304" pitchFamily="18" charset="0"/>
                  </a:rPr>
                  <a:t>Randomly mask tokens during training</a:t>
                </a:r>
              </a:p>
              <a:p>
                <a:r>
                  <a:rPr lang="en-IN" sz="1450" b="1" dirty="0">
                    <a:latin typeface="Calisto MT" panose="02040603050505030304" pitchFamily="18" charset="0"/>
                  </a:rPr>
                  <a:t>3. Forward Pass (Transformer)</a:t>
                </a:r>
              </a:p>
              <a:p>
                <a:r>
                  <a:rPr lang="en-IN" sz="1450" dirty="0">
                    <a:latin typeface="Calisto MT" panose="02040603050505030304" pitchFamily="18" charset="0"/>
                  </a:rPr>
                  <a:t>Pass input through transformer layers</a:t>
                </a:r>
              </a:p>
              <a:p>
                <a:r>
                  <a:rPr lang="en-IN" sz="1450" b="1" dirty="0">
                    <a:latin typeface="Calisto MT" panose="02040603050505030304" pitchFamily="18" charset="0"/>
                  </a:rPr>
                  <a:t>4. Self-Attention Mechanism</a:t>
                </a:r>
              </a:p>
              <a:p>
                <a:pPr marL="457200" lvl="1" indent="0">
                  <a:buNone/>
                </a:pPr>
                <a14:m>
                  <m:oMathPara xmlns:m="http://schemas.openxmlformats.org/officeDocument/2006/math">
                    <m:oMathParaPr>
                      <m:jc m:val="centerGroup"/>
                    </m:oMathParaPr>
                    <m:oMath xmlns:m="http://schemas.openxmlformats.org/officeDocument/2006/math">
                      <m:r>
                        <a:rPr lang="en-IN" sz="1450" i="1"/>
                        <m:t>𝐴𝑡𝑡𝑒𝑛𝑡𝑖𝑜𝑛</m:t>
                      </m:r>
                      <m:r>
                        <a:rPr lang="en-IN" sz="1450" i="1"/>
                        <m:t> </m:t>
                      </m:r>
                      <m:d>
                        <m:dPr>
                          <m:ctrlPr>
                            <a:rPr lang="en-IN" sz="1450" i="1"/>
                          </m:ctrlPr>
                        </m:dPr>
                        <m:e>
                          <m:r>
                            <a:rPr lang="en-IN" sz="1450" i="1"/>
                            <m:t>𝑄</m:t>
                          </m:r>
                          <m:r>
                            <a:rPr lang="en-IN" sz="1450" i="1"/>
                            <m:t>, </m:t>
                          </m:r>
                          <m:r>
                            <a:rPr lang="en-IN" sz="1450" i="1"/>
                            <m:t>𝐾</m:t>
                          </m:r>
                          <m:r>
                            <a:rPr lang="en-IN" sz="1450" i="1"/>
                            <m:t>, </m:t>
                          </m:r>
                          <m:r>
                            <a:rPr lang="en-IN" sz="1450" i="1"/>
                            <m:t>𝑉</m:t>
                          </m:r>
                        </m:e>
                      </m:d>
                      <m:r>
                        <a:rPr lang="en-IN" sz="1450" i="1"/>
                        <m:t>=</m:t>
                      </m:r>
                      <m:r>
                        <a:rPr lang="en-IN" sz="1450" i="1"/>
                        <m:t>𝑠𝑜𝑓𝑡𝑚𝑎𝑥</m:t>
                      </m:r>
                      <m:d>
                        <m:dPr>
                          <m:ctrlPr>
                            <a:rPr lang="en-IN" sz="1450" i="1"/>
                          </m:ctrlPr>
                        </m:dPr>
                        <m:e>
                          <m:f>
                            <m:fPr>
                              <m:ctrlPr>
                                <a:rPr lang="en-IN" sz="1450" i="1"/>
                              </m:ctrlPr>
                            </m:fPr>
                            <m:num>
                              <m:r>
                                <a:rPr lang="en-IN" sz="1450" i="1"/>
                                <m:t>𝑄</m:t>
                              </m:r>
                              <m:sSup>
                                <m:sSupPr>
                                  <m:ctrlPr>
                                    <a:rPr lang="en-IN" sz="1450" i="1"/>
                                  </m:ctrlPr>
                                </m:sSupPr>
                                <m:e>
                                  <m:r>
                                    <a:rPr lang="en-IN" sz="1450" i="1"/>
                                    <m:t>𝐾</m:t>
                                  </m:r>
                                </m:e>
                                <m:sup>
                                  <m:r>
                                    <a:rPr lang="en-IN" sz="1450" i="1"/>
                                    <m:t>𝑇</m:t>
                                  </m:r>
                                </m:sup>
                              </m:sSup>
                            </m:num>
                            <m:den>
                              <m:rad>
                                <m:radPr>
                                  <m:degHide m:val="on"/>
                                  <m:ctrlPr>
                                    <a:rPr lang="en-IN" sz="1450" i="1"/>
                                  </m:ctrlPr>
                                </m:radPr>
                                <m:deg/>
                                <m:e>
                                  <m:sSub>
                                    <m:sSubPr>
                                      <m:ctrlPr>
                                        <a:rPr lang="en-IN" sz="1450" i="1"/>
                                      </m:ctrlPr>
                                    </m:sSubPr>
                                    <m:e>
                                      <m:r>
                                        <a:rPr lang="en-IN" sz="1450" i="1"/>
                                        <m:t>𝑑</m:t>
                                      </m:r>
                                    </m:e>
                                    <m:sub>
                                      <m:r>
                                        <a:rPr lang="en-IN" sz="1450" i="1"/>
                                        <m:t>𝑘</m:t>
                                      </m:r>
                                    </m:sub>
                                  </m:sSub>
                                </m:e>
                              </m:rad>
                            </m:den>
                          </m:f>
                        </m:e>
                      </m:d>
                      <m:r>
                        <a:rPr lang="en-IN" sz="1450" i="1"/>
                        <m:t>𝑉</m:t>
                      </m:r>
                    </m:oMath>
                  </m:oMathPara>
                </a14:m>
                <a:endParaRPr lang="en-IN" sz="1450" dirty="0" smtClean="0">
                  <a:latin typeface="Calisto MT" panose="02040603050505030304" pitchFamily="18" charset="0"/>
                </a:endParaRPr>
              </a:p>
              <a:p>
                <a:r>
                  <a:rPr lang="en-IN" sz="1450" b="1" dirty="0" smtClean="0">
                    <a:latin typeface="Calisto MT" panose="02040603050505030304" pitchFamily="18" charset="0"/>
                  </a:rPr>
                  <a:t>5</a:t>
                </a:r>
                <a:r>
                  <a:rPr lang="en-IN" sz="1450" b="1" dirty="0">
                    <a:latin typeface="Calisto MT" panose="02040603050505030304" pitchFamily="18" charset="0"/>
                  </a:rPr>
                  <a:t>. Masked Token Prediction</a:t>
                </a:r>
              </a:p>
              <a:p>
                <a:r>
                  <a:rPr lang="en-IN" sz="1450" dirty="0">
                    <a:latin typeface="Calisto MT" panose="02040603050505030304" pitchFamily="18" charset="0"/>
                  </a:rPr>
                  <a:t>Predict masked words using context</a:t>
                </a:r>
              </a:p>
              <a:p>
                <a:r>
                  <a:rPr lang="en-IN" sz="1450" b="1" dirty="0">
                    <a:latin typeface="Calisto MT" panose="02040603050505030304" pitchFamily="18" charset="0"/>
                  </a:rPr>
                  <a:t>6. Loss </a:t>
                </a:r>
                <a:r>
                  <a:rPr lang="en-IN" sz="1450" b="1" dirty="0" smtClean="0">
                    <a:latin typeface="Calisto MT" panose="02040603050505030304" pitchFamily="18" charset="0"/>
                  </a:rPr>
                  <a:t>Computation</a:t>
                </a:r>
              </a:p>
              <a:p>
                <a:endParaRPr lang="en-US" sz="1450" b="1" dirty="0">
                  <a:latin typeface="Calisto MT" panose="020406030505050303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IN" sz="1450" i="1"/>
                        <m:t>ℒ</m:t>
                      </m:r>
                      <m:r>
                        <a:rPr lang="en-IN" sz="1450" i="1"/>
                        <m:t>= −</m:t>
                      </m:r>
                      <m:f>
                        <m:fPr>
                          <m:ctrlPr>
                            <a:rPr lang="en-IN" sz="1450" i="1"/>
                          </m:ctrlPr>
                        </m:fPr>
                        <m:num>
                          <m:r>
                            <a:rPr lang="en-IN" sz="1450" i="1"/>
                            <m:t>1</m:t>
                          </m:r>
                        </m:num>
                        <m:den>
                          <m:r>
                            <a:rPr lang="en-IN" sz="1450" i="1"/>
                            <m:t>|</m:t>
                          </m:r>
                          <m:r>
                            <a:rPr lang="en-IN" sz="1450" i="1"/>
                            <m:t>𝑀</m:t>
                          </m:r>
                          <m:r>
                            <a:rPr lang="en-IN" sz="1450" i="1"/>
                            <m:t>|</m:t>
                          </m:r>
                        </m:den>
                      </m:f>
                      <m:nary>
                        <m:naryPr>
                          <m:chr m:val="∑"/>
                          <m:limLoc m:val="undOvr"/>
                          <m:supHide m:val="on"/>
                          <m:ctrlPr>
                            <a:rPr lang="en-IN" sz="1450" i="1"/>
                          </m:ctrlPr>
                        </m:naryPr>
                        <m:sub>
                          <m:r>
                            <a:rPr lang="en-IN" sz="1450" i="1"/>
                            <m:t>𝑖</m:t>
                          </m:r>
                          <m:r>
                            <a:rPr lang="en-IN" sz="1450" i="1"/>
                            <m:t>∈</m:t>
                          </m:r>
                          <m:r>
                            <a:rPr lang="en-IN" sz="1450" i="1"/>
                            <m:t>𝑀</m:t>
                          </m:r>
                        </m:sub>
                        <m:sup/>
                        <m:e>
                          <m:func>
                            <m:funcPr>
                              <m:ctrlPr>
                                <a:rPr lang="en-IN" sz="1450" i="1"/>
                              </m:ctrlPr>
                            </m:funcPr>
                            <m:fName>
                              <m:r>
                                <m:rPr>
                                  <m:sty m:val="p"/>
                                </m:rPr>
                                <a:rPr lang="en-IN" sz="1450"/>
                                <m:t>log</m:t>
                              </m:r>
                            </m:fName>
                            <m:e>
                              <m:r>
                                <a:rPr lang="en-IN" sz="1450" i="1"/>
                                <m:t>𝑃</m:t>
                              </m:r>
                              <m:d>
                                <m:dPr>
                                  <m:ctrlPr>
                                    <a:rPr lang="en-IN" sz="1450" i="1"/>
                                  </m:ctrlPr>
                                </m:dPr>
                                <m:e>
                                  <m:sSub>
                                    <m:sSubPr>
                                      <m:ctrlPr>
                                        <a:rPr lang="en-IN" sz="1450" i="1"/>
                                      </m:ctrlPr>
                                    </m:sSubPr>
                                    <m:e>
                                      <m:r>
                                        <a:rPr lang="en-IN" sz="1450" i="1"/>
                                        <m:t>𝑥</m:t>
                                      </m:r>
                                    </m:e>
                                    <m:sub>
                                      <m:r>
                                        <a:rPr lang="en-IN" sz="1450" i="1"/>
                                        <m:t>𝑖</m:t>
                                      </m:r>
                                    </m:sub>
                                  </m:sSub>
                                  <m:r>
                                    <a:rPr lang="en-IN" sz="1450" i="1"/>
                                    <m:t>|</m:t>
                                  </m:r>
                                  <m:acc>
                                    <m:accPr>
                                      <m:chr m:val="̃"/>
                                      <m:ctrlPr>
                                        <a:rPr lang="en-IN" sz="1450" i="1"/>
                                      </m:ctrlPr>
                                    </m:accPr>
                                    <m:e>
                                      <m:r>
                                        <a:rPr lang="en-IN" sz="1450" i="1"/>
                                        <m:t>𝑋</m:t>
                                      </m:r>
                                    </m:e>
                                  </m:acc>
                                </m:e>
                              </m:d>
                            </m:e>
                          </m:func>
                        </m:e>
                      </m:nary>
                    </m:oMath>
                  </m:oMathPara>
                </a14:m>
                <a:endParaRPr lang="en-IN" sz="1450" b="1" dirty="0" smtClean="0">
                  <a:latin typeface="Calisto MT" panose="02040603050505030304" pitchFamily="18" charset="0"/>
                </a:endParaRPr>
              </a:p>
              <a:p>
                <a:r>
                  <a:rPr lang="en-IN" sz="1450" b="1" dirty="0" smtClean="0">
                    <a:latin typeface="Calisto MT" panose="02040603050505030304" pitchFamily="18" charset="0"/>
                  </a:rPr>
                  <a:t>7</a:t>
                </a:r>
                <a:r>
                  <a:rPr lang="en-IN" sz="1450" b="1" dirty="0">
                    <a:latin typeface="Calisto MT" panose="02040603050505030304" pitchFamily="18" charset="0"/>
                  </a:rPr>
                  <a:t>. Model Update</a:t>
                </a:r>
              </a:p>
              <a:p>
                <a:r>
                  <a:rPr lang="en-IN" sz="1450" dirty="0">
                    <a:latin typeface="Calisto MT" panose="02040603050505030304" pitchFamily="18" charset="0"/>
                  </a:rPr>
                  <a:t>Update parameters using gradient descent</a:t>
                </a:r>
              </a:p>
              <a:p>
                <a:r>
                  <a:rPr lang="en-IN" sz="1450" b="1" dirty="0">
                    <a:latin typeface="Calisto MT" panose="02040603050505030304" pitchFamily="18" charset="0"/>
                  </a:rPr>
                  <a:t>8. Output</a:t>
                </a:r>
              </a:p>
              <a:p>
                <a:r>
                  <a:rPr lang="en-IN" sz="1450" dirty="0" smtClean="0">
                    <a:latin typeface="Calisto MT" panose="02040603050505030304" pitchFamily="18" charset="0"/>
                  </a:rPr>
                  <a:t>Contextual </a:t>
                </a:r>
                <a:r>
                  <a:rPr lang="en-IN" sz="1450" dirty="0">
                    <a:latin typeface="Calisto MT" panose="02040603050505030304" pitchFamily="18" charset="0"/>
                  </a:rPr>
                  <a:t>word </a:t>
                </a:r>
                <a:r>
                  <a:rPr lang="en-IN" sz="1450" dirty="0" smtClean="0">
                    <a:latin typeface="Calisto MT" panose="02040603050505030304" pitchFamily="18" charset="0"/>
                  </a:rPr>
                  <a:t>representation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2606" y="152400"/>
                <a:ext cx="10971372" cy="4525963"/>
              </a:xfrm>
              <a:blipFill rotWithShape="1">
                <a:blip r:embed="rId2"/>
                <a:stretch>
                  <a:fillRect l="-56" t="-674" b="-49326"/>
                </a:stretch>
              </a:blipFill>
            </p:spPr>
            <p:txBody>
              <a:bodyPr/>
              <a:lstStyle/>
              <a:p>
                <a:r>
                  <a:rPr lang="en-IN">
                    <a:noFill/>
                  </a:rPr>
                  <a:t> </a:t>
                </a:r>
              </a:p>
            </p:txBody>
          </p:sp>
        </mc:Fallback>
      </mc:AlternateContent>
    </p:spTree>
    <p:extLst>
      <p:ext uri="{BB962C8B-B14F-4D97-AF65-F5344CB8AC3E}">
        <p14:creationId xmlns:p14="http://schemas.microsoft.com/office/powerpoint/2010/main" val="3346605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8806" y="152400"/>
                <a:ext cx="10971372" cy="5745166"/>
              </a:xfrm>
            </p:spPr>
            <p:txBody>
              <a:bodyPr>
                <a:noAutofit/>
              </a:bodyPr>
              <a:lstStyle/>
              <a:p>
                <a:pPr marL="0" indent="0" algn="ctr">
                  <a:buNone/>
                </a:pPr>
                <a:r>
                  <a:rPr lang="en-IN" sz="2000" b="1" dirty="0" smtClean="0">
                    <a:latin typeface="Calisto MT" panose="02040603050505030304" pitchFamily="18" charset="0"/>
                  </a:rPr>
                  <a:t>ResNet50 (Image Classification)</a:t>
                </a:r>
              </a:p>
              <a:p>
                <a:r>
                  <a:rPr lang="en-IN" sz="1500" b="1" dirty="0">
                    <a:latin typeface="Calisto MT" panose="02040603050505030304" pitchFamily="18" charset="0"/>
                  </a:rPr>
                  <a:t>Input:</a:t>
                </a:r>
                <a:r>
                  <a:rPr lang="en-IN" sz="1500" dirty="0">
                    <a:latin typeface="Calisto MT" panose="02040603050505030304" pitchFamily="18" charset="0"/>
                  </a:rPr>
                  <a:t/>
                </a:r>
                <a:br>
                  <a:rPr lang="en-IN" sz="1500" dirty="0">
                    <a:latin typeface="Calisto MT" panose="02040603050505030304" pitchFamily="18" charset="0"/>
                  </a:rPr>
                </a:br>
                <a:r>
                  <a:rPr lang="en-IN" sz="1500" dirty="0">
                    <a:latin typeface="Calisto MT" panose="02040603050505030304" pitchFamily="18" charset="0"/>
                  </a:rPr>
                  <a:t>Image </a:t>
                </a:r>
                <a:r>
                  <a:rPr lang="en-IN" sz="1500" i="1" dirty="0" smtClean="0">
                    <a:latin typeface="Calisto MT" panose="02040603050505030304" pitchFamily="18" charset="0"/>
                  </a:rPr>
                  <a:t>X</a:t>
                </a:r>
                <a:endParaRPr lang="en-IN" sz="1500" i="1" dirty="0">
                  <a:latin typeface="Calisto MT" panose="02040603050505030304" pitchFamily="18" charset="0"/>
                </a:endParaRPr>
              </a:p>
              <a:p>
                <a:r>
                  <a:rPr lang="en-IN" sz="1500" b="1" dirty="0">
                    <a:latin typeface="Calisto MT" panose="02040603050505030304" pitchFamily="18" charset="0"/>
                  </a:rPr>
                  <a:t>Output:</a:t>
                </a:r>
                <a:r>
                  <a:rPr lang="en-IN" sz="1500" dirty="0">
                    <a:latin typeface="Calisto MT" panose="02040603050505030304" pitchFamily="18" charset="0"/>
                  </a:rPr>
                  <a:t/>
                </a:r>
                <a:br>
                  <a:rPr lang="en-IN" sz="1500" dirty="0">
                    <a:latin typeface="Calisto MT" panose="02040603050505030304" pitchFamily="18" charset="0"/>
                  </a:rPr>
                </a:br>
                <a:r>
                  <a:rPr lang="en-IN" sz="1500" dirty="0">
                    <a:latin typeface="Calisto MT" panose="02040603050505030304" pitchFamily="18" charset="0"/>
                  </a:rPr>
                  <a:t>Predicted class probabilities PPP (disaster type)</a:t>
                </a:r>
              </a:p>
              <a:p>
                <a:r>
                  <a:rPr lang="en-IN" sz="1500" b="1" dirty="0">
                    <a:latin typeface="Calisto MT" panose="02040603050505030304" pitchFamily="18" charset="0"/>
                  </a:rPr>
                  <a:t>Method</a:t>
                </a:r>
              </a:p>
              <a:p>
                <a:r>
                  <a:rPr lang="en-IN" sz="1500" b="1" dirty="0">
                    <a:latin typeface="Calisto MT" panose="02040603050505030304" pitchFamily="18" charset="0"/>
                  </a:rPr>
                  <a:t>1. Input Processing</a:t>
                </a:r>
              </a:p>
              <a:p>
                <a:r>
                  <a:rPr lang="en-IN" sz="1500" dirty="0">
                    <a:latin typeface="Calisto MT" panose="02040603050505030304" pitchFamily="18" charset="0"/>
                  </a:rPr>
                  <a:t>Resize and normalize image</a:t>
                </a:r>
              </a:p>
              <a:p>
                <a:r>
                  <a:rPr lang="en-IN" sz="1500" b="1" dirty="0">
                    <a:latin typeface="Calisto MT" panose="02040603050505030304" pitchFamily="18" charset="0"/>
                  </a:rPr>
                  <a:t>2. Convolution Feature Extraction</a:t>
                </a:r>
              </a:p>
              <a:p>
                <a:r>
                  <a:rPr lang="en-IN" sz="1500" dirty="0">
                    <a:latin typeface="Calisto MT" panose="02040603050505030304" pitchFamily="18" charset="0"/>
                  </a:rPr>
                  <a:t>Extract low-level and high-level features using CNN layers</a:t>
                </a:r>
              </a:p>
              <a:p>
                <a:r>
                  <a:rPr lang="en-IN" sz="1500" b="1" dirty="0">
                    <a:latin typeface="Calisto MT" panose="02040603050505030304" pitchFamily="18" charset="0"/>
                  </a:rPr>
                  <a:t>3. Residual Learning (Skip Connection)</a:t>
                </a:r>
              </a:p>
              <a:p>
                <a:pPr marL="0" indent="0">
                  <a:buNone/>
                </a:pPr>
                <a14:m>
                  <m:oMathPara xmlns:m="http://schemas.openxmlformats.org/officeDocument/2006/math">
                    <m:oMathParaPr>
                      <m:jc m:val="centerGroup"/>
                    </m:oMathParaPr>
                    <m:oMath xmlns:m="http://schemas.openxmlformats.org/officeDocument/2006/math">
                      <m:sSub>
                        <m:sSubPr>
                          <m:ctrlPr>
                            <a:rPr lang="en-IN" sz="1500" i="1" smtClean="0">
                              <a:latin typeface="Cambria Math"/>
                            </a:rPr>
                          </m:ctrlPr>
                        </m:sSubPr>
                        <m:e>
                          <m:r>
                            <a:rPr lang="en-US" sz="1500" b="0" i="1" smtClean="0">
                              <a:latin typeface="Cambria Math"/>
                            </a:rPr>
                            <m:t>𝐹</m:t>
                          </m:r>
                        </m:e>
                        <m:sub>
                          <m:r>
                            <a:rPr lang="en-US" sz="1500" b="0" i="1" smtClean="0">
                              <a:latin typeface="Cambria Math"/>
                            </a:rPr>
                            <m:t>𝑜𝑢𝑡</m:t>
                          </m:r>
                        </m:sub>
                      </m:sSub>
                      <m:r>
                        <a:rPr lang="en-US" sz="1500" b="0" i="1" smtClean="0">
                          <a:latin typeface="Cambria Math"/>
                        </a:rPr>
                        <m:t>=</m:t>
                      </m:r>
                      <m:r>
                        <a:rPr lang="en-US" sz="1500" b="0" i="1" smtClean="0">
                          <a:latin typeface="Cambria Math"/>
                        </a:rPr>
                        <m:t>𝐹</m:t>
                      </m:r>
                      <m:d>
                        <m:dPr>
                          <m:ctrlPr>
                            <a:rPr lang="en-US" sz="1500" b="0" i="1" smtClean="0">
                              <a:latin typeface="Cambria Math"/>
                            </a:rPr>
                          </m:ctrlPr>
                        </m:dPr>
                        <m:e>
                          <m:r>
                            <a:rPr lang="en-US" sz="1500" b="0" i="1" smtClean="0">
                              <a:latin typeface="Cambria Math"/>
                            </a:rPr>
                            <m:t>𝑥</m:t>
                          </m:r>
                        </m:e>
                      </m:d>
                      <m:r>
                        <a:rPr lang="en-US" sz="1500" b="0" i="1" smtClean="0">
                          <a:latin typeface="Cambria Math"/>
                        </a:rPr>
                        <m:t>+</m:t>
                      </m:r>
                      <m:r>
                        <a:rPr lang="en-US" sz="1500" b="0" i="1" smtClean="0">
                          <a:latin typeface="Cambria Math"/>
                        </a:rPr>
                        <m:t>𝑥</m:t>
                      </m:r>
                    </m:oMath>
                  </m:oMathPara>
                </a14:m>
                <a:endParaRPr lang="en-IN" sz="1500" dirty="0" smtClean="0">
                  <a:latin typeface="Calisto MT" panose="02040603050505030304" pitchFamily="18" charset="0"/>
                </a:endParaRPr>
              </a:p>
              <a:p>
                <a:r>
                  <a:rPr lang="en-IN" sz="1500" dirty="0" smtClean="0">
                    <a:latin typeface="Calisto MT" panose="02040603050505030304" pitchFamily="18" charset="0"/>
                  </a:rPr>
                  <a:t>Helps </a:t>
                </a:r>
                <a:r>
                  <a:rPr lang="en-IN" sz="1500" dirty="0">
                    <a:latin typeface="Calisto MT" panose="02040603050505030304" pitchFamily="18" charset="0"/>
                  </a:rPr>
                  <a:t>in training deep networks by avoiding vanishing gradients</a:t>
                </a:r>
              </a:p>
              <a:p>
                <a:r>
                  <a:rPr lang="en-IN" sz="1500" b="1" dirty="0">
                    <a:latin typeface="Calisto MT" panose="02040603050505030304" pitchFamily="18" charset="0"/>
                  </a:rPr>
                  <a:t>4. Activation Function</a:t>
                </a:r>
              </a:p>
              <a:p>
                <a:r>
                  <a:rPr lang="en-IN" sz="1500" dirty="0">
                    <a:latin typeface="Calisto MT" panose="02040603050505030304" pitchFamily="18" charset="0"/>
                  </a:rPr>
                  <a:t>Apply non-linearity (</a:t>
                </a:r>
                <a:r>
                  <a:rPr lang="en-IN" sz="1500" dirty="0" err="1">
                    <a:latin typeface="Calisto MT" panose="02040603050505030304" pitchFamily="18" charset="0"/>
                  </a:rPr>
                  <a:t>ReLU</a:t>
                </a:r>
                <a:r>
                  <a:rPr lang="en-IN" sz="1500" dirty="0">
                    <a:latin typeface="Calisto MT" panose="02040603050505030304" pitchFamily="18" charset="0"/>
                  </a:rPr>
                  <a:t>)</a:t>
                </a:r>
              </a:p>
              <a:p>
                <a:r>
                  <a:rPr lang="en-IN" sz="1500" b="1" dirty="0">
                    <a:latin typeface="Calisto MT" panose="02040603050505030304" pitchFamily="18" charset="0"/>
                  </a:rPr>
                  <a:t>5. Global Average Pooling</a:t>
                </a:r>
              </a:p>
              <a:p>
                <a:r>
                  <a:rPr lang="en-IN" sz="1500" dirty="0">
                    <a:latin typeface="Calisto MT" panose="02040603050505030304" pitchFamily="18" charset="0"/>
                  </a:rPr>
                  <a:t>Reduce feature maps into feature vector</a:t>
                </a:r>
              </a:p>
              <a:p>
                <a:r>
                  <a:rPr lang="en-IN" sz="1500" b="1" dirty="0">
                    <a:latin typeface="Calisto MT" panose="02040603050505030304" pitchFamily="18" charset="0"/>
                  </a:rPr>
                  <a:t>6. Fully Connected Layer</a:t>
                </a:r>
              </a:p>
              <a:p>
                <a:r>
                  <a:rPr lang="en-IN" sz="1500" dirty="0">
                    <a:latin typeface="Calisto MT" panose="02040603050505030304" pitchFamily="18" charset="0"/>
                  </a:rPr>
                  <a:t>Generate class scores</a:t>
                </a:r>
              </a:p>
              <a:p>
                <a:r>
                  <a:rPr lang="en-IN" sz="1500" b="1" dirty="0">
                    <a:latin typeface="Calisto MT" panose="02040603050505030304" pitchFamily="18" charset="0"/>
                  </a:rPr>
                  <a:t>7. </a:t>
                </a:r>
                <a:r>
                  <a:rPr lang="en-IN" sz="1500" b="1" dirty="0" err="1">
                    <a:latin typeface="Calisto MT" panose="02040603050505030304" pitchFamily="18" charset="0"/>
                  </a:rPr>
                  <a:t>Softmax</a:t>
                </a:r>
                <a:r>
                  <a:rPr lang="en-IN" sz="1500" b="1" dirty="0">
                    <a:latin typeface="Calisto MT" panose="02040603050505030304" pitchFamily="18" charset="0"/>
                  </a:rPr>
                  <a:t> Classification</a:t>
                </a:r>
              </a:p>
              <a:p>
                <a:pPr marL="0" indent="0" algn="ctr">
                  <a:buNone/>
                </a:pPr>
                <a14:m>
                  <m:oMathPara xmlns:m="http://schemas.openxmlformats.org/officeDocument/2006/math">
                    <m:oMathParaPr>
                      <m:jc m:val="centerGroup"/>
                    </m:oMathParaPr>
                    <m:oMath xmlns:m="http://schemas.openxmlformats.org/officeDocument/2006/math">
                      <m:sSub>
                        <m:sSubPr>
                          <m:ctrlPr>
                            <a:rPr lang="en-IN" sz="1500" i="1"/>
                          </m:ctrlPr>
                        </m:sSubPr>
                        <m:e>
                          <m:r>
                            <a:rPr lang="en-IN" sz="1500" i="1"/>
                            <m:t>𝑃</m:t>
                          </m:r>
                        </m:e>
                        <m:sub>
                          <m:r>
                            <a:rPr lang="en-IN" sz="1500" i="1"/>
                            <m:t>𝑘</m:t>
                          </m:r>
                        </m:sub>
                      </m:sSub>
                      <m:r>
                        <a:rPr lang="en-IN" sz="1500" i="1"/>
                        <m:t>=</m:t>
                      </m:r>
                      <m:f>
                        <m:fPr>
                          <m:ctrlPr>
                            <a:rPr lang="en-IN" sz="1500" i="1"/>
                          </m:ctrlPr>
                        </m:fPr>
                        <m:num>
                          <m:sSup>
                            <m:sSupPr>
                              <m:ctrlPr>
                                <a:rPr lang="en-US" sz="1500" i="1">
                                  <a:latin typeface="Cambria Math"/>
                                </a:rPr>
                              </m:ctrlPr>
                            </m:sSupPr>
                            <m:e>
                              <m:r>
                                <a:rPr lang="en-US" sz="1500" i="1">
                                  <a:latin typeface="Cambria Math"/>
                                </a:rPr>
                                <m:t>𝑒</m:t>
                              </m:r>
                            </m:e>
                            <m:sup>
                              <m:sSub>
                                <m:sSubPr>
                                  <m:ctrlPr>
                                    <a:rPr lang="en-US" sz="1500" i="1">
                                      <a:latin typeface="Cambria Math"/>
                                    </a:rPr>
                                  </m:ctrlPr>
                                </m:sSubPr>
                                <m:e>
                                  <m:r>
                                    <a:rPr lang="en-US" sz="1500" i="1">
                                      <a:latin typeface="Cambria Math"/>
                                    </a:rPr>
                                    <m:t>𝑧</m:t>
                                  </m:r>
                                </m:e>
                                <m:sub>
                                  <m:r>
                                    <a:rPr lang="en-US" sz="1500" i="1">
                                      <a:latin typeface="Cambria Math"/>
                                    </a:rPr>
                                    <m:t>𝑘</m:t>
                                  </m:r>
                                </m:sub>
                              </m:sSub>
                            </m:sup>
                          </m:sSup>
                        </m:num>
                        <m:den>
                          <m:nary>
                            <m:naryPr>
                              <m:chr m:val="∑"/>
                              <m:limLoc m:val="subSup"/>
                              <m:ctrlPr>
                                <a:rPr lang="en-IN" sz="1500" i="1"/>
                              </m:ctrlPr>
                            </m:naryPr>
                            <m:sub>
                              <m:r>
                                <a:rPr lang="en-IN" sz="1500" i="1"/>
                                <m:t>𝑗</m:t>
                              </m:r>
                              <m:r>
                                <a:rPr lang="en-IN" sz="1500" i="1"/>
                                <m:t>=</m:t>
                              </m:r>
                              <m:r>
                                <a:rPr lang="en-IN" sz="1500" i="1"/>
                                <m:t>1</m:t>
                              </m:r>
                            </m:sub>
                            <m:sup>
                              <m:r>
                                <a:rPr lang="en-IN" sz="1500" i="1"/>
                                <m:t>𝐶</m:t>
                              </m:r>
                            </m:sup>
                            <m:e>
                              <m:sSup>
                                <m:sSupPr>
                                  <m:ctrlPr>
                                    <a:rPr lang="en-US" sz="1500" i="1">
                                      <a:latin typeface="Cambria Math"/>
                                    </a:rPr>
                                  </m:ctrlPr>
                                </m:sSupPr>
                                <m:e>
                                  <m:r>
                                    <a:rPr lang="en-US" sz="1500" i="1">
                                      <a:latin typeface="Cambria Math"/>
                                    </a:rPr>
                                    <m:t>𝑒</m:t>
                                  </m:r>
                                </m:e>
                                <m:sup>
                                  <m:sSub>
                                    <m:sSubPr>
                                      <m:ctrlPr>
                                        <a:rPr lang="en-US" sz="1500" i="1">
                                          <a:latin typeface="Cambria Math"/>
                                        </a:rPr>
                                      </m:ctrlPr>
                                    </m:sSubPr>
                                    <m:e>
                                      <m:r>
                                        <a:rPr lang="en-US" sz="1500" i="1">
                                          <a:latin typeface="Cambria Math"/>
                                        </a:rPr>
                                        <m:t>𝑧</m:t>
                                      </m:r>
                                    </m:e>
                                    <m:sub>
                                      <m:r>
                                        <a:rPr lang="en-US" sz="1500" b="0" i="1" smtClean="0">
                                          <a:latin typeface="Cambria Math"/>
                                        </a:rPr>
                                        <m:t>𝑗</m:t>
                                      </m:r>
                                    </m:sub>
                                  </m:sSub>
                                </m:sup>
                              </m:sSup>
                            </m:e>
                          </m:nary>
                        </m:den>
                      </m:f>
                    </m:oMath>
                  </m:oMathPara>
                </a14:m>
                <a:endParaRPr lang="en-IN" sz="1500" dirty="0">
                  <a:latin typeface="Calisto MT" panose="02040603050505030304" pitchFamily="18" charset="0"/>
                </a:endParaRPr>
              </a:p>
              <a:p>
                <a:r>
                  <a:rPr lang="en-IN" sz="1500" b="1" dirty="0" smtClean="0">
                    <a:latin typeface="Calisto MT" panose="02040603050505030304" pitchFamily="18" charset="0"/>
                  </a:rPr>
                  <a:t>8</a:t>
                </a:r>
                <a:r>
                  <a:rPr lang="en-IN" sz="1500" b="1" dirty="0">
                    <a:latin typeface="Calisto MT" panose="02040603050505030304" pitchFamily="18" charset="0"/>
                  </a:rPr>
                  <a:t>. Output</a:t>
                </a:r>
              </a:p>
              <a:p>
                <a:r>
                  <a:rPr lang="en-IN" sz="1500" dirty="0">
                    <a:latin typeface="Calisto MT" panose="02040603050505030304" pitchFamily="18" charset="0"/>
                  </a:rPr>
                  <a:t>Final predicted class (disaster type)</a:t>
                </a:r>
              </a:p>
              <a:p>
                <a:endParaRPr lang="en-IN" sz="1500" dirty="0">
                  <a:latin typeface="Calisto MT" panose="0204060305050503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8806" y="152400"/>
                <a:ext cx="10971372" cy="5745166"/>
              </a:xfrm>
              <a:blipFill rotWithShape="1">
                <a:blip r:embed="rId2"/>
                <a:stretch>
                  <a:fillRect l="-167" t="-531" b="-15287"/>
                </a:stretch>
              </a:blipFill>
            </p:spPr>
            <p:txBody>
              <a:bodyPr/>
              <a:lstStyle/>
              <a:p>
                <a:r>
                  <a:rPr lang="en-IN">
                    <a:noFill/>
                  </a:rPr>
                  <a:t> </a:t>
                </a:r>
              </a:p>
            </p:txBody>
          </p:sp>
        </mc:Fallback>
      </mc:AlternateContent>
    </p:spTree>
    <p:extLst>
      <p:ext uri="{BB962C8B-B14F-4D97-AF65-F5344CB8AC3E}">
        <p14:creationId xmlns:p14="http://schemas.microsoft.com/office/powerpoint/2010/main" val="376327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8806" y="228600"/>
                <a:ext cx="10971372" cy="5745166"/>
              </a:xfrm>
            </p:spPr>
            <p:txBody>
              <a:bodyPr>
                <a:noAutofit/>
              </a:bodyPr>
              <a:lstStyle/>
              <a:p>
                <a:r>
                  <a:rPr lang="en-IN" sz="1700" b="1" dirty="0" smtClean="0">
                    <a:latin typeface="Calisto MT" panose="02040603050505030304" pitchFamily="18" charset="0"/>
                  </a:rPr>
                  <a:t>Decision-Level Fusion (Multimodal Integration)</a:t>
                </a:r>
              </a:p>
              <a:p>
                <a:r>
                  <a:rPr lang="en-IN" sz="1700" b="1" dirty="0">
                    <a:latin typeface="Calisto MT" panose="02040603050505030304" pitchFamily="18" charset="0"/>
                  </a:rPr>
                  <a:t>Input:</a:t>
                </a:r>
                <a:endParaRPr lang="en-IN" sz="1700" dirty="0">
                  <a:latin typeface="Calisto MT" panose="02040603050505030304" pitchFamily="18" charset="0"/>
                </a:endParaRPr>
              </a:p>
              <a:p>
                <a:pPr lvl="1">
                  <a:buFont typeface="Arial" panose="020B0604020202020204" pitchFamily="34" charset="0"/>
                  <a:buChar char="•"/>
                </a:pPr>
                <a:r>
                  <a:rPr lang="en-IN" sz="1700" dirty="0">
                    <a:latin typeface="Calisto MT" panose="02040603050505030304" pitchFamily="18" charset="0"/>
                  </a:rPr>
                  <a:t>Text prediction </a:t>
                </a:r>
                <a:r>
                  <a:rPr lang="en-IN" sz="1700" dirty="0" err="1" smtClean="0">
                    <a:latin typeface="Calisto MT" panose="02040603050505030304" pitchFamily="18" charset="0"/>
                  </a:rPr>
                  <a:t>P</a:t>
                </a:r>
                <a:r>
                  <a:rPr lang="en-IN" sz="1700" baseline="-25000" dirty="0" err="1" smtClean="0">
                    <a:latin typeface="Calisto MT" panose="02040603050505030304" pitchFamily="18" charset="0"/>
                  </a:rPr>
                  <a:t>text</a:t>
                </a:r>
                <a:r>
                  <a:rPr lang="en-IN" sz="1700" dirty="0" smtClean="0">
                    <a:latin typeface="Calisto MT" panose="02040603050505030304" pitchFamily="18" charset="0"/>
                  </a:rPr>
                  <a:t>​ </a:t>
                </a:r>
                <a:endParaRPr lang="en-IN" sz="1700" dirty="0">
                  <a:latin typeface="Calisto MT" panose="02040603050505030304" pitchFamily="18" charset="0"/>
                </a:endParaRPr>
              </a:p>
              <a:p>
                <a:pPr lvl="1">
                  <a:buFont typeface="Arial" panose="020B0604020202020204" pitchFamily="34" charset="0"/>
                  <a:buChar char="•"/>
                </a:pPr>
                <a:r>
                  <a:rPr lang="en-IN" sz="1700" dirty="0">
                    <a:latin typeface="Calisto MT" panose="02040603050505030304" pitchFamily="18" charset="0"/>
                  </a:rPr>
                  <a:t>Image prediction </a:t>
                </a:r>
                <a:r>
                  <a:rPr lang="en-IN" sz="1700" dirty="0" err="1" smtClean="0">
                    <a:latin typeface="Calisto MT" panose="02040603050505030304" pitchFamily="18" charset="0"/>
                  </a:rPr>
                  <a:t>P</a:t>
                </a:r>
                <a:r>
                  <a:rPr lang="en-IN" sz="1700" baseline="-25000" dirty="0" err="1" smtClean="0">
                    <a:latin typeface="Calisto MT" panose="02040603050505030304" pitchFamily="18" charset="0"/>
                  </a:rPr>
                  <a:t>image</a:t>
                </a:r>
                <a:r>
                  <a:rPr lang="en-IN" sz="1700" dirty="0" smtClean="0">
                    <a:latin typeface="Calisto MT" panose="02040603050505030304" pitchFamily="18" charset="0"/>
                  </a:rPr>
                  <a:t>​ </a:t>
                </a:r>
                <a:endParaRPr lang="en-IN" sz="1700" dirty="0">
                  <a:latin typeface="Calisto MT" panose="02040603050505030304" pitchFamily="18" charset="0"/>
                </a:endParaRPr>
              </a:p>
              <a:p>
                <a:r>
                  <a:rPr lang="en-IN" sz="1700" b="1" dirty="0" smtClean="0">
                    <a:latin typeface="Calisto MT" panose="02040603050505030304" pitchFamily="18" charset="0"/>
                  </a:rPr>
                  <a:t>Output:</a:t>
                </a:r>
                <a:endParaRPr lang="en-IN" sz="1700" dirty="0" smtClean="0">
                  <a:latin typeface="Calisto MT" panose="02040603050505030304" pitchFamily="18" charset="0"/>
                </a:endParaRPr>
              </a:p>
              <a:p>
                <a:pPr lvl="1">
                  <a:buFont typeface="Arial" panose="020B0604020202020204" pitchFamily="34" charset="0"/>
                  <a:buChar char="•"/>
                </a:pPr>
                <a:r>
                  <a:rPr lang="en-IN" sz="1700" dirty="0" smtClean="0">
                    <a:latin typeface="Calisto MT" panose="02040603050505030304" pitchFamily="18" charset="0"/>
                  </a:rPr>
                  <a:t>Final </a:t>
                </a:r>
                <a:r>
                  <a:rPr lang="en-IN" sz="1700" dirty="0">
                    <a:latin typeface="Calisto MT" panose="02040603050505030304" pitchFamily="18" charset="0"/>
                  </a:rPr>
                  <a:t>prediction </a:t>
                </a:r>
                <a:r>
                  <a:rPr lang="en-IN" sz="1700" dirty="0" err="1" smtClean="0">
                    <a:latin typeface="Calisto MT" panose="02040603050505030304" pitchFamily="18" charset="0"/>
                  </a:rPr>
                  <a:t>P</a:t>
                </a:r>
                <a:r>
                  <a:rPr lang="en-IN" sz="1700" baseline="-25000" dirty="0" err="1" smtClean="0">
                    <a:latin typeface="Calisto MT" panose="02040603050505030304" pitchFamily="18" charset="0"/>
                  </a:rPr>
                  <a:t>final</a:t>
                </a:r>
                <a:r>
                  <a:rPr lang="en-IN" sz="1700" dirty="0" smtClean="0">
                    <a:latin typeface="Calisto MT" panose="02040603050505030304" pitchFamily="18" charset="0"/>
                  </a:rPr>
                  <a:t>​</a:t>
                </a:r>
                <a:endParaRPr lang="en-IN" sz="1700" dirty="0">
                  <a:latin typeface="Calisto MT" panose="02040603050505030304" pitchFamily="18" charset="0"/>
                </a:endParaRPr>
              </a:p>
              <a:p>
                <a:r>
                  <a:rPr lang="en-IN" sz="1700" b="1" dirty="0">
                    <a:latin typeface="Calisto MT" panose="02040603050505030304" pitchFamily="18" charset="0"/>
                  </a:rPr>
                  <a:t>Method</a:t>
                </a:r>
              </a:p>
              <a:p>
                <a:r>
                  <a:rPr lang="en-IN" sz="1700" b="1" dirty="0">
                    <a:latin typeface="Calisto MT" panose="02040603050505030304" pitchFamily="18" charset="0"/>
                  </a:rPr>
                  <a:t>1. Independent Predictions</a:t>
                </a:r>
              </a:p>
              <a:p>
                <a:pPr lvl="1">
                  <a:buFont typeface="Arial" panose="020B0604020202020204" pitchFamily="34" charset="0"/>
                  <a:buChar char="•"/>
                </a:pPr>
                <a:r>
                  <a:rPr lang="en-IN" sz="1700" dirty="0">
                    <a:latin typeface="Calisto MT" panose="02040603050505030304" pitchFamily="18" charset="0"/>
                  </a:rPr>
                  <a:t>Obtain probability outputs from text and image models</a:t>
                </a:r>
              </a:p>
              <a:p>
                <a:r>
                  <a:rPr lang="en-IN" sz="1700" b="1" dirty="0">
                    <a:latin typeface="Calisto MT" panose="02040603050505030304" pitchFamily="18" charset="0"/>
                  </a:rPr>
                  <a:t>2. Probability Representation</a:t>
                </a:r>
              </a:p>
              <a:p>
                <a:pPr lvl="1">
                  <a:buFont typeface="Arial" panose="020B0604020202020204" pitchFamily="34" charset="0"/>
                  <a:buChar char="•"/>
                </a:pPr>
                <a:r>
                  <a:rPr lang="en-IN" sz="1700" dirty="0">
                    <a:latin typeface="Calisto MT" panose="02040603050505030304" pitchFamily="18" charset="0"/>
                  </a:rPr>
                  <a:t>Represent predictions as probability scores</a:t>
                </a:r>
              </a:p>
              <a:p>
                <a:r>
                  <a:rPr lang="en-IN" sz="1700" b="1" dirty="0">
                    <a:latin typeface="Calisto MT" panose="02040603050505030304" pitchFamily="18" charset="0"/>
                  </a:rPr>
                  <a:t>3. Weighted </a:t>
                </a:r>
                <a:r>
                  <a:rPr lang="en-IN" sz="1700" b="1" dirty="0" smtClean="0">
                    <a:latin typeface="Calisto MT" panose="02040603050505030304" pitchFamily="18" charset="0"/>
                  </a:rPr>
                  <a:t>Fusion</a:t>
                </a:r>
              </a:p>
              <a:p>
                <a:pPr lvl="1">
                  <a:buFont typeface="Arial" panose="020B0604020202020204" pitchFamily="34" charset="0"/>
                  <a:buChar char="•"/>
                </a:pPr>
                <a14:m>
                  <m:oMath xmlns:m="http://schemas.openxmlformats.org/officeDocument/2006/math">
                    <m:sSub>
                      <m:sSubPr>
                        <m:ctrlPr>
                          <a:rPr lang="en-IN" sz="1700" i="1"/>
                        </m:ctrlPr>
                      </m:sSubPr>
                      <m:e>
                        <m:r>
                          <a:rPr lang="en-IN" sz="1700" i="1"/>
                          <m:t>𝑃</m:t>
                        </m:r>
                      </m:e>
                      <m:sub>
                        <m:r>
                          <a:rPr lang="en-IN" sz="1700" i="1"/>
                          <m:t>𝑓𝑖𝑛𝑎𝑙</m:t>
                        </m:r>
                      </m:sub>
                    </m:sSub>
                    <m:r>
                      <a:rPr lang="en-IN" sz="1700" i="1"/>
                      <m:t>=</m:t>
                    </m:r>
                    <m:sSub>
                      <m:sSubPr>
                        <m:ctrlPr>
                          <a:rPr lang="en-IN" sz="1700" i="1"/>
                        </m:ctrlPr>
                      </m:sSubPr>
                      <m:e>
                        <m:r>
                          <a:rPr lang="en-IN" sz="1700" i="1"/>
                          <m:t>𝑤</m:t>
                        </m:r>
                      </m:e>
                      <m:sub>
                        <m:r>
                          <a:rPr lang="en-IN" sz="1700" i="1"/>
                          <m:t>1</m:t>
                        </m:r>
                      </m:sub>
                    </m:sSub>
                    <m:r>
                      <a:rPr lang="en-IN" sz="1700" i="1" smtClean="0"/>
                      <m:t>×</m:t>
                    </m:r>
                    <m:sSub>
                      <m:sSubPr>
                        <m:ctrlPr>
                          <a:rPr lang="en-IN" sz="1700" i="1"/>
                        </m:ctrlPr>
                      </m:sSubPr>
                      <m:e>
                        <m:r>
                          <a:rPr lang="en-IN" sz="1700" i="1"/>
                          <m:t>𝑃</m:t>
                        </m:r>
                      </m:e>
                      <m:sub>
                        <m:r>
                          <a:rPr lang="en-IN" sz="1700" i="1"/>
                          <m:t>𝑡𝑒𝑥𝑡</m:t>
                        </m:r>
                      </m:sub>
                    </m:sSub>
                    <m:r>
                      <a:rPr lang="en-IN" sz="1700" i="1"/>
                      <m:t>+</m:t>
                    </m:r>
                    <m:sSub>
                      <m:sSubPr>
                        <m:ctrlPr>
                          <a:rPr lang="en-IN" sz="1700" i="1"/>
                        </m:ctrlPr>
                      </m:sSubPr>
                      <m:e>
                        <m:r>
                          <a:rPr lang="en-IN" sz="1700" i="1"/>
                          <m:t>𝑤</m:t>
                        </m:r>
                      </m:e>
                      <m:sub>
                        <m:r>
                          <a:rPr lang="en-IN" sz="1700" i="1"/>
                          <m:t>2</m:t>
                        </m:r>
                      </m:sub>
                    </m:sSub>
                    <m:r>
                      <a:rPr lang="en-IN" sz="1700" i="1"/>
                      <m:t>×</m:t>
                    </m:r>
                    <m:sSub>
                      <m:sSubPr>
                        <m:ctrlPr>
                          <a:rPr lang="en-IN" sz="1700" i="1"/>
                        </m:ctrlPr>
                      </m:sSubPr>
                      <m:e>
                        <m:r>
                          <a:rPr lang="en-IN" sz="1700" i="1"/>
                          <m:t>𝑃</m:t>
                        </m:r>
                      </m:e>
                      <m:sub>
                        <m:r>
                          <a:rPr lang="en-IN" sz="1700" i="1"/>
                          <m:t>𝑖𝑚𝑎𝑔𝑒</m:t>
                        </m:r>
                      </m:sub>
                    </m:sSub>
                  </m:oMath>
                </a14:m>
                <a:endParaRPr lang="en-IN" sz="1700" b="1" dirty="0">
                  <a:latin typeface="Calisto MT" panose="02040603050505030304" pitchFamily="18" charset="0"/>
                </a:endParaRPr>
              </a:p>
              <a:p>
                <a:pPr lvl="1">
                  <a:buFont typeface="Arial" panose="020B0604020202020204" pitchFamily="34" charset="0"/>
                  <a:buChar char="•"/>
                </a:pPr>
                <a:r>
                  <a:rPr lang="en-IN" sz="1700" dirty="0" smtClean="0">
                    <a:latin typeface="Calisto MT" panose="02040603050505030304" pitchFamily="18" charset="0"/>
                  </a:rPr>
                  <a:t>where</a:t>
                </a:r>
                <a:r>
                  <a:rPr lang="en-IN" sz="1700" dirty="0">
                    <a:latin typeface="Calisto MT" panose="02040603050505030304" pitchFamily="18" charset="0"/>
                  </a:rPr>
                  <a:t>:</a:t>
                </a:r>
              </a:p>
              <a:p>
                <a:pPr lvl="1">
                  <a:buFont typeface="Arial" panose="020B0604020202020204" pitchFamily="34" charset="0"/>
                  <a:buChar char="•"/>
                </a:pPr>
                <a:r>
                  <a:rPr lang="en-IN" sz="1700" dirty="0" smtClean="0">
                    <a:latin typeface="Calisto MT" panose="02040603050505030304" pitchFamily="18" charset="0"/>
                  </a:rPr>
                  <a:t>w</a:t>
                </a:r>
                <a:r>
                  <a:rPr lang="en-IN" sz="1700" baseline="-25000" dirty="0" smtClean="0">
                    <a:latin typeface="Calisto MT" panose="02040603050505030304" pitchFamily="18" charset="0"/>
                  </a:rPr>
                  <a:t>1</a:t>
                </a:r>
                <a:r>
                  <a:rPr lang="en-IN" sz="1700" dirty="0" smtClean="0">
                    <a:latin typeface="Calisto MT" panose="02040603050505030304" pitchFamily="18" charset="0"/>
                  </a:rPr>
                  <a:t>​</a:t>
                </a:r>
                <a:r>
                  <a:rPr lang="en-IN" sz="1700" dirty="0">
                    <a:latin typeface="Calisto MT" panose="02040603050505030304" pitchFamily="18" charset="0"/>
                  </a:rPr>
                  <a:t>&gt;w</a:t>
                </a:r>
                <a:r>
                  <a:rPr lang="en-IN" sz="1700" baseline="-25000" dirty="0">
                    <a:latin typeface="Calisto MT" panose="02040603050505030304" pitchFamily="18" charset="0"/>
                  </a:rPr>
                  <a:t>2</a:t>
                </a:r>
                <a:r>
                  <a:rPr lang="en-IN" sz="1700" dirty="0">
                    <a:latin typeface="Calisto MT" panose="02040603050505030304" pitchFamily="18" charset="0"/>
                  </a:rPr>
                  <a:t>​ </a:t>
                </a:r>
              </a:p>
              <a:p>
                <a:pPr lvl="1">
                  <a:buFont typeface="Arial" panose="020B0604020202020204" pitchFamily="34" charset="0"/>
                  <a:buChar char="•"/>
                </a:pPr>
                <a:r>
                  <a:rPr lang="en-IN" sz="1700" dirty="0" smtClean="0">
                    <a:latin typeface="Calisto MT" panose="02040603050505030304" pitchFamily="18" charset="0"/>
                  </a:rPr>
                  <a:t>w</a:t>
                </a:r>
                <a:r>
                  <a:rPr lang="en-IN" sz="1700" baseline="-25000" dirty="0" smtClean="0">
                    <a:latin typeface="Calisto MT" panose="02040603050505030304" pitchFamily="18" charset="0"/>
                  </a:rPr>
                  <a:t>1</a:t>
                </a:r>
                <a:r>
                  <a:rPr lang="en-IN" sz="1700" dirty="0" smtClean="0">
                    <a:latin typeface="Calisto MT" panose="02040603050505030304" pitchFamily="18" charset="0"/>
                  </a:rPr>
                  <a:t>+w</a:t>
                </a:r>
                <a:r>
                  <a:rPr lang="en-IN" sz="1700" baseline="-25000" dirty="0" smtClean="0">
                    <a:latin typeface="Calisto MT" panose="02040603050505030304" pitchFamily="18" charset="0"/>
                  </a:rPr>
                  <a:t>2</a:t>
                </a:r>
                <a:r>
                  <a:rPr lang="en-IN" sz="1700" dirty="0" smtClean="0">
                    <a:latin typeface="Calisto MT" panose="02040603050505030304" pitchFamily="18" charset="0"/>
                  </a:rPr>
                  <a:t>=1 </a:t>
                </a:r>
                <a:endParaRPr lang="en-IN" sz="1700" dirty="0">
                  <a:latin typeface="Calisto MT" panose="02040603050505030304" pitchFamily="18" charset="0"/>
                </a:endParaRPr>
              </a:p>
              <a:p>
                <a:r>
                  <a:rPr lang="en-IN" sz="1700" b="1" dirty="0">
                    <a:latin typeface="Calisto MT" panose="02040603050505030304" pitchFamily="18" charset="0"/>
                  </a:rPr>
                  <a:t>4. Final Decision</a:t>
                </a:r>
              </a:p>
              <a:p>
                <a:pPr lvl="1">
                  <a:buFont typeface="Arial" panose="020B0604020202020204" pitchFamily="34" charset="0"/>
                  <a:buChar char="•"/>
                </a:pPr>
                <a:r>
                  <a:rPr lang="en-IN" sz="1700" dirty="0">
                    <a:latin typeface="Calisto MT" panose="02040603050505030304" pitchFamily="18" charset="0"/>
                  </a:rPr>
                  <a:t>Select class with maximum </a:t>
                </a:r>
                <a:r>
                  <a:rPr lang="en-IN" sz="1700" dirty="0" smtClean="0">
                    <a:latin typeface="Calisto MT" panose="02040603050505030304" pitchFamily="18" charset="0"/>
                  </a:rPr>
                  <a:t>probability</a:t>
                </a:r>
              </a:p>
              <a:p>
                <a:pPr lvl="1">
                  <a:buFont typeface="Arial" panose="020B0604020202020204" pitchFamily="34" charset="0"/>
                  <a:buChar char="•"/>
                </a:pPr>
                <a14:m>
                  <m:oMath xmlns:m="http://schemas.openxmlformats.org/officeDocument/2006/math">
                    <m:acc>
                      <m:accPr>
                        <m:chr m:val="̂"/>
                        <m:ctrlPr>
                          <a:rPr lang="en-IN" sz="1700" i="1" smtClean="0">
                            <a:latin typeface="Cambria Math"/>
                          </a:rPr>
                        </m:ctrlPr>
                      </m:accPr>
                      <m:e>
                        <m:r>
                          <a:rPr lang="en-US" sz="1700" b="0" i="1" smtClean="0">
                            <a:latin typeface="Cambria Math"/>
                          </a:rPr>
                          <m:t>𝑦</m:t>
                        </m:r>
                      </m:e>
                    </m:acc>
                    <m:r>
                      <a:rPr lang="en-US" sz="1700" b="0" i="1" smtClean="0">
                        <a:latin typeface="Cambria Math"/>
                      </a:rPr>
                      <m:t>=</m:t>
                    </m:r>
                    <m:r>
                      <a:rPr lang="en-US" sz="1700" b="0" i="1" smtClean="0">
                        <a:latin typeface="Cambria Math"/>
                      </a:rPr>
                      <m:t>𝑎𝑟𝑔𝑚𝑎𝑥</m:t>
                    </m:r>
                    <m:r>
                      <a:rPr lang="en-US" sz="1700" b="0" i="1" smtClean="0">
                        <a:latin typeface="Cambria Math"/>
                      </a:rPr>
                      <m:t>(</m:t>
                    </m:r>
                    <m:sSub>
                      <m:sSubPr>
                        <m:ctrlPr>
                          <a:rPr lang="en-US" sz="1700" b="0" i="1" smtClean="0">
                            <a:latin typeface="Cambria Math"/>
                          </a:rPr>
                        </m:ctrlPr>
                      </m:sSubPr>
                      <m:e>
                        <m:r>
                          <a:rPr lang="en-US" sz="1700" b="0" i="1" smtClean="0">
                            <a:latin typeface="Cambria Math"/>
                          </a:rPr>
                          <m:t>𝑃</m:t>
                        </m:r>
                      </m:e>
                      <m:sub>
                        <m:r>
                          <a:rPr lang="en-US" sz="1700" b="0" i="1" smtClean="0">
                            <a:latin typeface="Cambria Math"/>
                          </a:rPr>
                          <m:t>𝑓𝑖𝑛𝑎𝑙</m:t>
                        </m:r>
                      </m:sub>
                    </m:sSub>
                    <m:r>
                      <a:rPr lang="en-US" sz="1700" b="0" i="1" smtClean="0">
                        <a:latin typeface="Cambria Math"/>
                      </a:rPr>
                      <m:t>)</m:t>
                    </m:r>
                  </m:oMath>
                </a14:m>
                <a:endParaRPr lang="en-IN" sz="1700" dirty="0">
                  <a:latin typeface="Calisto MT" panose="02040603050505030304" pitchFamily="18" charset="0"/>
                </a:endParaRPr>
              </a:p>
              <a:p>
                <a:r>
                  <a:rPr lang="en-IN" sz="1700" b="1" dirty="0" smtClean="0">
                    <a:latin typeface="Calisto MT" panose="02040603050505030304" pitchFamily="18" charset="0"/>
                  </a:rPr>
                  <a:t>5</a:t>
                </a:r>
                <a:r>
                  <a:rPr lang="en-IN" sz="1700" b="1" dirty="0">
                    <a:latin typeface="Calisto MT" panose="02040603050505030304" pitchFamily="18" charset="0"/>
                  </a:rPr>
                  <a:t>. Output</a:t>
                </a:r>
              </a:p>
              <a:p>
                <a:pPr lvl="1">
                  <a:buFont typeface="Arial" panose="020B0604020202020204" pitchFamily="34" charset="0"/>
                  <a:buChar char="•"/>
                </a:pPr>
                <a:r>
                  <a:rPr lang="en-IN" sz="1700" dirty="0">
                    <a:latin typeface="Calisto MT" panose="02040603050505030304" pitchFamily="18" charset="0"/>
                  </a:rPr>
                  <a:t>Final predicted </a:t>
                </a:r>
                <a:r>
                  <a:rPr lang="en-IN" sz="1700" dirty="0" smtClean="0">
                    <a:latin typeface="Calisto MT" panose="02040603050505030304" pitchFamily="18" charset="0"/>
                  </a:rPr>
                  <a:t>class</a:t>
                </a:r>
                <a:endParaRPr lang="en-IN" sz="1700" dirty="0">
                  <a:latin typeface="Calisto MT" panose="0204060305050503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8806" y="228600"/>
                <a:ext cx="10971372" cy="5745166"/>
              </a:xfrm>
              <a:blipFill rotWithShape="1">
                <a:blip r:embed="rId2"/>
                <a:stretch>
                  <a:fillRect l="-278" t="-318" b="-16667"/>
                </a:stretch>
              </a:blipFill>
            </p:spPr>
            <p:txBody>
              <a:bodyPr/>
              <a:lstStyle/>
              <a:p>
                <a:r>
                  <a:rPr lang="en-IN">
                    <a:noFill/>
                  </a:rPr>
                  <a:t> </a:t>
                </a:r>
              </a:p>
            </p:txBody>
          </p:sp>
        </mc:Fallback>
      </mc:AlternateContent>
    </p:spTree>
    <p:extLst>
      <p:ext uri="{BB962C8B-B14F-4D97-AF65-F5344CB8AC3E}">
        <p14:creationId xmlns:p14="http://schemas.microsoft.com/office/powerpoint/2010/main" val="3592592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listo MT" panose="02040603050505030304" pitchFamily="18" charset="0"/>
              </a:rPr>
              <a:t>Architecture </a:t>
            </a:r>
            <a:r>
              <a:rPr lang="en-US" sz="4000" b="1" dirty="0" smtClean="0">
                <a:latin typeface="Calisto MT" panose="02040603050505030304" pitchFamily="18" charset="0"/>
              </a:rPr>
              <a:t>diagram</a:t>
            </a:r>
            <a:endParaRPr lang="en-IN" sz="4000" b="1" dirty="0">
              <a:latin typeface="Calisto MT" panose="02040603050505030304" pitchFamily="18" charset="0"/>
            </a:endParaRPr>
          </a:p>
        </p:txBody>
      </p:sp>
      <p:pic>
        <p:nvPicPr>
          <p:cNvPr id="1026" name="Picture 2" descr="C:\Users\HP\Documents\Major_Final\Major Project Architectur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0206" y="1981200"/>
            <a:ext cx="11533137" cy="3298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3319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806" y="152400"/>
            <a:ext cx="10971372" cy="944562"/>
          </a:xfrm>
        </p:spPr>
        <p:txBody>
          <a:bodyPr>
            <a:normAutofit/>
          </a:bodyPr>
          <a:lstStyle/>
          <a:p>
            <a:r>
              <a:rPr lang="en-US" sz="4000" b="1" dirty="0" smtClean="0">
                <a:latin typeface="Calisto MT" panose="02040603050505030304" pitchFamily="18" charset="0"/>
              </a:rPr>
              <a:t>Implementation </a:t>
            </a:r>
            <a:r>
              <a:rPr lang="en-US" sz="4000" b="1" dirty="0" smtClean="0">
                <a:latin typeface="Calisto MT" panose="02040603050505030304" pitchFamily="18" charset="0"/>
              </a:rPr>
              <a:t>steps</a:t>
            </a:r>
            <a:endParaRPr lang="en-IN" sz="4000" b="1" dirty="0">
              <a:latin typeface="Calisto MT" panose="02040603050505030304" pitchFamily="18" charset="0"/>
            </a:endParaRPr>
          </a:p>
        </p:txBody>
      </p:sp>
      <p:sp>
        <p:nvSpPr>
          <p:cNvPr id="3" name="Content Placeholder 2"/>
          <p:cNvSpPr>
            <a:spLocks noGrp="1"/>
          </p:cNvSpPr>
          <p:nvPr>
            <p:ph idx="1"/>
          </p:nvPr>
        </p:nvSpPr>
        <p:spPr>
          <a:xfrm>
            <a:off x="608806" y="1066800"/>
            <a:ext cx="10971372" cy="4525963"/>
          </a:xfrm>
        </p:spPr>
        <p:txBody>
          <a:bodyPr>
            <a:noAutofit/>
          </a:bodyPr>
          <a:lstStyle/>
          <a:p>
            <a:r>
              <a:rPr lang="en-IN" sz="2000" b="1" dirty="0">
                <a:latin typeface="Calisto MT" panose="02040603050505030304" pitchFamily="18" charset="0"/>
              </a:rPr>
              <a:t>Step 1: </a:t>
            </a:r>
            <a:r>
              <a:rPr lang="en-IN" sz="2000" b="1" dirty="0" smtClean="0">
                <a:latin typeface="Calisto MT" panose="02040603050505030304" pitchFamily="18" charset="0"/>
              </a:rPr>
              <a:t>Dataset</a:t>
            </a:r>
            <a:r>
              <a:rPr lang="en-IN" sz="2000" dirty="0">
                <a:latin typeface="Calisto MT" panose="02040603050505030304" pitchFamily="18" charset="0"/>
              </a:rPr>
              <a:t/>
            </a:r>
            <a:br>
              <a:rPr lang="en-IN" sz="2000" dirty="0">
                <a:latin typeface="Calisto MT" panose="02040603050505030304" pitchFamily="18" charset="0"/>
              </a:rPr>
            </a:br>
            <a:r>
              <a:rPr lang="en-US" sz="2000" dirty="0">
                <a:latin typeface="Calisto MT" panose="02040603050505030304" pitchFamily="18" charset="0"/>
              </a:rPr>
              <a:t>The PHEME dataset is used for real/fake classification. Multiple disaster-related tweet datasets are combined for disaster/non-disaster classification, and multiple image datasets are integrated for disaster type classification</a:t>
            </a:r>
            <a:r>
              <a:rPr lang="en-US" sz="2000" dirty="0" smtClean="0">
                <a:latin typeface="Calisto MT" panose="02040603050505030304" pitchFamily="18" charset="0"/>
              </a:rPr>
              <a:t>.</a:t>
            </a:r>
            <a:endParaRPr lang="en-IN" sz="2000" dirty="0">
              <a:latin typeface="Calisto MT" panose="02040603050505030304" pitchFamily="18" charset="0"/>
            </a:endParaRPr>
          </a:p>
          <a:p>
            <a:r>
              <a:rPr lang="en-IN" sz="2000" b="1" dirty="0">
                <a:latin typeface="Calisto MT" panose="02040603050505030304" pitchFamily="18" charset="0"/>
              </a:rPr>
              <a:t>Step 2: Data </a:t>
            </a:r>
            <a:r>
              <a:rPr lang="en-IN" sz="2000" b="1" dirty="0" err="1">
                <a:latin typeface="Calisto MT" panose="02040603050505030304" pitchFamily="18" charset="0"/>
              </a:rPr>
              <a:t>Preprocessing</a:t>
            </a:r>
            <a:r>
              <a:rPr lang="en-IN" sz="2000" dirty="0">
                <a:latin typeface="Calisto MT" panose="02040603050505030304" pitchFamily="18" charset="0"/>
              </a:rPr>
              <a:t/>
            </a:r>
            <a:br>
              <a:rPr lang="en-IN" sz="2000" dirty="0">
                <a:latin typeface="Calisto MT" panose="02040603050505030304" pitchFamily="18" charset="0"/>
              </a:rPr>
            </a:br>
            <a:r>
              <a:rPr lang="en-IN" sz="2000" dirty="0">
                <a:latin typeface="Calisto MT" panose="02040603050505030304" pitchFamily="18" charset="0"/>
              </a:rPr>
              <a:t>Clean and tokenize text for transformer input, and resize/normalize images for </a:t>
            </a:r>
            <a:r>
              <a:rPr lang="en-IN" sz="2000" dirty="0" smtClean="0">
                <a:latin typeface="Calisto MT" panose="02040603050505030304" pitchFamily="18" charset="0"/>
              </a:rPr>
              <a:t>ResNet50 processing</a:t>
            </a:r>
            <a:r>
              <a:rPr lang="en-IN" sz="2000" dirty="0">
                <a:latin typeface="Calisto MT" panose="02040603050505030304" pitchFamily="18" charset="0"/>
              </a:rPr>
              <a:t>.</a:t>
            </a:r>
          </a:p>
          <a:p>
            <a:r>
              <a:rPr lang="en-IN" sz="2000" b="1" dirty="0">
                <a:latin typeface="Calisto MT" panose="02040603050505030304" pitchFamily="18" charset="0"/>
              </a:rPr>
              <a:t>Step 3: Multitask Text Model (</a:t>
            </a:r>
            <a:r>
              <a:rPr lang="en-IN" sz="2000" b="1" dirty="0" err="1">
                <a:latin typeface="Calisto MT" panose="02040603050505030304" pitchFamily="18" charset="0"/>
              </a:rPr>
              <a:t>RoBERTa</a:t>
            </a:r>
            <a:r>
              <a:rPr lang="en-IN" sz="2000" b="1" dirty="0">
                <a:latin typeface="Calisto MT" panose="02040603050505030304" pitchFamily="18" charset="0"/>
              </a:rPr>
              <a:t>)</a:t>
            </a:r>
            <a:r>
              <a:rPr lang="en-IN" sz="2000" dirty="0">
                <a:latin typeface="Calisto MT" panose="02040603050505030304" pitchFamily="18" charset="0"/>
              </a:rPr>
              <a:t/>
            </a:r>
            <a:br>
              <a:rPr lang="en-IN" sz="2000" dirty="0">
                <a:latin typeface="Calisto MT" panose="02040603050505030304" pitchFamily="18" charset="0"/>
              </a:rPr>
            </a:br>
            <a:r>
              <a:rPr lang="en-IN" sz="2000" dirty="0">
                <a:latin typeface="Calisto MT" panose="02040603050505030304" pitchFamily="18" charset="0"/>
              </a:rPr>
              <a:t>Fine-tune </a:t>
            </a:r>
            <a:r>
              <a:rPr lang="en-IN" sz="2000" dirty="0" err="1">
                <a:latin typeface="Calisto MT" panose="02040603050505030304" pitchFamily="18" charset="0"/>
              </a:rPr>
              <a:t>RoBERTa</a:t>
            </a:r>
            <a:r>
              <a:rPr lang="en-IN" sz="2000" dirty="0">
                <a:latin typeface="Calisto MT" panose="02040603050505030304" pitchFamily="18" charset="0"/>
              </a:rPr>
              <a:t> with </a:t>
            </a:r>
            <a:r>
              <a:rPr lang="en-IN" sz="2000" b="1" dirty="0">
                <a:latin typeface="Calisto MT" panose="02040603050505030304" pitchFamily="18" charset="0"/>
              </a:rPr>
              <a:t>dual classification heads</a:t>
            </a:r>
            <a:r>
              <a:rPr lang="en-IN" sz="2000" dirty="0">
                <a:latin typeface="Calisto MT" panose="02040603050505030304" pitchFamily="18" charset="0"/>
              </a:rPr>
              <a:t> for disaster detection and </a:t>
            </a:r>
            <a:r>
              <a:rPr lang="en-IN" sz="2000" dirty="0" smtClean="0">
                <a:latin typeface="Calisto MT" panose="02040603050505030304" pitchFamily="18" charset="0"/>
              </a:rPr>
              <a:t>fake/real classification</a:t>
            </a:r>
            <a:r>
              <a:rPr lang="en-IN" sz="2000" dirty="0">
                <a:latin typeface="Calisto MT" panose="02040603050505030304" pitchFamily="18" charset="0"/>
              </a:rPr>
              <a:t>.</a:t>
            </a:r>
          </a:p>
          <a:p>
            <a:r>
              <a:rPr lang="en-IN" sz="2000" b="1" dirty="0">
                <a:latin typeface="Calisto MT" panose="02040603050505030304" pitchFamily="18" charset="0"/>
              </a:rPr>
              <a:t>Step 4: Image Model (ResNet50)</a:t>
            </a:r>
            <a:r>
              <a:rPr lang="en-IN" sz="2000" dirty="0">
                <a:latin typeface="Calisto MT" panose="02040603050505030304" pitchFamily="18" charset="0"/>
              </a:rPr>
              <a:t/>
            </a:r>
            <a:br>
              <a:rPr lang="en-IN" sz="2000" dirty="0">
                <a:latin typeface="Calisto MT" panose="02040603050505030304" pitchFamily="18" charset="0"/>
              </a:rPr>
            </a:br>
            <a:r>
              <a:rPr lang="en-IN" sz="2000" dirty="0">
                <a:latin typeface="Calisto MT" panose="02040603050505030304" pitchFamily="18" charset="0"/>
              </a:rPr>
              <a:t>Fine-tune ResNet50 to classify disaster types from images.</a:t>
            </a:r>
          </a:p>
          <a:p>
            <a:r>
              <a:rPr lang="en-IN" sz="2000" b="1" dirty="0">
                <a:latin typeface="Calisto MT" panose="02040603050505030304" pitchFamily="18" charset="0"/>
              </a:rPr>
              <a:t>Step 5: Decision-Level Fusion</a:t>
            </a:r>
            <a:r>
              <a:rPr lang="en-IN" sz="2000" dirty="0">
                <a:latin typeface="Calisto MT" panose="02040603050505030304" pitchFamily="18" charset="0"/>
              </a:rPr>
              <a:t/>
            </a:r>
            <a:br>
              <a:rPr lang="en-IN" sz="2000" dirty="0">
                <a:latin typeface="Calisto MT" panose="02040603050505030304" pitchFamily="18" charset="0"/>
              </a:rPr>
            </a:br>
            <a:r>
              <a:rPr lang="en-IN" sz="2000" dirty="0">
                <a:latin typeface="Calisto MT" panose="02040603050505030304" pitchFamily="18" charset="0"/>
              </a:rPr>
              <a:t>Combine outputs from both models, assigning higher weight to text predictions.</a:t>
            </a:r>
          </a:p>
          <a:p>
            <a:r>
              <a:rPr lang="en-IN" sz="2000" b="1" dirty="0">
                <a:latin typeface="Calisto MT" panose="02040603050505030304" pitchFamily="18" charset="0"/>
              </a:rPr>
              <a:t>Step 6: Final Output Generation</a:t>
            </a:r>
            <a:r>
              <a:rPr lang="en-IN" sz="2000" dirty="0">
                <a:latin typeface="Calisto MT" panose="02040603050505030304" pitchFamily="18" charset="0"/>
              </a:rPr>
              <a:t/>
            </a:r>
            <a:br>
              <a:rPr lang="en-IN" sz="2000" dirty="0">
                <a:latin typeface="Calisto MT" panose="02040603050505030304" pitchFamily="18" charset="0"/>
              </a:rPr>
            </a:br>
            <a:r>
              <a:rPr lang="en-IN" sz="2000" dirty="0">
                <a:latin typeface="Calisto MT" panose="02040603050505030304" pitchFamily="18" charset="0"/>
              </a:rPr>
              <a:t>Generate predictions for disaster presence, authenticity, and disaster type</a:t>
            </a:r>
            <a:r>
              <a:rPr lang="en-IN" sz="2000" dirty="0" smtClean="0">
                <a:latin typeface="Calisto MT" panose="02040603050505030304" pitchFamily="18" charset="0"/>
              </a:rPr>
              <a:t>.</a:t>
            </a:r>
            <a:endParaRPr lang="en-IN" sz="2000" dirty="0">
              <a:latin typeface="Calisto MT" panose="02040603050505030304" pitchFamily="18" charset="0"/>
            </a:endParaRPr>
          </a:p>
        </p:txBody>
      </p:sp>
    </p:spTree>
    <p:extLst>
      <p:ext uri="{BB962C8B-B14F-4D97-AF65-F5344CB8AC3E}">
        <p14:creationId xmlns:p14="http://schemas.microsoft.com/office/powerpoint/2010/main" val="4111676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806" y="152400"/>
            <a:ext cx="10971372" cy="884238"/>
          </a:xfrm>
        </p:spPr>
        <p:txBody>
          <a:bodyPr>
            <a:normAutofit/>
          </a:bodyPr>
          <a:lstStyle/>
          <a:p>
            <a:r>
              <a:rPr lang="en-US" sz="4000" b="1" dirty="0" smtClean="0">
                <a:latin typeface="Calisto MT" panose="02040603050505030304" pitchFamily="18" charset="0"/>
              </a:rPr>
              <a:t>Execution</a:t>
            </a:r>
            <a:endParaRPr lang="en-IN" sz="4000" b="1" dirty="0">
              <a:latin typeface="Calisto MT" panose="02040603050505030304" pitchFamily="18" charset="0"/>
            </a:endParaRPr>
          </a:p>
        </p:txBody>
      </p:sp>
      <p:sp>
        <p:nvSpPr>
          <p:cNvPr id="3" name="Content Placeholder 2"/>
          <p:cNvSpPr>
            <a:spLocks noGrp="1"/>
          </p:cNvSpPr>
          <p:nvPr>
            <p:ph idx="1"/>
          </p:nvPr>
        </p:nvSpPr>
        <p:spPr>
          <a:xfrm>
            <a:off x="608806" y="914400"/>
            <a:ext cx="10971372" cy="5029200"/>
          </a:xfrm>
        </p:spPr>
        <p:txBody>
          <a:bodyPr>
            <a:noAutofit/>
          </a:bodyPr>
          <a:lstStyle/>
          <a:p>
            <a:r>
              <a:rPr lang="en-US" sz="1700" b="1" dirty="0">
                <a:latin typeface="Calisto MT" panose="02040603050505030304" pitchFamily="18" charset="0"/>
              </a:rPr>
              <a:t>Step 1: Input Acquisition</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Tweet data is either fetched from the Twitter API or manually entered through the system interface.</a:t>
            </a:r>
          </a:p>
          <a:p>
            <a:r>
              <a:rPr lang="en-US" sz="1700" b="1" dirty="0">
                <a:latin typeface="Calisto MT" panose="02040603050505030304" pitchFamily="18" charset="0"/>
              </a:rPr>
              <a:t>Step 2: Preprocessing</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The input text is cleaned and tokenized, while the associated image is resized and normalized.</a:t>
            </a:r>
          </a:p>
          <a:p>
            <a:r>
              <a:rPr lang="en-US" sz="1700" b="1" dirty="0">
                <a:latin typeface="Calisto MT" panose="02040603050505030304" pitchFamily="18" charset="0"/>
              </a:rPr>
              <a:t>Step 3: Text Model Inference (</a:t>
            </a:r>
            <a:r>
              <a:rPr lang="en-US" sz="1700" b="1" dirty="0" err="1">
                <a:latin typeface="Calisto MT" panose="02040603050505030304" pitchFamily="18" charset="0"/>
              </a:rPr>
              <a:t>RoBERTa</a:t>
            </a:r>
            <a:r>
              <a:rPr lang="en-US" sz="1700" b="1" dirty="0">
                <a:latin typeface="Calisto MT" panose="02040603050505030304" pitchFamily="18" charset="0"/>
              </a:rPr>
              <a:t>)</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The multitask </a:t>
            </a:r>
            <a:r>
              <a:rPr lang="en-US" sz="1700" dirty="0" err="1">
                <a:latin typeface="Calisto MT" panose="02040603050505030304" pitchFamily="18" charset="0"/>
              </a:rPr>
              <a:t>RoBERTa</a:t>
            </a:r>
            <a:r>
              <a:rPr lang="en-US" sz="1700" dirty="0">
                <a:latin typeface="Calisto MT" panose="02040603050505030304" pitchFamily="18" charset="0"/>
              </a:rPr>
              <a:t> model predicts:</a:t>
            </a:r>
          </a:p>
          <a:p>
            <a:pPr lvl="1">
              <a:buFont typeface="Wingdings" panose="05000000000000000000" pitchFamily="2" charset="2"/>
              <a:buChar char="§"/>
            </a:pPr>
            <a:r>
              <a:rPr lang="en-US" sz="1700" dirty="0">
                <a:latin typeface="Calisto MT" panose="02040603050505030304" pitchFamily="18" charset="0"/>
              </a:rPr>
              <a:t>Disaster / Non-Disaster </a:t>
            </a:r>
          </a:p>
          <a:p>
            <a:pPr lvl="1">
              <a:buFont typeface="Wingdings" panose="05000000000000000000" pitchFamily="2" charset="2"/>
              <a:buChar char="§"/>
            </a:pPr>
            <a:r>
              <a:rPr lang="en-US" sz="1700" dirty="0">
                <a:latin typeface="Calisto MT" panose="02040603050505030304" pitchFamily="18" charset="0"/>
              </a:rPr>
              <a:t>Real / Fake </a:t>
            </a:r>
          </a:p>
          <a:p>
            <a:r>
              <a:rPr lang="en-US" sz="1700" b="1" dirty="0">
                <a:latin typeface="Calisto MT" panose="02040603050505030304" pitchFamily="18" charset="0"/>
              </a:rPr>
              <a:t>Step 4: Image Model Inference (ResNet50)</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The ResNet50 model analyzes the image and predicts the disaster type.</a:t>
            </a:r>
          </a:p>
          <a:p>
            <a:r>
              <a:rPr lang="en-US" sz="1700" b="1" dirty="0">
                <a:latin typeface="Calisto MT" panose="02040603050505030304" pitchFamily="18" charset="0"/>
              </a:rPr>
              <a:t>Step 5: Context Extraction</a:t>
            </a:r>
            <a:endParaRPr lang="en-US" sz="1700" dirty="0">
              <a:latin typeface="Calisto MT" panose="02040603050505030304" pitchFamily="18" charset="0"/>
            </a:endParaRPr>
          </a:p>
          <a:p>
            <a:pPr lvl="1">
              <a:buFont typeface="Wingdings" panose="05000000000000000000" pitchFamily="2" charset="2"/>
              <a:buChar char="§"/>
            </a:pPr>
            <a:r>
              <a:rPr lang="en-US" sz="1700" dirty="0">
                <a:latin typeface="Calisto MT" panose="02040603050505030304" pitchFamily="18" charset="0"/>
              </a:rPr>
              <a:t>Named Entity Recognition extracts </a:t>
            </a:r>
            <a:r>
              <a:rPr lang="en-US" sz="1700" dirty="0" smtClean="0">
                <a:latin typeface="Calisto MT" panose="02040603050505030304" pitchFamily="18" charset="0"/>
              </a:rPr>
              <a:t>location</a:t>
            </a:r>
            <a:r>
              <a:rPr lang="en-US" sz="1700" dirty="0">
                <a:latin typeface="Calisto MT" panose="02040603050505030304" pitchFamily="18" charset="0"/>
              </a:rPr>
              <a:t>, </a:t>
            </a:r>
            <a:r>
              <a:rPr lang="en-US" sz="1700" dirty="0" err="1" smtClean="0">
                <a:latin typeface="Calisto MT" panose="02040603050505030304" pitchFamily="18" charset="0"/>
              </a:rPr>
              <a:t>Nominatim</a:t>
            </a:r>
            <a:r>
              <a:rPr lang="en-US" sz="1700" dirty="0" smtClean="0">
                <a:latin typeface="Calisto MT" panose="02040603050505030304" pitchFamily="18" charset="0"/>
              </a:rPr>
              <a:t> for identifying coordinates</a:t>
            </a:r>
            <a:endParaRPr lang="en-US" sz="1700" dirty="0">
              <a:latin typeface="Calisto MT" panose="02040603050505030304" pitchFamily="18" charset="0"/>
            </a:endParaRPr>
          </a:p>
          <a:p>
            <a:pPr lvl="1">
              <a:buFont typeface="Wingdings" panose="05000000000000000000" pitchFamily="2" charset="2"/>
              <a:buChar char="§"/>
            </a:pPr>
            <a:r>
              <a:rPr lang="en-US" sz="1700" dirty="0">
                <a:latin typeface="Calisto MT" panose="02040603050505030304" pitchFamily="18" charset="0"/>
              </a:rPr>
              <a:t>Sentiment analysis determines urgency level </a:t>
            </a:r>
          </a:p>
          <a:p>
            <a:r>
              <a:rPr lang="en-US" sz="1700" b="1" dirty="0">
                <a:latin typeface="Calisto MT" panose="02040603050505030304" pitchFamily="18" charset="0"/>
              </a:rPr>
              <a:t>Step 6: Decision-Level Fusion</a:t>
            </a:r>
            <a:r>
              <a:rPr lang="en-US" sz="1700" dirty="0">
                <a:latin typeface="Calisto MT" panose="02040603050505030304" pitchFamily="18" charset="0"/>
              </a:rPr>
              <a:t/>
            </a:r>
            <a:br>
              <a:rPr lang="en-US" sz="1700" dirty="0">
                <a:latin typeface="Calisto MT" panose="02040603050505030304" pitchFamily="18" charset="0"/>
              </a:rPr>
            </a:br>
            <a:r>
              <a:rPr lang="en-US" sz="1700" dirty="0" smtClean="0">
                <a:latin typeface="Calisto MT" panose="02040603050505030304" pitchFamily="18" charset="0"/>
              </a:rPr>
              <a:t>Text </a:t>
            </a:r>
            <a:r>
              <a:rPr lang="en-US" sz="1700" dirty="0">
                <a:latin typeface="Calisto MT" panose="02040603050505030304" pitchFamily="18" charset="0"/>
              </a:rPr>
              <a:t>and image predictions are combined, giving higher priority to textual output.</a:t>
            </a:r>
          </a:p>
          <a:p>
            <a:r>
              <a:rPr lang="en-US" sz="1700" b="1" dirty="0">
                <a:latin typeface="Calisto MT" panose="02040603050505030304" pitchFamily="18" charset="0"/>
              </a:rPr>
              <a:t>Step 7: Filtering and Storage</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Only tweets </a:t>
            </a:r>
            <a:r>
              <a:rPr lang="en-US" sz="1700" dirty="0" smtClean="0">
                <a:latin typeface="Calisto MT" panose="02040603050505030304" pitchFamily="18" charset="0"/>
              </a:rPr>
              <a:t>satisfying: </a:t>
            </a:r>
            <a:r>
              <a:rPr lang="en-US" sz="1700" b="1" i="1" dirty="0" smtClean="0">
                <a:latin typeface="Calisto MT" panose="02040603050505030304" pitchFamily="18" charset="0"/>
              </a:rPr>
              <a:t>Disaster </a:t>
            </a:r>
            <a:r>
              <a:rPr lang="en-US" sz="1700" b="1" i="1" dirty="0">
                <a:latin typeface="Calisto MT" panose="02040603050505030304" pitchFamily="18" charset="0"/>
              </a:rPr>
              <a:t>= TRUE AND Real = TRUE</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are stored in the database.</a:t>
            </a:r>
          </a:p>
          <a:p>
            <a:r>
              <a:rPr lang="en-US" sz="1700" b="1" dirty="0">
                <a:latin typeface="Calisto MT" panose="02040603050505030304" pitchFamily="18" charset="0"/>
              </a:rPr>
              <a:t>Step 8: Visualization</a:t>
            </a:r>
            <a:r>
              <a:rPr lang="en-US" sz="1700" dirty="0">
                <a:latin typeface="Calisto MT" panose="02040603050505030304" pitchFamily="18" charset="0"/>
              </a:rPr>
              <a:t/>
            </a:r>
            <a:br>
              <a:rPr lang="en-US" sz="1700" dirty="0">
                <a:latin typeface="Calisto MT" panose="02040603050505030304" pitchFamily="18" charset="0"/>
              </a:rPr>
            </a:br>
            <a:r>
              <a:rPr lang="en-US" sz="1700" dirty="0">
                <a:latin typeface="Calisto MT" panose="02040603050505030304" pitchFamily="18" charset="0"/>
              </a:rPr>
              <a:t>Validated results are displayed on the dashboard with location, urgency, and disaster type</a:t>
            </a:r>
            <a:r>
              <a:rPr lang="en-US" sz="1700" dirty="0" smtClean="0">
                <a:latin typeface="Calisto MT" panose="02040603050505030304" pitchFamily="18" charset="0"/>
              </a:rPr>
              <a:t>.</a:t>
            </a:r>
            <a:endParaRPr lang="en-US" sz="1700" dirty="0">
              <a:latin typeface="Calisto MT" panose="02040603050505030304" pitchFamily="18" charset="0"/>
            </a:endParaRPr>
          </a:p>
        </p:txBody>
      </p:sp>
    </p:spTree>
    <p:extLst>
      <p:ext uri="{BB962C8B-B14F-4D97-AF65-F5344CB8AC3E}">
        <p14:creationId xmlns:p14="http://schemas.microsoft.com/office/powerpoint/2010/main" val="94633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latin typeface="Calisto MT" panose="02040603050505030304" pitchFamily="18" charset="0"/>
              </a:rPr>
              <a:t>Results obtained</a:t>
            </a:r>
            <a:endParaRPr lang="en-IN" sz="4000" b="1" u="sng" dirty="0">
              <a:latin typeface="Calisto MT" panose="02040603050505030304" pitchFamily="18" charset="0"/>
            </a:endParaRPr>
          </a:p>
        </p:txBody>
      </p:sp>
      <p:pic>
        <p:nvPicPr>
          <p:cNvPr id="1026" name="Picture 2" descr="C:\Users\HP\Documents\Major_Final\Images\real-disas-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8206" y="2187723"/>
            <a:ext cx="4713821" cy="120239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HP\Documents\Major_Final\Images\test-disas-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14" y="1447800"/>
            <a:ext cx="6597650" cy="4817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2818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P\Documents\Major_Final\Images\test-non-disas-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 y="533400"/>
            <a:ext cx="65532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HP\Documents\Major_Final\Images\real-non-disas-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3406" y="990600"/>
            <a:ext cx="5016500" cy="434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9202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HP\Documents\Major_Final\Images\twitter-fake-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606" y="1752600"/>
            <a:ext cx="6172200" cy="32702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HP\Documents\Major_Final\Images\fake-tweet-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006" y="1066800"/>
            <a:ext cx="55626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0071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806" y="76200"/>
            <a:ext cx="10971372" cy="715962"/>
          </a:xfrm>
        </p:spPr>
        <p:txBody>
          <a:bodyPr>
            <a:normAutofit/>
          </a:bodyPr>
          <a:lstStyle/>
          <a:p>
            <a:r>
              <a:rPr lang="en-US" sz="3200" b="1" dirty="0" smtClean="0">
                <a:latin typeface="Calisto MT" panose="02040603050505030304" pitchFamily="18" charset="0"/>
              </a:rPr>
              <a:t>Interface Results</a:t>
            </a:r>
            <a:endParaRPr lang="en-IN" sz="3200" b="1" dirty="0">
              <a:latin typeface="Calisto MT" panose="02040603050505030304" pitchFamily="18" charset="0"/>
            </a:endParaRPr>
          </a:p>
        </p:txBody>
      </p:sp>
      <p:pic>
        <p:nvPicPr>
          <p:cNvPr id="4098" name="Picture 2" descr="C:\Users\HP\Documents\Major_Final\Images\dashboard2.pn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982" r="434" b="5570"/>
          <a:stretch/>
        </p:blipFill>
        <p:spPr bwMode="auto">
          <a:xfrm>
            <a:off x="227806" y="914400"/>
            <a:ext cx="11734800"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0591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22" y="274638"/>
            <a:ext cx="10971372" cy="792162"/>
          </a:xfrm>
        </p:spPr>
        <p:txBody>
          <a:bodyPr>
            <a:normAutofit/>
          </a:bodyPr>
          <a:lstStyle/>
          <a:p>
            <a:r>
              <a:rPr lang="en-US" sz="3600" b="1" dirty="0">
                <a:latin typeface="Calisto MT" panose="02040603050505030304" pitchFamily="18" charset="0"/>
              </a:rPr>
              <a:t>Result analysis with charts</a:t>
            </a:r>
            <a:endParaRPr lang="en-IN" sz="3600" b="1" dirty="0">
              <a:latin typeface="Calisto MT" panose="02040603050505030304" pitchFamily="18" charset="0"/>
            </a:endParaRPr>
          </a:p>
        </p:txBody>
      </p:sp>
      <p:sp>
        <p:nvSpPr>
          <p:cNvPr id="3" name="Text Placeholder 2"/>
          <p:cNvSpPr>
            <a:spLocks noGrp="1"/>
          </p:cNvSpPr>
          <p:nvPr>
            <p:ph type="body" idx="1"/>
          </p:nvPr>
        </p:nvSpPr>
        <p:spPr>
          <a:xfrm>
            <a:off x="3504406" y="1066800"/>
            <a:ext cx="5386216" cy="639762"/>
          </a:xfrm>
        </p:spPr>
        <p:txBody>
          <a:bodyPr>
            <a:normAutofit/>
          </a:bodyPr>
          <a:lstStyle/>
          <a:p>
            <a:pPr algn="ctr"/>
            <a:r>
              <a:rPr lang="en-US" sz="2800" u="sng" dirty="0" smtClean="0">
                <a:latin typeface="Calisto MT" panose="02040603050505030304" pitchFamily="18" charset="0"/>
              </a:rPr>
              <a:t>ResNet50 Results</a:t>
            </a:r>
            <a:endParaRPr lang="en-IN" sz="2800" u="sng" dirty="0">
              <a:latin typeface="Calisto MT" panose="02040603050505030304" pitchFamily="18" charset="0"/>
            </a:endParaRPr>
          </a:p>
        </p:txBody>
      </p:sp>
      <p:pic>
        <p:nvPicPr>
          <p:cNvPr id="7" name="Content Placeholder 6" descr="C:\Users\HP\Documents\Major_Final\Images\Confusion matrix for disaster type classification (ResNet50).png"/>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5006" y="1828800"/>
            <a:ext cx="5562600" cy="4572000"/>
          </a:xfrm>
          <a:prstGeom prst="rect">
            <a:avLst/>
          </a:prstGeom>
          <a:noFill/>
          <a:ln>
            <a:noFill/>
          </a:ln>
        </p:spPr>
      </p:pic>
      <p:graphicFrame>
        <p:nvGraphicFramePr>
          <p:cNvPr id="8" name="Content Placeholder 7"/>
          <p:cNvGraphicFramePr>
            <a:graphicFrameLocks noGrp="1"/>
          </p:cNvGraphicFramePr>
          <p:nvPr>
            <p:ph sz="quarter" idx="4"/>
            <p:extLst>
              <p:ext uri="{D42A27DB-BD31-4B8C-83A1-F6EECF244321}">
                <p14:modId xmlns:p14="http://schemas.microsoft.com/office/powerpoint/2010/main" val="433425264"/>
              </p:ext>
            </p:extLst>
          </p:nvPr>
        </p:nvGraphicFramePr>
        <p:xfrm>
          <a:off x="6400006" y="2057400"/>
          <a:ext cx="5387975" cy="39512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263339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52006" y="304800"/>
            <a:ext cx="5386216" cy="639762"/>
          </a:xfrm>
        </p:spPr>
        <p:txBody>
          <a:bodyPr/>
          <a:lstStyle/>
          <a:p>
            <a:pPr algn="ctr"/>
            <a:r>
              <a:rPr lang="en-US" u="sng" dirty="0" err="1" smtClean="0">
                <a:latin typeface="Calisto MT" panose="02040603050505030304" pitchFamily="18" charset="0"/>
              </a:rPr>
              <a:t>RoBERTa</a:t>
            </a:r>
            <a:r>
              <a:rPr lang="en-US" u="sng" dirty="0" smtClean="0">
                <a:latin typeface="Calisto MT" panose="02040603050505030304" pitchFamily="18" charset="0"/>
              </a:rPr>
              <a:t> (Real/Fake) Detection</a:t>
            </a:r>
            <a:endParaRPr lang="en-IN" u="sng" dirty="0">
              <a:latin typeface="Calisto MT" panose="02040603050505030304" pitchFamily="18" charset="0"/>
            </a:endParaRPr>
          </a:p>
        </p:txBody>
      </p:sp>
      <p:graphicFrame>
        <p:nvGraphicFramePr>
          <p:cNvPr id="7" name="Content Placeholder 6"/>
          <p:cNvGraphicFramePr>
            <a:graphicFrameLocks noGrp="1"/>
          </p:cNvGraphicFramePr>
          <p:nvPr>
            <p:ph sz="half" idx="2"/>
            <p:extLst>
              <p:ext uri="{D42A27DB-BD31-4B8C-83A1-F6EECF244321}">
                <p14:modId xmlns:p14="http://schemas.microsoft.com/office/powerpoint/2010/main" val="1762827036"/>
              </p:ext>
            </p:extLst>
          </p:nvPr>
        </p:nvGraphicFramePr>
        <p:xfrm>
          <a:off x="609600" y="1295400"/>
          <a:ext cx="5386388" cy="4830763"/>
        </p:xfrm>
        <a:graphic>
          <a:graphicData uri="http://schemas.openxmlformats.org/drawingml/2006/chart">
            <c:chart xmlns:c="http://schemas.openxmlformats.org/drawingml/2006/chart" xmlns:r="http://schemas.openxmlformats.org/officeDocument/2006/relationships" r:id="rId2"/>
          </a:graphicData>
        </a:graphic>
      </p:graphicFrame>
      <p:pic>
        <p:nvPicPr>
          <p:cNvPr id="8" name="Content Placeholder 7" descr="C:\Users\HP\Documents\Major_Final\Images\Confusion Matrix for Real vs. Fake classification (RoBERTa).png"/>
          <p:cNvPicPr>
            <a:picLocks noGrp="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476206" y="1447801"/>
            <a:ext cx="4852072" cy="4411826"/>
          </a:xfrm>
          <a:prstGeom prst="rect">
            <a:avLst/>
          </a:prstGeom>
          <a:noFill/>
          <a:ln>
            <a:noFill/>
          </a:ln>
        </p:spPr>
      </p:pic>
    </p:spTree>
    <p:extLst>
      <p:ext uri="{BB962C8B-B14F-4D97-AF65-F5344CB8AC3E}">
        <p14:creationId xmlns:p14="http://schemas.microsoft.com/office/powerpoint/2010/main" val="27434295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u="sng" dirty="0" smtClean="0">
                <a:latin typeface="Calisto MT" panose="02040603050505030304" pitchFamily="18" charset="0"/>
              </a:rPr>
              <a:t>Roberta (Disaster/Not) Detection</a:t>
            </a:r>
            <a:endParaRPr lang="en-IN" sz="2400" b="1" u="sng" dirty="0">
              <a:latin typeface="Calisto MT" panose="02040603050505030304" pitchFamily="18" charset="0"/>
            </a:endParaRPr>
          </a:p>
        </p:txBody>
      </p:sp>
      <p:pic>
        <p:nvPicPr>
          <p:cNvPr id="7" name="Content Placeholder 6" descr="C:\Users\HP\Documents\Major_Final\Images\Confusion Matrix for Disaster vs. Non Disaster classification (RoBERTa).png"/>
          <p:cNvPicPr>
            <a:picLocks noGrp="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192838" y="1656031"/>
            <a:ext cx="5387975" cy="4185700"/>
          </a:xfrm>
          <a:prstGeom prst="rect">
            <a:avLst/>
          </a:prstGeom>
          <a:noFill/>
          <a:ln>
            <a:noFill/>
          </a:ln>
        </p:spPr>
      </p:pic>
      <p:graphicFrame>
        <p:nvGraphicFramePr>
          <p:cNvPr id="8" name="Content Placeholder 7"/>
          <p:cNvGraphicFramePr>
            <a:graphicFrameLocks noGrp="1"/>
          </p:cNvGraphicFramePr>
          <p:nvPr>
            <p:ph sz="half" idx="2"/>
            <p:extLst>
              <p:ext uri="{D42A27DB-BD31-4B8C-83A1-F6EECF244321}">
                <p14:modId xmlns:p14="http://schemas.microsoft.com/office/powerpoint/2010/main" val="4019108905"/>
              </p:ext>
            </p:extLst>
          </p:nvPr>
        </p:nvGraphicFramePr>
        <p:xfrm>
          <a:off x="609600" y="1371600"/>
          <a:ext cx="5386388" cy="47545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14891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22" y="274638"/>
            <a:ext cx="10971372" cy="792162"/>
          </a:xfrm>
        </p:spPr>
        <p:txBody>
          <a:bodyPr>
            <a:normAutofit/>
          </a:bodyPr>
          <a:lstStyle/>
          <a:p>
            <a:r>
              <a:rPr lang="en-US" sz="3600" b="1" dirty="0" smtClean="0">
                <a:latin typeface="Calisto MT" panose="02040603050505030304" pitchFamily="18" charset="0"/>
              </a:rPr>
              <a:t>Decision fusion and Quantitative comparison</a:t>
            </a:r>
            <a:endParaRPr lang="en-IN" sz="3600" b="1" dirty="0">
              <a:latin typeface="Calisto MT" panose="0204060305050503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71865186"/>
              </p:ext>
            </p:extLst>
          </p:nvPr>
        </p:nvGraphicFramePr>
        <p:xfrm>
          <a:off x="608806" y="1295401"/>
          <a:ext cx="6553200" cy="3200398"/>
        </p:xfrm>
        <a:graphic>
          <a:graphicData uri="http://schemas.openxmlformats.org/drawingml/2006/table">
            <a:tbl>
              <a:tblPr firstRow="1" bandRow="1">
                <a:tableStyleId>{5940675A-B579-460E-94D1-54222C63F5DA}</a:tableStyleId>
              </a:tblPr>
              <a:tblGrid>
                <a:gridCol w="2184400"/>
                <a:gridCol w="2894330"/>
                <a:gridCol w="1474470"/>
              </a:tblGrid>
              <a:tr h="513272">
                <a:tc>
                  <a:txBody>
                    <a:bodyPr/>
                    <a:lstStyle/>
                    <a:p>
                      <a:pPr algn="ctr">
                        <a:lnSpc>
                          <a:spcPct val="150000"/>
                        </a:lnSpc>
                        <a:spcAft>
                          <a:spcPts val="800"/>
                        </a:spcAft>
                      </a:pPr>
                      <a:r>
                        <a:rPr lang="en-IN" sz="1600" b="1" dirty="0">
                          <a:effectLst/>
                          <a:latin typeface="Times New Roman"/>
                          <a:ea typeface="Calibri"/>
                          <a:cs typeface="Times New Roman"/>
                        </a:rPr>
                        <a:t>Model</a:t>
                      </a:r>
                      <a:endParaRPr lang="en-IN" sz="1600" dirty="0">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b="1" dirty="0">
                          <a:effectLst/>
                          <a:latin typeface="Times New Roman"/>
                          <a:ea typeface="Calibri"/>
                          <a:cs typeface="Times New Roman"/>
                        </a:rPr>
                        <a:t>Task</a:t>
                      </a:r>
                      <a:endParaRPr lang="en-IN" sz="1600" dirty="0">
                        <a:effectLst/>
                        <a:latin typeface="Calibri"/>
                        <a:ea typeface="Calibri"/>
                        <a:cs typeface="Times New Roman"/>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b="1">
                          <a:effectLst/>
                          <a:latin typeface="Times New Roman"/>
                          <a:ea typeface="Calibri"/>
                          <a:cs typeface="Times New Roman"/>
                        </a:rPr>
                        <a:t>Accuracy</a:t>
                      </a:r>
                      <a:endParaRPr lang="en-IN" sz="1600">
                        <a:effectLst/>
                        <a:latin typeface="Calibri"/>
                        <a:ea typeface="Calibri"/>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3272">
                <a:tc>
                  <a:txBody>
                    <a:bodyPr/>
                    <a:lstStyle/>
                    <a:p>
                      <a:pPr algn="ctr">
                        <a:lnSpc>
                          <a:spcPct val="150000"/>
                        </a:lnSpc>
                        <a:spcAft>
                          <a:spcPts val="800"/>
                        </a:spcAft>
                      </a:pPr>
                      <a:r>
                        <a:rPr lang="en-IN" sz="1600">
                          <a:effectLst/>
                          <a:latin typeface="Times New Roman"/>
                          <a:ea typeface="Calibri"/>
                          <a:cs typeface="Times New Roman"/>
                        </a:rPr>
                        <a:t>ResNet50</a:t>
                      </a:r>
                      <a:endParaRPr lang="en-IN" sz="1600">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a:effectLst/>
                          <a:latin typeface="Times New Roman"/>
                          <a:ea typeface="Calibri"/>
                          <a:cs typeface="Times New Roman"/>
                        </a:rPr>
                        <a:t>Disaster Image</a:t>
                      </a:r>
                      <a:endParaRPr lang="en-IN" sz="1600">
                        <a:effectLst/>
                        <a:latin typeface="Calibri"/>
                        <a:ea typeface="Calibri"/>
                        <a:cs typeface="Times New Roman"/>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a:effectLst/>
                          <a:latin typeface="Times New Roman"/>
                          <a:ea typeface="Calibri"/>
                          <a:cs typeface="Times New Roman"/>
                        </a:rPr>
                        <a:t>0.85</a:t>
                      </a:r>
                      <a:endParaRPr lang="en-IN" sz="1600">
                        <a:effectLst/>
                        <a:latin typeface="Calibri"/>
                        <a:ea typeface="Calibri"/>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24618">
                <a:tc>
                  <a:txBody>
                    <a:bodyPr/>
                    <a:lstStyle/>
                    <a:p>
                      <a:pPr algn="ctr">
                        <a:lnSpc>
                          <a:spcPct val="150000"/>
                        </a:lnSpc>
                        <a:spcAft>
                          <a:spcPts val="800"/>
                        </a:spcAft>
                      </a:pPr>
                      <a:r>
                        <a:rPr lang="en-IN" sz="1600">
                          <a:effectLst/>
                          <a:latin typeface="Times New Roman"/>
                          <a:ea typeface="Calibri"/>
                          <a:cs typeface="Times New Roman"/>
                        </a:rPr>
                        <a:t>RoBERTa</a:t>
                      </a:r>
                      <a:endParaRPr lang="en-IN" sz="1600">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a:effectLst/>
                          <a:latin typeface="Times New Roman"/>
                          <a:ea typeface="Calibri"/>
                          <a:cs typeface="Times New Roman"/>
                        </a:rPr>
                        <a:t>Disaster Text (Proposed)</a:t>
                      </a:r>
                      <a:endParaRPr lang="en-IN" sz="1600">
                        <a:effectLst/>
                        <a:latin typeface="Calibri"/>
                        <a:ea typeface="Calibri"/>
                        <a:cs typeface="Times New Roman"/>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dirty="0">
                          <a:effectLst/>
                          <a:latin typeface="Times New Roman"/>
                          <a:ea typeface="Calibri"/>
                          <a:cs typeface="Times New Roman"/>
                        </a:rPr>
                        <a:t>0.8820</a:t>
                      </a:r>
                      <a:endParaRPr lang="en-IN" sz="1600" dirty="0">
                        <a:effectLst/>
                        <a:latin typeface="Calibri"/>
                        <a:ea typeface="Calibri"/>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24618">
                <a:tc>
                  <a:txBody>
                    <a:bodyPr/>
                    <a:lstStyle/>
                    <a:p>
                      <a:pPr algn="ctr">
                        <a:lnSpc>
                          <a:spcPct val="150000"/>
                        </a:lnSpc>
                        <a:spcAft>
                          <a:spcPts val="800"/>
                        </a:spcAft>
                      </a:pPr>
                      <a:r>
                        <a:rPr lang="en-IN" sz="1600">
                          <a:effectLst/>
                          <a:latin typeface="Times New Roman"/>
                          <a:ea typeface="Calibri"/>
                          <a:cs typeface="Times New Roman"/>
                        </a:rPr>
                        <a:t>RoBERTa</a:t>
                      </a:r>
                      <a:endParaRPr lang="en-IN" sz="1600">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dirty="0">
                          <a:effectLst/>
                          <a:latin typeface="Times New Roman"/>
                          <a:ea typeface="Calibri"/>
                          <a:cs typeface="Times New Roman"/>
                        </a:rPr>
                        <a:t>Real/Fake Text (Proposed)</a:t>
                      </a:r>
                      <a:endParaRPr lang="en-IN" sz="1600" dirty="0">
                        <a:effectLst/>
                        <a:latin typeface="Calibri"/>
                        <a:ea typeface="Calibri"/>
                        <a:cs typeface="Times New Roman"/>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dirty="0">
                          <a:effectLst/>
                          <a:latin typeface="Times New Roman"/>
                          <a:ea typeface="Calibri"/>
                          <a:cs typeface="Times New Roman"/>
                        </a:rPr>
                        <a:t>0.8442</a:t>
                      </a:r>
                      <a:endParaRPr lang="en-IN" sz="1600" dirty="0">
                        <a:effectLst/>
                        <a:latin typeface="Calibri"/>
                        <a:ea typeface="Calibri"/>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724618">
                <a:tc>
                  <a:txBody>
                    <a:bodyPr/>
                    <a:lstStyle/>
                    <a:p>
                      <a:pPr algn="ctr">
                        <a:lnSpc>
                          <a:spcPct val="150000"/>
                        </a:lnSpc>
                        <a:spcAft>
                          <a:spcPts val="800"/>
                        </a:spcAft>
                      </a:pPr>
                      <a:r>
                        <a:rPr lang="en-IN" sz="1600">
                          <a:effectLst/>
                          <a:latin typeface="Times New Roman"/>
                          <a:ea typeface="Calibri"/>
                          <a:cs typeface="Times New Roman"/>
                        </a:rPr>
                        <a:t>Fusion</a:t>
                      </a:r>
                      <a:endParaRPr lang="en-IN" sz="1600">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a:effectLst/>
                          <a:latin typeface="Times New Roman"/>
                          <a:ea typeface="Calibri"/>
                          <a:cs typeface="Times New Roman"/>
                        </a:rPr>
                        <a:t>Text+Image (Proposed System)</a:t>
                      </a:r>
                      <a:endParaRPr lang="en-IN" sz="1600">
                        <a:effectLst/>
                        <a:latin typeface="Calibri"/>
                        <a:ea typeface="Calibri"/>
                        <a:cs typeface="Times New Roman"/>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spcAft>
                          <a:spcPts val="800"/>
                        </a:spcAft>
                      </a:pPr>
                      <a:r>
                        <a:rPr lang="en-IN" sz="1600" dirty="0">
                          <a:effectLst/>
                          <a:latin typeface="Times New Roman"/>
                          <a:ea typeface="Calibri"/>
                          <a:cs typeface="Times New Roman"/>
                        </a:rPr>
                        <a:t>0.9050</a:t>
                      </a:r>
                      <a:endParaRPr lang="en-IN" sz="1600" dirty="0">
                        <a:effectLst/>
                        <a:latin typeface="Calibri"/>
                        <a:ea typeface="Calibri"/>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4" name="Picture 3" descr="C:\Users\HP\Documents\Major_Final\Images\Confusion Matrix for Decision Level fusion - Disaster or not and Real or Fake.png"/>
          <p:cNvPicPr/>
          <p:nvPr/>
        </p:nvPicPr>
        <p:blipFill>
          <a:blip r:embed="rId2">
            <a:extLst>
              <a:ext uri="{28A0092B-C50C-407E-A947-70E740481C1C}">
                <a14:useLocalDpi xmlns:a14="http://schemas.microsoft.com/office/drawing/2010/main" val="0"/>
              </a:ext>
            </a:extLst>
          </a:blip>
          <a:srcRect/>
          <a:stretch>
            <a:fillRect/>
          </a:stretch>
        </p:blipFill>
        <p:spPr bwMode="auto">
          <a:xfrm>
            <a:off x="7619206" y="1524000"/>
            <a:ext cx="4267200" cy="4023360"/>
          </a:xfrm>
          <a:prstGeom prst="rect">
            <a:avLst/>
          </a:prstGeom>
          <a:noFill/>
          <a:ln>
            <a:noFill/>
          </a:ln>
        </p:spPr>
      </p:pic>
    </p:spTree>
    <p:extLst>
      <p:ext uri="{BB962C8B-B14F-4D97-AF65-F5344CB8AC3E}">
        <p14:creationId xmlns:p14="http://schemas.microsoft.com/office/powerpoint/2010/main" val="36884280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22" y="457200"/>
            <a:ext cx="10971372" cy="5668967"/>
          </a:xfrm>
        </p:spPr>
        <p:txBody>
          <a:bodyPr>
            <a:normAutofit/>
          </a:bodyPr>
          <a:lstStyle/>
          <a:p>
            <a:pPr marL="0" indent="0" algn="ctr">
              <a:buNone/>
            </a:pPr>
            <a:r>
              <a:rPr lang="en-US" sz="2800" b="1" u="sng" dirty="0" smtClean="0">
                <a:latin typeface="Calisto MT" panose="02040603050505030304" pitchFamily="18" charset="0"/>
              </a:rPr>
              <a:t>CONCLUSION</a:t>
            </a:r>
          </a:p>
          <a:p>
            <a:pPr marL="0" indent="0" algn="just">
              <a:buNone/>
            </a:pPr>
            <a:r>
              <a:rPr lang="en-US" sz="1900" dirty="0" smtClean="0">
                <a:latin typeface="Calisto MT" panose="02040603050505030304" pitchFamily="18" charset="0"/>
              </a:rPr>
              <a:t/>
            </a:r>
            <a:br>
              <a:rPr lang="en-US" sz="1900" dirty="0" smtClean="0">
                <a:latin typeface="Calisto MT" panose="02040603050505030304" pitchFamily="18" charset="0"/>
              </a:rPr>
            </a:br>
            <a:r>
              <a:rPr lang="en-US" sz="1900" dirty="0" smtClean="0">
                <a:latin typeface="Calisto MT" panose="02040603050505030304" pitchFamily="18" charset="0"/>
              </a:rPr>
              <a:t>The </a:t>
            </a:r>
            <a:r>
              <a:rPr lang="en-US" sz="1900" dirty="0">
                <a:latin typeface="Calisto MT" panose="02040603050505030304" pitchFamily="18" charset="0"/>
              </a:rPr>
              <a:t>proposed system develops a multimodal framework for detecting disaster-related and fake social media content using </a:t>
            </a:r>
            <a:r>
              <a:rPr lang="en-US" sz="1900" dirty="0" err="1">
                <a:latin typeface="Calisto MT" panose="02040603050505030304" pitchFamily="18" charset="0"/>
              </a:rPr>
              <a:t>RoBERTa</a:t>
            </a:r>
            <a:r>
              <a:rPr lang="en-US" sz="1900" dirty="0">
                <a:latin typeface="Calisto MT" panose="02040603050505030304" pitchFamily="18" charset="0"/>
              </a:rPr>
              <a:t> for text analysis and ResNet50 for image classification. Decision-level fusion improves prediction reliability by reducing ambiguity compared to unimodal approaches. The integration of location and urgency extraction further enhances its practical usefulness for real-time disaster monitoring and misinformation detection</a:t>
            </a:r>
            <a:r>
              <a:rPr lang="en-US" sz="1900" dirty="0" smtClean="0">
                <a:latin typeface="Calisto MT" panose="02040603050505030304" pitchFamily="18" charset="0"/>
              </a:rPr>
              <a:t>.</a:t>
            </a:r>
          </a:p>
          <a:p>
            <a:pPr marL="0" indent="0" algn="just">
              <a:buNone/>
            </a:pPr>
            <a:endParaRPr lang="en-US" sz="1900" dirty="0">
              <a:latin typeface="Calisto MT" panose="02040603050505030304" pitchFamily="18" charset="0"/>
            </a:endParaRPr>
          </a:p>
          <a:p>
            <a:pPr marL="0" indent="0" algn="ctr">
              <a:buNone/>
            </a:pPr>
            <a:r>
              <a:rPr lang="en-US" sz="2800" b="1" u="sng" dirty="0" smtClean="0">
                <a:latin typeface="Calisto MT" panose="02040603050505030304" pitchFamily="18" charset="0"/>
              </a:rPr>
              <a:t>FUTURE WORK</a:t>
            </a:r>
          </a:p>
          <a:p>
            <a:pPr marL="0" indent="0">
              <a:buNone/>
            </a:pPr>
            <a:endParaRPr lang="en-US" sz="2000" dirty="0" smtClean="0">
              <a:latin typeface="Calisto MT" panose="02040603050505030304" pitchFamily="18" charset="0"/>
            </a:endParaRPr>
          </a:p>
          <a:p>
            <a:r>
              <a:rPr lang="en-US" sz="1900" dirty="0" smtClean="0">
                <a:latin typeface="Calisto MT" panose="02040603050505030304" pitchFamily="18" charset="0"/>
              </a:rPr>
              <a:t>Extend </a:t>
            </a:r>
            <a:r>
              <a:rPr lang="en-US" sz="1900" dirty="0">
                <a:latin typeface="Calisto MT" panose="02040603050505030304" pitchFamily="18" charset="0"/>
              </a:rPr>
              <a:t>the system to work on real-time Twitter data for live disaster monitoring </a:t>
            </a:r>
          </a:p>
          <a:p>
            <a:r>
              <a:rPr lang="en-US" sz="1900" dirty="0">
                <a:latin typeface="Calisto MT" panose="02040603050505030304" pitchFamily="18" charset="0"/>
              </a:rPr>
              <a:t>Improve fusion using advanced methods like attention-based techniques </a:t>
            </a:r>
          </a:p>
          <a:p>
            <a:r>
              <a:rPr lang="en-US" sz="1900" dirty="0">
                <a:latin typeface="Calisto MT" panose="02040603050505030304" pitchFamily="18" charset="0"/>
              </a:rPr>
              <a:t>Use larger and more diverse datasets to improve accuracy and generalization </a:t>
            </a:r>
          </a:p>
          <a:p>
            <a:r>
              <a:rPr lang="en-US" sz="1900" dirty="0">
                <a:latin typeface="Calisto MT" panose="02040603050505030304" pitchFamily="18" charset="0"/>
              </a:rPr>
              <a:t>Add support for video and audio data for better understanding of events </a:t>
            </a:r>
          </a:p>
          <a:p>
            <a:r>
              <a:rPr lang="en-US" sz="1900" dirty="0">
                <a:latin typeface="Calisto MT" panose="02040603050505030304" pitchFamily="18" charset="0"/>
              </a:rPr>
              <a:t>Include explainable AI to make model predictions more transparent </a:t>
            </a:r>
          </a:p>
        </p:txBody>
      </p:sp>
    </p:spTree>
    <p:extLst>
      <p:ext uri="{BB962C8B-B14F-4D97-AF65-F5344CB8AC3E}">
        <p14:creationId xmlns:p14="http://schemas.microsoft.com/office/powerpoint/2010/main" val="21786387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22" y="274638"/>
            <a:ext cx="10971372" cy="792162"/>
          </a:xfrm>
        </p:spPr>
        <p:txBody>
          <a:bodyPr>
            <a:normAutofit/>
          </a:bodyPr>
          <a:lstStyle/>
          <a:p>
            <a:r>
              <a:rPr lang="en-US" sz="4000" b="1" dirty="0" smtClean="0">
                <a:latin typeface="Calisto MT" panose="02040603050505030304" pitchFamily="18" charset="0"/>
              </a:rPr>
              <a:t>References</a:t>
            </a:r>
            <a:endParaRPr lang="en-IN" sz="4000" b="1" dirty="0">
              <a:latin typeface="Calisto MT" panose="02040603050505030304" pitchFamily="18" charset="0"/>
            </a:endParaRPr>
          </a:p>
        </p:txBody>
      </p:sp>
      <p:sp>
        <p:nvSpPr>
          <p:cNvPr id="3" name="Content Placeholder 2"/>
          <p:cNvSpPr>
            <a:spLocks noGrp="1"/>
          </p:cNvSpPr>
          <p:nvPr>
            <p:ph idx="1"/>
          </p:nvPr>
        </p:nvSpPr>
        <p:spPr>
          <a:xfrm>
            <a:off x="608806" y="1066800"/>
            <a:ext cx="10971372" cy="4525963"/>
          </a:xfrm>
        </p:spPr>
        <p:txBody>
          <a:bodyPr>
            <a:noAutofit/>
          </a:bodyPr>
          <a:lstStyle/>
          <a:p>
            <a:pPr marL="0" indent="0" algn="just">
              <a:buNone/>
            </a:pPr>
            <a:r>
              <a:rPr lang="en-US" altLang="en-US" sz="1400" dirty="0">
                <a:latin typeface="Calisto MT" panose="02040603050505030304" pitchFamily="18" charset="0"/>
                <a:cs typeface="Times New Roman" panose="02020603050405020304" charset="0"/>
              </a:rPr>
              <a:t>[1] </a:t>
            </a:r>
            <a:r>
              <a:rPr lang="en-IN" sz="1400" dirty="0" err="1">
                <a:latin typeface="Calisto MT" panose="02040603050505030304" pitchFamily="18" charset="0"/>
              </a:rPr>
              <a:t>Fidan</a:t>
            </a:r>
            <a:r>
              <a:rPr lang="en-IN" sz="1400" dirty="0">
                <a:latin typeface="Calisto MT" panose="02040603050505030304" pitchFamily="18" charset="0"/>
              </a:rPr>
              <a:t>, Ö. A., </a:t>
            </a:r>
            <a:r>
              <a:rPr lang="en-IN" sz="1400" dirty="0" err="1">
                <a:latin typeface="Calisto MT" panose="02040603050505030304" pitchFamily="18" charset="0"/>
              </a:rPr>
              <a:t>Öztürk</a:t>
            </a:r>
            <a:r>
              <a:rPr lang="en-IN" sz="1400" dirty="0">
                <a:latin typeface="Calisto MT" panose="02040603050505030304" pitchFamily="18" charset="0"/>
              </a:rPr>
              <a:t>, E., &amp; </a:t>
            </a:r>
            <a:r>
              <a:rPr lang="en-IN" sz="1400" dirty="0" err="1">
                <a:latin typeface="Calisto MT" panose="02040603050505030304" pitchFamily="18" charset="0"/>
              </a:rPr>
              <a:t>Kantarci</a:t>
            </a:r>
            <a:r>
              <a:rPr lang="en-IN" sz="1400" dirty="0">
                <a:latin typeface="Calisto MT" panose="02040603050505030304" pitchFamily="18" charset="0"/>
              </a:rPr>
              <a:t>, H. (2025). Fake News Detection With Credibility Scoring on Turkish Twitter Data. </a:t>
            </a:r>
            <a:r>
              <a:rPr lang="en-IN" sz="1400" i="1" dirty="0">
                <a:latin typeface="Calisto MT" panose="02040603050505030304" pitchFamily="18" charset="0"/>
              </a:rPr>
              <a:t>IEEE Access</a:t>
            </a:r>
            <a:r>
              <a:rPr lang="en-IN" sz="1400" dirty="0">
                <a:latin typeface="Calisto MT" panose="02040603050505030304" pitchFamily="18" charset="0"/>
              </a:rPr>
              <a:t>.</a:t>
            </a:r>
          </a:p>
          <a:p>
            <a:pPr marL="0" indent="0" algn="just">
              <a:buNone/>
            </a:pPr>
            <a:r>
              <a:rPr lang="en-US" altLang="en-US" sz="1400" dirty="0">
                <a:latin typeface="Calisto MT" panose="02040603050505030304" pitchFamily="18" charset="0"/>
                <a:cs typeface="Times New Roman" panose="02020603050405020304" charset="0"/>
              </a:rPr>
              <a:t>[2] </a:t>
            </a:r>
            <a:r>
              <a:rPr lang="en-US" sz="1400" dirty="0">
                <a:latin typeface="Calisto MT" panose="02040603050505030304" pitchFamily="18" charset="0"/>
              </a:rPr>
              <a:t>Alfonse, M. A. R. C. O., &amp; </a:t>
            </a:r>
            <a:r>
              <a:rPr lang="en-US" sz="1400" dirty="0" err="1">
                <a:latin typeface="Calisto MT" panose="02040603050505030304" pitchFamily="18" charset="0"/>
              </a:rPr>
              <a:t>Gawich</a:t>
            </a:r>
            <a:r>
              <a:rPr lang="en-US" sz="1400" dirty="0">
                <a:latin typeface="Calisto MT" panose="02040603050505030304" pitchFamily="18" charset="0"/>
              </a:rPr>
              <a:t>, M. (2023). Emotions-based disaster tweets classification: real or fake. </a:t>
            </a:r>
            <a:r>
              <a:rPr lang="en-US" sz="1400" i="1" dirty="0">
                <a:latin typeface="Calisto MT" panose="02040603050505030304" pitchFamily="18" charset="0"/>
              </a:rPr>
              <a:t>WSEAS Transactions on Information Science and Applications</a:t>
            </a:r>
            <a:r>
              <a:rPr lang="en-US" sz="1400" dirty="0">
                <a:latin typeface="Calisto MT" panose="02040603050505030304" pitchFamily="18" charset="0"/>
              </a:rPr>
              <a:t>, </a:t>
            </a:r>
            <a:r>
              <a:rPr lang="en-US" sz="1400" i="1" dirty="0">
                <a:latin typeface="Calisto MT" panose="02040603050505030304" pitchFamily="18" charset="0"/>
              </a:rPr>
              <a:t>20</a:t>
            </a:r>
            <a:r>
              <a:rPr lang="en-US" sz="1400" dirty="0">
                <a:latin typeface="Calisto MT" panose="02040603050505030304" pitchFamily="18" charset="0"/>
              </a:rPr>
              <a:t>, 313-321.</a:t>
            </a:r>
          </a:p>
          <a:p>
            <a:pPr marL="0" indent="0" algn="just">
              <a:buNone/>
            </a:pPr>
            <a:r>
              <a:rPr lang="en-US" altLang="en-US" sz="1400" dirty="0">
                <a:latin typeface="Calisto MT" panose="02040603050505030304" pitchFamily="18" charset="0"/>
                <a:cs typeface="Times New Roman" panose="02020603050405020304" charset="0"/>
              </a:rPr>
              <a:t>[3] </a:t>
            </a:r>
            <a:r>
              <a:rPr lang="en-US" sz="1400" dirty="0">
                <a:latin typeface="Calisto MT" panose="02040603050505030304" pitchFamily="18" charset="0"/>
              </a:rPr>
              <a:t>Al-</a:t>
            </a:r>
            <a:r>
              <a:rPr lang="en-US" sz="1400" dirty="0" err="1">
                <a:latin typeface="Calisto MT" panose="02040603050505030304" pitchFamily="18" charset="0"/>
              </a:rPr>
              <a:t>alshaqi</a:t>
            </a:r>
            <a:r>
              <a:rPr lang="en-US" sz="1400" dirty="0">
                <a:latin typeface="Calisto MT" panose="02040603050505030304" pitchFamily="18" charset="0"/>
              </a:rPr>
              <a:t>, M., </a:t>
            </a:r>
            <a:r>
              <a:rPr lang="en-US" sz="1400" dirty="0" err="1">
                <a:latin typeface="Calisto MT" panose="02040603050505030304" pitchFamily="18" charset="0"/>
              </a:rPr>
              <a:t>Rawat</a:t>
            </a:r>
            <a:r>
              <a:rPr lang="en-US" sz="1400" dirty="0">
                <a:latin typeface="Calisto MT" panose="02040603050505030304" pitchFamily="18" charset="0"/>
              </a:rPr>
              <a:t>, D. B., &amp; Liu, C. (2025). A BERT-Based Multimodal Framework for Enhanced Fake News Detection Using Text and Image Data Fusion. </a:t>
            </a:r>
            <a:r>
              <a:rPr lang="en-US" sz="1400" i="1" dirty="0">
                <a:latin typeface="Calisto MT" panose="02040603050505030304" pitchFamily="18" charset="0"/>
              </a:rPr>
              <a:t>Computers</a:t>
            </a:r>
            <a:r>
              <a:rPr lang="en-US" sz="1400" dirty="0">
                <a:latin typeface="Calisto MT" panose="02040603050505030304" pitchFamily="18" charset="0"/>
              </a:rPr>
              <a:t>, </a:t>
            </a:r>
            <a:r>
              <a:rPr lang="en-US" sz="1400" i="1" dirty="0">
                <a:latin typeface="Calisto MT" panose="02040603050505030304" pitchFamily="18" charset="0"/>
              </a:rPr>
              <a:t>14</a:t>
            </a:r>
            <a:r>
              <a:rPr lang="en-US" sz="1400" dirty="0">
                <a:latin typeface="Calisto MT" panose="02040603050505030304" pitchFamily="18" charset="0"/>
              </a:rPr>
              <a:t>(6), 237.</a:t>
            </a:r>
          </a:p>
          <a:p>
            <a:pPr marL="0" indent="0" algn="just">
              <a:buNone/>
            </a:pPr>
            <a:r>
              <a:rPr lang="en-US" altLang="en-US" sz="1400" dirty="0">
                <a:latin typeface="Calisto MT" panose="02040603050505030304" pitchFamily="18" charset="0"/>
                <a:cs typeface="Times New Roman" panose="02020603050405020304" charset="0"/>
              </a:rPr>
              <a:t>[4] </a:t>
            </a:r>
            <a:r>
              <a:rPr lang="en-US" sz="1400" dirty="0">
                <a:latin typeface="Calisto MT" panose="02040603050505030304" pitchFamily="18" charset="0"/>
              </a:rPr>
              <a:t>Apostol, E. S., </a:t>
            </a:r>
            <a:r>
              <a:rPr lang="en-US" sz="1400" dirty="0" err="1">
                <a:latin typeface="Calisto MT" panose="02040603050505030304" pitchFamily="18" charset="0"/>
              </a:rPr>
              <a:t>Truică</a:t>
            </a:r>
            <a:r>
              <a:rPr lang="en-US" sz="1400" dirty="0">
                <a:latin typeface="Calisto MT" panose="02040603050505030304" pitchFamily="18" charset="0"/>
              </a:rPr>
              <a:t>, C. O., &amp; </a:t>
            </a:r>
            <a:r>
              <a:rPr lang="en-US" sz="1400" dirty="0" err="1">
                <a:latin typeface="Calisto MT" panose="02040603050505030304" pitchFamily="18" charset="0"/>
              </a:rPr>
              <a:t>Paschke</a:t>
            </a:r>
            <a:r>
              <a:rPr lang="en-US" sz="1400" dirty="0">
                <a:latin typeface="Calisto MT" panose="02040603050505030304" pitchFamily="18" charset="0"/>
              </a:rPr>
              <a:t>, A. (2024). </a:t>
            </a:r>
            <a:r>
              <a:rPr lang="en-US" sz="1400" dirty="0" err="1">
                <a:latin typeface="Calisto MT" panose="02040603050505030304" pitchFamily="18" charset="0"/>
              </a:rPr>
              <a:t>ContCommRTD</a:t>
            </a:r>
            <a:r>
              <a:rPr lang="en-US" sz="1400" dirty="0">
                <a:latin typeface="Calisto MT" panose="02040603050505030304" pitchFamily="18" charset="0"/>
              </a:rPr>
              <a:t>: A distributed content-based misinformation-aware community detection system for real-time disaster reporting. </a:t>
            </a:r>
            <a:r>
              <a:rPr lang="en-US" sz="1400" i="1" dirty="0">
                <a:latin typeface="Calisto MT" panose="02040603050505030304" pitchFamily="18" charset="0"/>
              </a:rPr>
              <a:t>IEEE Transactions on Knowledge and Data Engineering</a:t>
            </a:r>
            <a:r>
              <a:rPr lang="en-US" sz="1400" dirty="0">
                <a:latin typeface="Calisto MT" panose="02040603050505030304" pitchFamily="18" charset="0"/>
              </a:rPr>
              <a:t>, </a:t>
            </a:r>
            <a:r>
              <a:rPr lang="en-US" sz="1400" i="1" dirty="0">
                <a:latin typeface="Calisto MT" panose="02040603050505030304" pitchFamily="18" charset="0"/>
              </a:rPr>
              <a:t>36</a:t>
            </a:r>
            <a:r>
              <a:rPr lang="en-US" sz="1400" dirty="0">
                <a:latin typeface="Calisto MT" panose="02040603050505030304" pitchFamily="18" charset="0"/>
              </a:rPr>
              <a:t>(11), 5811-5822.</a:t>
            </a:r>
          </a:p>
          <a:p>
            <a:pPr marL="0" indent="0" algn="just">
              <a:buNone/>
            </a:pPr>
            <a:r>
              <a:rPr lang="en-US" sz="1400" dirty="0">
                <a:latin typeface="Calisto MT" panose="02040603050505030304" pitchFamily="18" charset="0"/>
              </a:rPr>
              <a:t>[5] Song, G., &amp; Huang, D. (2021). A sentiment-aware contextual model for real-time disaster prediction using twitter data. </a:t>
            </a:r>
            <a:r>
              <a:rPr lang="en-US" sz="1400" i="1" dirty="0">
                <a:latin typeface="Calisto MT" panose="02040603050505030304" pitchFamily="18" charset="0"/>
              </a:rPr>
              <a:t>Future Internet</a:t>
            </a:r>
            <a:r>
              <a:rPr lang="en-US" sz="1400" dirty="0">
                <a:latin typeface="Calisto MT" panose="02040603050505030304" pitchFamily="18" charset="0"/>
              </a:rPr>
              <a:t>, </a:t>
            </a:r>
            <a:r>
              <a:rPr lang="en-US" sz="1400" i="1" dirty="0">
                <a:latin typeface="Calisto MT" panose="02040603050505030304" pitchFamily="18" charset="0"/>
              </a:rPr>
              <a:t>13</a:t>
            </a:r>
            <a:r>
              <a:rPr lang="en-US" sz="1400" dirty="0">
                <a:latin typeface="Calisto MT" panose="02040603050505030304" pitchFamily="18" charset="0"/>
              </a:rPr>
              <a:t>(7), 163.</a:t>
            </a:r>
          </a:p>
          <a:p>
            <a:pPr marL="0" indent="0" algn="just">
              <a:buNone/>
            </a:pPr>
            <a:r>
              <a:rPr lang="en-US" sz="1400" dirty="0">
                <a:latin typeface="Calisto MT" panose="02040603050505030304" pitchFamily="18" charset="0"/>
              </a:rPr>
              <a:t>[6]</a:t>
            </a:r>
            <a:r>
              <a:rPr lang="en-US" sz="1400" dirty="0" err="1">
                <a:latin typeface="Calisto MT" panose="02040603050505030304" pitchFamily="18" charset="0"/>
              </a:rPr>
              <a:t>NicoleMichelle</a:t>
            </a:r>
            <a:r>
              <a:rPr lang="en-US" sz="1400" dirty="0">
                <a:latin typeface="Calisto MT" panose="02040603050505030304" pitchFamily="18" charset="0"/>
              </a:rPr>
              <a:t>. (</a:t>
            </a:r>
            <a:r>
              <a:rPr lang="en-US" sz="1400" dirty="0" err="1">
                <a:latin typeface="Calisto MT" panose="02040603050505030304" pitchFamily="18" charset="0"/>
              </a:rPr>
              <a:t>n.d.</a:t>
            </a:r>
            <a:r>
              <a:rPr lang="en-US" sz="1400" dirty="0">
                <a:latin typeface="Calisto MT" panose="02040603050505030304" pitchFamily="18" charset="0"/>
              </a:rPr>
              <a:t>). PHEME dataset for </a:t>
            </a:r>
            <a:r>
              <a:rPr lang="en-US" sz="1400" dirty="0" err="1">
                <a:latin typeface="Calisto MT" panose="02040603050505030304" pitchFamily="18" charset="0"/>
              </a:rPr>
              <a:t>rumour</a:t>
            </a:r>
            <a:r>
              <a:rPr lang="en-US" sz="1400" dirty="0">
                <a:latin typeface="Calisto MT" panose="02040603050505030304" pitchFamily="18" charset="0"/>
              </a:rPr>
              <a:t> detection [Data set]. </a:t>
            </a:r>
            <a:r>
              <a:rPr lang="en-US" sz="1400" dirty="0" err="1">
                <a:latin typeface="Calisto MT" panose="02040603050505030304" pitchFamily="18" charset="0"/>
              </a:rPr>
              <a:t>Kaggle</a:t>
            </a:r>
            <a:r>
              <a:rPr lang="en-US" sz="1400" dirty="0">
                <a:latin typeface="Calisto MT" panose="02040603050505030304" pitchFamily="18" charset="0"/>
              </a:rPr>
              <a:t>. https://www.kaggle.com/datasets/nicolemichelle/pheme-dataset-for-rumour-detection </a:t>
            </a:r>
          </a:p>
          <a:p>
            <a:pPr marL="0" indent="0" algn="just">
              <a:buNone/>
            </a:pPr>
            <a:r>
              <a:rPr lang="en-US" sz="1400" dirty="0">
                <a:latin typeface="Calisto MT" panose="02040603050505030304" pitchFamily="18" charset="0"/>
              </a:rPr>
              <a:t>[7] </a:t>
            </a:r>
            <a:r>
              <a:rPr lang="en-US" sz="1400" dirty="0" err="1">
                <a:latin typeface="Calisto MT" panose="02040603050505030304" pitchFamily="18" charset="0"/>
              </a:rPr>
              <a:t>Imolu</a:t>
            </a:r>
            <a:r>
              <a:rPr lang="en-US" sz="1400" dirty="0">
                <a:latin typeface="Calisto MT" panose="02040603050505030304" pitchFamily="18" charset="0"/>
              </a:rPr>
              <a:t>, M. (2020). Disaster tweets dataset [Data set]. </a:t>
            </a:r>
            <a:r>
              <a:rPr lang="en-US" sz="1400" dirty="0" err="1">
                <a:latin typeface="Calisto MT" panose="02040603050505030304" pitchFamily="18" charset="0"/>
              </a:rPr>
              <a:t>Kaggle</a:t>
            </a:r>
            <a:r>
              <a:rPr lang="en-US" sz="1400" dirty="0">
                <a:latin typeface="Calisto MT" panose="02040603050505030304" pitchFamily="18" charset="0"/>
              </a:rPr>
              <a:t>. https://www.kaggle.com/datasets/aslemimolu/disaster-tweets-dataset </a:t>
            </a:r>
          </a:p>
          <a:p>
            <a:pPr marL="0" indent="0" algn="just">
              <a:buNone/>
            </a:pPr>
            <a:r>
              <a:rPr lang="en-US" sz="1400" dirty="0">
                <a:latin typeface="Calisto MT" panose="02040603050505030304" pitchFamily="18" charset="0"/>
              </a:rPr>
              <a:t>[8] </a:t>
            </a:r>
            <a:r>
              <a:rPr lang="en-US" sz="1400" dirty="0" err="1">
                <a:latin typeface="Calisto MT" panose="02040603050505030304" pitchFamily="18" charset="0"/>
              </a:rPr>
              <a:t>Bhute</a:t>
            </a:r>
            <a:r>
              <a:rPr lang="en-US" sz="1400" dirty="0">
                <a:latin typeface="Calisto MT" panose="02040603050505030304" pitchFamily="18" charset="0"/>
              </a:rPr>
              <a:t>, S. (2021). Hackathon disaster tweet dataset [Data set]. </a:t>
            </a:r>
            <a:r>
              <a:rPr lang="en-US" sz="1400" dirty="0" err="1">
                <a:latin typeface="Calisto MT" panose="02040603050505030304" pitchFamily="18" charset="0"/>
              </a:rPr>
              <a:t>Kaggle</a:t>
            </a:r>
            <a:r>
              <a:rPr lang="en-US" sz="1400" dirty="0">
                <a:latin typeface="Calisto MT" panose="02040603050505030304" pitchFamily="18" charset="0"/>
              </a:rPr>
              <a:t>. https://www.kaggle.com/datasets/sanjanabhute03/hackathon-disaste-tweet </a:t>
            </a:r>
          </a:p>
          <a:p>
            <a:pPr marL="0" indent="0" algn="just">
              <a:buNone/>
            </a:pPr>
            <a:r>
              <a:rPr lang="en-US" sz="1400" dirty="0">
                <a:latin typeface="Calisto MT" panose="02040603050505030304" pitchFamily="18" charset="0"/>
              </a:rPr>
              <a:t>[9]Roy, R. (2021). Cyclone, wildfire, flood &amp; earthquake image database [Data set]. </a:t>
            </a:r>
            <a:r>
              <a:rPr lang="en-US" sz="1400" dirty="0" err="1">
                <a:latin typeface="Calisto MT" panose="02040603050505030304" pitchFamily="18" charset="0"/>
              </a:rPr>
              <a:t>Kaggle</a:t>
            </a:r>
            <a:r>
              <a:rPr lang="en-US" sz="1400" dirty="0">
                <a:latin typeface="Calisto MT" panose="02040603050505030304" pitchFamily="18" charset="0"/>
              </a:rPr>
              <a:t>. https://www.kaggle.com/datasets/rupakroy/cyclone-wildfire-flood-earthquake-database </a:t>
            </a:r>
          </a:p>
          <a:p>
            <a:pPr marL="0" indent="0" algn="just">
              <a:buNone/>
            </a:pPr>
            <a:r>
              <a:rPr lang="en-US" sz="1400" dirty="0">
                <a:latin typeface="Calisto MT" panose="02040603050505030304" pitchFamily="18" charset="0"/>
              </a:rPr>
              <a:t>[10] </a:t>
            </a:r>
            <a:r>
              <a:rPr lang="en-US" sz="1400" dirty="0" err="1">
                <a:latin typeface="Calisto MT" panose="02040603050505030304" pitchFamily="18" charset="0"/>
              </a:rPr>
              <a:t>Varpit</a:t>
            </a:r>
            <a:r>
              <a:rPr lang="en-US" sz="1400" dirty="0">
                <a:latin typeface="Calisto MT" panose="02040603050505030304" pitchFamily="18" charset="0"/>
              </a:rPr>
              <a:t>, V. (2020). Disaster images dataset (Comprehensive Disaster Dataset)  [Data set]. </a:t>
            </a:r>
            <a:r>
              <a:rPr lang="en-US" sz="1400" dirty="0" err="1">
                <a:latin typeface="Calisto MT" panose="02040603050505030304" pitchFamily="18" charset="0"/>
              </a:rPr>
              <a:t>Kaggle</a:t>
            </a:r>
            <a:r>
              <a:rPr lang="en-US" sz="1400" dirty="0">
                <a:latin typeface="Calisto MT" panose="02040603050505030304" pitchFamily="18" charset="0"/>
              </a:rPr>
              <a:t>. </a:t>
            </a:r>
            <a:r>
              <a:rPr lang="en-US" sz="1400" dirty="0">
                <a:latin typeface="Calisto MT" panose="02040603050505030304" pitchFamily="18" charset="0"/>
                <a:hlinkClick r:id="rId2"/>
              </a:rPr>
              <a:t>https://www.kaggle.com/datasets/varpit94/disaster-images-dataset</a:t>
            </a:r>
            <a:endParaRPr lang="en-US" sz="1400" dirty="0">
              <a:latin typeface="Calisto MT" panose="02040603050505030304" pitchFamily="18" charset="0"/>
            </a:endParaRPr>
          </a:p>
          <a:p>
            <a:pPr marL="0" indent="0" algn="just">
              <a:buNone/>
            </a:pPr>
            <a:r>
              <a:rPr lang="en-US" sz="1400" dirty="0">
                <a:latin typeface="Calisto MT" panose="02040603050505030304" pitchFamily="18" charset="0"/>
              </a:rPr>
              <a:t>[11] </a:t>
            </a:r>
            <a:r>
              <a:rPr lang="en-US" sz="1400" dirty="0" err="1">
                <a:latin typeface="Calisto MT" panose="02040603050505030304" pitchFamily="18" charset="0"/>
              </a:rPr>
              <a:t>Babula</a:t>
            </a:r>
            <a:r>
              <a:rPr lang="en-US" sz="1400" dirty="0">
                <a:latin typeface="Calisto MT" panose="02040603050505030304" pitchFamily="18" charset="0"/>
              </a:rPr>
              <a:t>, M. (2021). Disaster images dataset for CNN-based disaster detection  [Data set]. </a:t>
            </a:r>
            <a:r>
              <a:rPr lang="en-US" sz="1400" dirty="0" err="1">
                <a:latin typeface="Calisto MT" panose="02040603050505030304" pitchFamily="18" charset="0"/>
              </a:rPr>
              <a:t>Kaggle</a:t>
            </a:r>
            <a:r>
              <a:rPr lang="en-US" sz="1400" dirty="0">
                <a:latin typeface="Calisto MT" panose="02040603050505030304" pitchFamily="18" charset="0"/>
              </a:rPr>
              <a:t>. https://www.kaggle.com/datasets/mikolajbabula/disaster-images-dataset-cnn-model </a:t>
            </a:r>
          </a:p>
          <a:p>
            <a:pPr marL="0" indent="0" algn="just">
              <a:buNone/>
            </a:pPr>
            <a:r>
              <a:rPr lang="en-US" sz="1400" dirty="0">
                <a:latin typeface="Calisto MT" panose="02040603050505030304" pitchFamily="18" charset="0"/>
              </a:rPr>
              <a:t>[12] </a:t>
            </a:r>
            <a:r>
              <a:rPr lang="en-US" sz="1400" dirty="0" err="1">
                <a:latin typeface="Calisto MT" panose="02040603050505030304" pitchFamily="18" charset="0"/>
              </a:rPr>
              <a:t>Kabeer</a:t>
            </a:r>
            <a:r>
              <a:rPr lang="en-US" sz="1400" dirty="0">
                <a:latin typeface="Calisto MT" panose="02040603050505030304" pitchFamily="18" charset="0"/>
              </a:rPr>
              <a:t>, M. (2022). Flood images for training disaster detection models [Data set]. </a:t>
            </a:r>
            <a:r>
              <a:rPr lang="en-US" sz="1400" dirty="0" err="1">
                <a:latin typeface="Calisto MT" panose="02040603050505030304" pitchFamily="18" charset="0"/>
              </a:rPr>
              <a:t>Kaggle</a:t>
            </a:r>
            <a:r>
              <a:rPr lang="en-US" sz="1400" dirty="0">
                <a:latin typeface="Calisto MT" panose="02040603050505030304" pitchFamily="18" charset="0"/>
              </a:rPr>
              <a:t>. </a:t>
            </a:r>
            <a:r>
              <a:rPr lang="en-US" sz="1400" dirty="0">
                <a:latin typeface="Calisto MT" panose="02040603050505030304" pitchFamily="18" charset="0"/>
                <a:hlinkClick r:id="rId3"/>
              </a:rPr>
              <a:t>https://www.kaggle.com/datasets/kabeer2004/flood-images-for-training</a:t>
            </a:r>
            <a:r>
              <a:rPr lang="en-US" sz="1400" dirty="0">
                <a:latin typeface="Calisto MT" panose="02040603050505030304" pitchFamily="18" charset="0"/>
              </a:rPr>
              <a:t> </a:t>
            </a:r>
            <a:r>
              <a:rPr lang="en-US" sz="1400" dirty="0" smtClean="0">
                <a:latin typeface="Calisto MT" panose="02040603050505030304" pitchFamily="18" charset="0"/>
              </a:rPr>
              <a:t>disaster-detection-model</a:t>
            </a:r>
            <a:endParaRPr lang="en-US" sz="1400" dirty="0">
              <a:latin typeface="Calisto MT" panose="02040603050505030304" pitchFamily="18" charset="0"/>
            </a:endParaRPr>
          </a:p>
        </p:txBody>
      </p:sp>
    </p:spTree>
    <p:extLst>
      <p:ext uri="{BB962C8B-B14F-4D97-AF65-F5344CB8AC3E}">
        <p14:creationId xmlns:p14="http://schemas.microsoft.com/office/powerpoint/2010/main" val="3328198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28206" y="685800"/>
            <a:ext cx="5386216" cy="457200"/>
          </a:xfrm>
        </p:spPr>
        <p:txBody>
          <a:bodyPr/>
          <a:lstStyle/>
          <a:p>
            <a:pPr algn="ctr"/>
            <a:r>
              <a:rPr lang="en-US" dirty="0" err="1" smtClean="0">
                <a:latin typeface="Calisto MT" panose="02040603050505030304" pitchFamily="18" charset="0"/>
              </a:rPr>
              <a:t>RoBERTa</a:t>
            </a:r>
            <a:endParaRPr lang="en-IN" dirty="0">
              <a:latin typeface="Calisto MT" panose="02040603050505030304" pitchFamily="18" charset="0"/>
            </a:endParaRPr>
          </a:p>
        </p:txBody>
      </p:sp>
      <p:sp>
        <p:nvSpPr>
          <p:cNvPr id="4" name="Content Placeholder 3"/>
          <p:cNvSpPr>
            <a:spLocks noGrp="1"/>
          </p:cNvSpPr>
          <p:nvPr>
            <p:ph sz="half" idx="2"/>
          </p:nvPr>
        </p:nvSpPr>
        <p:spPr>
          <a:xfrm>
            <a:off x="1828006" y="1219200"/>
            <a:ext cx="8762284" cy="4449763"/>
          </a:xfrm>
        </p:spPr>
        <p:txBody>
          <a:bodyPr>
            <a:noAutofit/>
          </a:bodyPr>
          <a:lstStyle/>
          <a:p>
            <a:pPr marL="0" indent="0">
              <a:buNone/>
            </a:pPr>
            <a:r>
              <a:rPr lang="vi-VN" sz="1400" dirty="0">
                <a:latin typeface="Calisto MT" panose="02040603050505030304" pitchFamily="18" charset="0"/>
              </a:rPr>
              <a:t>1. Define Hyperparameters:</a:t>
            </a:r>
          </a:p>
          <a:p>
            <a:pPr marL="0" indent="0">
              <a:buNone/>
            </a:pPr>
            <a:r>
              <a:rPr lang="vi-VN" sz="1400" dirty="0">
                <a:latin typeface="Calisto MT" panose="02040603050505030304" pitchFamily="18" charset="0"/>
              </a:rPr>
              <a:t>   mask_prob = p</a:t>
            </a:r>
          </a:p>
          <a:p>
            <a:pPr marL="0" indent="0">
              <a:buNone/>
            </a:pPr>
            <a:r>
              <a:rPr lang="vi-VN" sz="1400" dirty="0">
                <a:latin typeface="Calisto MT" panose="02040603050505030304" pitchFamily="18" charset="0"/>
              </a:rPr>
              <a:t>   learning_rate = </a:t>
            </a:r>
            <a:r>
              <a:rPr lang="el-GR" sz="1400" dirty="0">
                <a:latin typeface="Calisto MT" panose="02040603050505030304" pitchFamily="18" charset="0"/>
              </a:rPr>
              <a:t>η</a:t>
            </a:r>
          </a:p>
          <a:p>
            <a:pPr marL="0" indent="0">
              <a:buNone/>
            </a:pPr>
            <a:r>
              <a:rPr lang="el-GR" sz="1400" dirty="0">
                <a:latin typeface="Calisto MT" panose="02040603050505030304" pitchFamily="18" charset="0"/>
              </a:rPr>
              <a:t>   </a:t>
            </a:r>
            <a:r>
              <a:rPr lang="vi-VN" sz="1400" dirty="0">
                <a:latin typeface="Calisto MT" panose="02040603050505030304" pitchFamily="18" charset="0"/>
              </a:rPr>
              <a:t>epochs = </a:t>
            </a:r>
            <a:r>
              <a:rPr lang="vi-VN" sz="1400" dirty="0" smtClean="0">
                <a:latin typeface="Calisto MT" panose="02040603050505030304" pitchFamily="18" charset="0"/>
              </a:rPr>
              <a:t>N</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2. Given corpus D = {x₁, x₂, ..., xₙ</a:t>
            </a:r>
            <a:r>
              <a:rPr lang="vi-VN" sz="1400" dirty="0" smtClean="0">
                <a:latin typeface="Calisto MT" panose="02040603050505030304" pitchFamily="18" charset="0"/>
              </a:rPr>
              <a:t>}</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3. Tokenization:</a:t>
            </a:r>
          </a:p>
          <a:p>
            <a:pPr marL="0" indent="0">
              <a:buNone/>
            </a:pPr>
            <a:r>
              <a:rPr lang="vi-VN" sz="1400" dirty="0">
                <a:latin typeface="Calisto MT" panose="02040603050505030304" pitchFamily="18" charset="0"/>
              </a:rPr>
              <a:t>   Convert each sentence x → token sequence (t₁, t₂, ..., tₖ</a:t>
            </a:r>
            <a:r>
              <a:rPr lang="vi-VN" sz="1400" dirty="0" smtClean="0">
                <a:latin typeface="Calisto MT" panose="02040603050505030304" pitchFamily="18" charset="0"/>
              </a:rPr>
              <a:t>)</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4. Dynamic Masking:</a:t>
            </a:r>
          </a:p>
          <a:p>
            <a:pPr marL="0" indent="0">
              <a:buNone/>
            </a:pPr>
            <a:r>
              <a:rPr lang="vi-VN" sz="1400" dirty="0">
                <a:latin typeface="Calisto MT" panose="02040603050505030304" pitchFamily="18" charset="0"/>
              </a:rPr>
              <a:t>   Select subset M ⊂ {1,...,k} where each token is chosen with probability </a:t>
            </a:r>
            <a:r>
              <a:rPr lang="vi-VN" sz="1400" dirty="0" smtClean="0">
                <a:latin typeface="Calisto MT" panose="02040603050505030304" pitchFamily="18" charset="0"/>
              </a:rPr>
              <a:t>p</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5. Initialize model parameters </a:t>
            </a:r>
            <a:r>
              <a:rPr lang="el-GR" sz="1400" dirty="0" smtClean="0">
                <a:latin typeface="Calisto MT" panose="02040603050505030304" pitchFamily="18" charset="0"/>
              </a:rPr>
              <a:t>θ</a:t>
            </a:r>
            <a:endParaRPr lang="el-GR" sz="1400" dirty="0">
              <a:latin typeface="Calisto MT" panose="02040603050505030304" pitchFamily="18" charset="0"/>
            </a:endParaRPr>
          </a:p>
          <a:p>
            <a:pPr marL="0" indent="0">
              <a:buNone/>
            </a:pPr>
            <a:r>
              <a:rPr lang="el-GR" sz="1400" dirty="0">
                <a:latin typeface="Calisto MT" panose="02040603050505030304" pitchFamily="18" charset="0"/>
              </a:rPr>
              <a:t>6. </a:t>
            </a:r>
            <a:r>
              <a:rPr lang="vi-VN" sz="1400" dirty="0">
                <a:latin typeface="Calisto MT" panose="02040603050505030304" pitchFamily="18" charset="0"/>
              </a:rPr>
              <a:t>For each epoch:</a:t>
            </a:r>
          </a:p>
          <a:p>
            <a:pPr marL="0" indent="0">
              <a:buNone/>
            </a:pPr>
            <a:r>
              <a:rPr lang="vi-VN" sz="1400" dirty="0">
                <a:latin typeface="Calisto MT" panose="02040603050505030304" pitchFamily="18" charset="0"/>
              </a:rPr>
              <a:t>      For each sequence (t₁,...,tₖ</a:t>
            </a:r>
            <a:r>
              <a:rPr lang="vi-VN" sz="1400" dirty="0" smtClean="0">
                <a:latin typeface="Calisto MT" panose="02040603050505030304" pitchFamily="18" charset="0"/>
              </a:rPr>
              <a:t>):</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         Create masked sequence t̃ by masking positions in </a:t>
            </a:r>
            <a:r>
              <a:rPr lang="vi-VN" sz="1400" dirty="0" smtClean="0">
                <a:latin typeface="Calisto MT" panose="02040603050505030304" pitchFamily="18" charset="0"/>
              </a:rPr>
              <a:t>M</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         Compute contextual representations:</a:t>
            </a:r>
          </a:p>
          <a:p>
            <a:pPr marL="0" indent="0">
              <a:buNone/>
            </a:pPr>
            <a:r>
              <a:rPr lang="vi-VN" sz="1400" dirty="0">
                <a:latin typeface="Calisto MT" panose="02040603050505030304" pitchFamily="18" charset="0"/>
              </a:rPr>
              <a:t>            h = Transformer(t̃; </a:t>
            </a:r>
            <a:r>
              <a:rPr lang="el-GR" sz="1400" dirty="0">
                <a:latin typeface="Calisto MT" panose="02040603050505030304" pitchFamily="18" charset="0"/>
              </a:rPr>
              <a:t>θ</a:t>
            </a:r>
            <a:r>
              <a:rPr lang="el-GR" sz="1400" dirty="0" smtClean="0">
                <a:latin typeface="Calisto MT" panose="02040603050505030304" pitchFamily="18" charset="0"/>
              </a:rPr>
              <a:t>)</a:t>
            </a:r>
            <a:endParaRPr lang="el-GR" sz="1400" dirty="0">
              <a:latin typeface="Calisto MT" panose="02040603050505030304" pitchFamily="18" charset="0"/>
            </a:endParaRPr>
          </a:p>
          <a:p>
            <a:pPr marL="0" indent="0">
              <a:buNone/>
            </a:pPr>
            <a:r>
              <a:rPr lang="el-GR" sz="1400" dirty="0">
                <a:latin typeface="Calisto MT" panose="02040603050505030304" pitchFamily="18" charset="0"/>
              </a:rPr>
              <a:t>         </a:t>
            </a:r>
            <a:r>
              <a:rPr lang="vi-VN" sz="1400" dirty="0">
                <a:latin typeface="Calisto MT" panose="02040603050505030304" pitchFamily="18" charset="0"/>
              </a:rPr>
              <a:t>Compute probability distribution:</a:t>
            </a:r>
          </a:p>
          <a:p>
            <a:pPr marL="0" indent="0">
              <a:buNone/>
            </a:pPr>
            <a:r>
              <a:rPr lang="vi-VN" sz="1400" dirty="0">
                <a:latin typeface="Calisto MT" panose="02040603050505030304" pitchFamily="18" charset="0"/>
              </a:rPr>
              <a:t>            </a:t>
            </a:r>
            <a:r>
              <a:rPr lang="vi-VN" sz="1400" dirty="0" smtClean="0">
                <a:latin typeface="Calisto MT" panose="02040603050505030304" pitchFamily="18" charset="0"/>
              </a:rPr>
              <a:t>P(w</a:t>
            </a:r>
            <a:r>
              <a:rPr lang="en-US" sz="1400" baseline="-25000" dirty="0" err="1">
                <a:latin typeface="Calisto MT" panose="02040603050505030304" pitchFamily="18" charset="0"/>
              </a:rPr>
              <a:t>i</a:t>
            </a:r>
            <a:r>
              <a:rPr lang="vi-VN" sz="1400" dirty="0" smtClean="0">
                <a:latin typeface="Calisto MT" panose="02040603050505030304" pitchFamily="18" charset="0"/>
              </a:rPr>
              <a:t> </a:t>
            </a:r>
            <a:r>
              <a:rPr lang="vi-VN" sz="1400" dirty="0">
                <a:latin typeface="Calisto MT" panose="02040603050505030304" pitchFamily="18" charset="0"/>
              </a:rPr>
              <a:t>| context) = </a:t>
            </a:r>
            <a:r>
              <a:rPr lang="vi-VN" sz="1400" dirty="0" smtClean="0">
                <a:latin typeface="Calisto MT" panose="02040603050505030304" pitchFamily="18" charset="0"/>
              </a:rPr>
              <a:t>softmax(h</a:t>
            </a:r>
            <a:r>
              <a:rPr lang="en-US" sz="1400" baseline="-25000" dirty="0" err="1">
                <a:latin typeface="Calisto MT" panose="02040603050505030304" pitchFamily="18" charset="0"/>
              </a:rPr>
              <a:t>i</a:t>
            </a:r>
            <a:r>
              <a:rPr lang="vi-VN" sz="1400" dirty="0" smtClean="0">
                <a:latin typeface="Calisto MT" panose="02040603050505030304" pitchFamily="18" charset="0"/>
              </a:rPr>
              <a:t>)</a:t>
            </a:r>
            <a:endParaRPr lang="vi-VN" sz="1400" dirty="0">
              <a:latin typeface="Calisto MT" panose="02040603050505030304" pitchFamily="18" charset="0"/>
            </a:endParaRPr>
          </a:p>
          <a:p>
            <a:pPr marL="0" indent="0">
              <a:buNone/>
            </a:pPr>
            <a:r>
              <a:rPr lang="vi-VN" sz="1400" dirty="0">
                <a:latin typeface="Calisto MT" panose="02040603050505030304" pitchFamily="18" charset="0"/>
              </a:rPr>
              <a:t>         Compute MLM Loss</a:t>
            </a:r>
            <a:r>
              <a:rPr lang="vi-VN" sz="1400" dirty="0" smtClean="0">
                <a:latin typeface="Calisto MT" panose="02040603050505030304" pitchFamily="18" charset="0"/>
              </a:rPr>
              <a:t>:</a:t>
            </a:r>
            <a:endParaRPr lang="en-US" sz="1400" dirty="0" smtClean="0">
              <a:latin typeface="Calisto MT" panose="02040603050505030304" pitchFamily="18" charset="0"/>
            </a:endParaRPr>
          </a:p>
          <a:p>
            <a:pPr marL="0" indent="0">
              <a:buNone/>
            </a:pPr>
            <a:r>
              <a:rPr lang="en-US" sz="1400" dirty="0">
                <a:latin typeface="Calisto MT" panose="02040603050505030304" pitchFamily="18" charset="0"/>
              </a:rPr>
              <a:t>	</a:t>
            </a:r>
            <a:r>
              <a:rPr lang="en-US" sz="1400" b="1" dirty="0">
                <a:latin typeface="Calisto MT" panose="02040603050505030304" pitchFamily="18" charset="0"/>
              </a:rPr>
              <a:t>L(</a:t>
            </a:r>
            <a:r>
              <a:rPr lang="el-GR" sz="1400" b="1" dirty="0">
                <a:latin typeface="Calisto MT" panose="02040603050505030304" pitchFamily="18" charset="0"/>
              </a:rPr>
              <a:t>θ)=−∑</a:t>
            </a:r>
            <a:r>
              <a:rPr lang="en-US" sz="1400" b="1" baseline="-25000" dirty="0" err="1">
                <a:latin typeface="Calisto MT" panose="02040603050505030304" pitchFamily="18" charset="0"/>
              </a:rPr>
              <a:t>i∈M</a:t>
            </a:r>
            <a:r>
              <a:rPr lang="en-US" sz="1400" b="1" baseline="-25000" dirty="0">
                <a:latin typeface="Calisto MT" panose="02040603050505030304" pitchFamily="18" charset="0"/>
              </a:rPr>
              <a:t>​</a:t>
            </a:r>
            <a:r>
              <a:rPr lang="en-US" sz="1400" b="1" dirty="0" err="1">
                <a:latin typeface="Calisto MT" panose="02040603050505030304" pitchFamily="18" charset="0"/>
              </a:rPr>
              <a:t>logP</a:t>
            </a:r>
            <a:r>
              <a:rPr lang="en-US" sz="1400" b="1" dirty="0">
                <a:latin typeface="Calisto MT" panose="02040603050505030304" pitchFamily="18" charset="0"/>
              </a:rPr>
              <a:t>(</a:t>
            </a:r>
            <a:r>
              <a:rPr lang="en-US" sz="1400" b="1" dirty="0" err="1">
                <a:latin typeface="Calisto MT" panose="02040603050505030304" pitchFamily="18" charset="0"/>
              </a:rPr>
              <a:t>w</a:t>
            </a:r>
            <a:r>
              <a:rPr lang="en-US" sz="1400" b="1" baseline="-25000" dirty="0" err="1">
                <a:latin typeface="Calisto MT" panose="02040603050505030304" pitchFamily="18" charset="0"/>
              </a:rPr>
              <a:t>i</a:t>
            </a:r>
            <a:r>
              <a:rPr lang="en-US" sz="1400" b="1" dirty="0" smtClean="0">
                <a:latin typeface="Calisto MT" panose="02040603050505030304" pitchFamily="18" charset="0"/>
              </a:rPr>
              <a:t>​∣</a:t>
            </a:r>
            <a:r>
              <a:rPr lang="vi-VN" sz="1400" b="1" dirty="0">
                <a:latin typeface="Calisto MT" panose="02040603050505030304" pitchFamily="18" charset="0"/>
              </a:rPr>
              <a:t>t̃</a:t>
            </a:r>
            <a:r>
              <a:rPr lang="en-US" sz="1400" b="1" dirty="0" smtClean="0">
                <a:latin typeface="Calisto MT" panose="02040603050505030304" pitchFamily="18" charset="0"/>
              </a:rPr>
              <a:t>)</a:t>
            </a:r>
          </a:p>
          <a:p>
            <a:pPr marL="0" indent="0">
              <a:buNone/>
            </a:pPr>
            <a:r>
              <a:rPr lang="en-IN" sz="1400" dirty="0">
                <a:latin typeface="Calisto MT" panose="02040603050505030304" pitchFamily="18" charset="0"/>
              </a:rPr>
              <a:t>  </a:t>
            </a:r>
            <a:r>
              <a:rPr lang="en-IN" sz="1400" dirty="0" smtClean="0">
                <a:latin typeface="Calisto MT" panose="02040603050505030304" pitchFamily="18" charset="0"/>
              </a:rPr>
              <a:t>       Update </a:t>
            </a:r>
            <a:r>
              <a:rPr lang="en-IN" sz="1400" dirty="0">
                <a:latin typeface="Calisto MT" panose="02040603050505030304" pitchFamily="18" charset="0"/>
              </a:rPr>
              <a:t>parameters:        </a:t>
            </a:r>
            <a:r>
              <a:rPr lang="el-GR" sz="1400" dirty="0" smtClean="0">
                <a:latin typeface="Calisto MT" panose="02040603050505030304" pitchFamily="18" charset="0"/>
              </a:rPr>
              <a:t>θ </a:t>
            </a:r>
            <a:r>
              <a:rPr lang="el-GR" sz="1400" dirty="0">
                <a:latin typeface="Calisto MT" panose="02040603050505030304" pitchFamily="18" charset="0"/>
              </a:rPr>
              <a:t>← θ - η ∇θ </a:t>
            </a:r>
            <a:r>
              <a:rPr lang="en-IN" sz="1400" dirty="0">
                <a:latin typeface="Calisto MT" panose="02040603050505030304" pitchFamily="18" charset="0"/>
              </a:rPr>
              <a:t>L(</a:t>
            </a:r>
            <a:r>
              <a:rPr lang="el-GR" sz="1400" dirty="0">
                <a:latin typeface="Calisto MT" panose="02040603050505030304" pitchFamily="18" charset="0"/>
              </a:rPr>
              <a:t>θ</a:t>
            </a:r>
            <a:r>
              <a:rPr lang="el-GR" sz="1400" dirty="0" smtClean="0">
                <a:latin typeface="Calisto MT" panose="02040603050505030304" pitchFamily="18" charset="0"/>
              </a:rPr>
              <a:t>)</a:t>
            </a:r>
            <a:endParaRPr lang="en-US" sz="1400" dirty="0" smtClean="0">
              <a:latin typeface="Calisto MT" panose="02040603050505030304" pitchFamily="18" charset="0"/>
            </a:endParaRPr>
          </a:p>
          <a:p>
            <a:pPr marL="0" indent="0">
              <a:buNone/>
            </a:pPr>
            <a:r>
              <a:rPr lang="el-GR" sz="1400" dirty="0" smtClean="0">
                <a:latin typeface="Calisto MT" panose="02040603050505030304" pitchFamily="18" charset="0"/>
              </a:rPr>
              <a:t>7</a:t>
            </a:r>
            <a:r>
              <a:rPr lang="el-GR" sz="1400" dirty="0">
                <a:latin typeface="Calisto MT" panose="02040603050505030304" pitchFamily="18" charset="0"/>
              </a:rPr>
              <a:t>. </a:t>
            </a:r>
            <a:r>
              <a:rPr lang="en-IN" sz="1400" dirty="0">
                <a:latin typeface="Calisto MT" panose="02040603050505030304" pitchFamily="18" charset="0"/>
              </a:rPr>
              <a:t>Output trained parameters </a:t>
            </a:r>
            <a:r>
              <a:rPr lang="el-GR" sz="1400" dirty="0">
                <a:latin typeface="Calisto MT" panose="02040603050505030304" pitchFamily="18" charset="0"/>
              </a:rPr>
              <a:t>θ</a:t>
            </a:r>
            <a:endParaRPr lang="en-IN" sz="1400" dirty="0">
              <a:latin typeface="Calisto MT" panose="02040603050505030304" pitchFamily="18" charset="0"/>
            </a:endParaRPr>
          </a:p>
        </p:txBody>
      </p:sp>
      <p:sp>
        <p:nvSpPr>
          <p:cNvPr id="7" name="Title 1"/>
          <p:cNvSpPr>
            <a:spLocks noGrp="1"/>
          </p:cNvSpPr>
          <p:nvPr>
            <p:ph type="title"/>
          </p:nvPr>
        </p:nvSpPr>
        <p:spPr>
          <a:xfrm>
            <a:off x="608806" y="76200"/>
            <a:ext cx="10971372" cy="639762"/>
          </a:xfrm>
        </p:spPr>
        <p:txBody>
          <a:bodyPr>
            <a:normAutofit/>
          </a:bodyPr>
          <a:lstStyle/>
          <a:p>
            <a:r>
              <a:rPr lang="en-US" sz="3000" b="1" dirty="0" smtClean="0">
                <a:latin typeface="Calisto MT" panose="02040603050505030304" pitchFamily="18" charset="0"/>
              </a:rPr>
              <a:t>Algorithms involved</a:t>
            </a:r>
            <a:endParaRPr lang="en-IN" sz="3000" b="1" dirty="0">
              <a:latin typeface="Calisto MT" panose="02040603050505030304" pitchFamily="18" charset="0"/>
            </a:endParaRPr>
          </a:p>
        </p:txBody>
      </p:sp>
    </p:spTree>
    <p:extLst>
      <p:ext uri="{BB962C8B-B14F-4D97-AF65-F5344CB8AC3E}">
        <p14:creationId xmlns:p14="http://schemas.microsoft.com/office/powerpoint/2010/main" val="1824538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806" y="76200"/>
            <a:ext cx="10971372" cy="487362"/>
          </a:xfrm>
        </p:spPr>
        <p:txBody>
          <a:bodyPr>
            <a:noAutofit/>
          </a:bodyPr>
          <a:lstStyle/>
          <a:p>
            <a:r>
              <a:rPr lang="en-US" sz="3000" b="1" dirty="0" smtClean="0">
                <a:latin typeface="Calisto MT" panose="02040603050505030304" pitchFamily="18" charset="0"/>
              </a:rPr>
              <a:t>Algorithms involved</a:t>
            </a:r>
            <a:endParaRPr lang="en-IN" sz="3000" b="1" dirty="0">
              <a:latin typeface="Calisto MT" panose="02040603050505030304" pitchFamily="18" charset="0"/>
            </a:endParaRPr>
          </a:p>
        </p:txBody>
      </p:sp>
      <p:sp>
        <p:nvSpPr>
          <p:cNvPr id="3" name="Text Placeholder 2"/>
          <p:cNvSpPr>
            <a:spLocks noGrp="1"/>
          </p:cNvSpPr>
          <p:nvPr>
            <p:ph type="body" idx="1"/>
          </p:nvPr>
        </p:nvSpPr>
        <p:spPr>
          <a:xfrm>
            <a:off x="3275806" y="609600"/>
            <a:ext cx="5386216" cy="457200"/>
          </a:xfrm>
        </p:spPr>
        <p:txBody>
          <a:bodyPr/>
          <a:lstStyle/>
          <a:p>
            <a:pPr algn="ctr"/>
            <a:r>
              <a:rPr lang="en-US" dirty="0" smtClean="0">
                <a:latin typeface="Calisto MT" panose="02040603050505030304" pitchFamily="18" charset="0"/>
              </a:rPr>
              <a:t>ResNet50</a:t>
            </a:r>
            <a:endParaRPr lang="en-IN" dirty="0">
              <a:latin typeface="Calisto MT" panose="02040603050505030304" pitchFamily="18" charset="0"/>
            </a:endParaRP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a:xfrm>
                <a:off x="609522" y="1066800"/>
                <a:ext cx="10895884" cy="5334000"/>
              </a:xfrm>
            </p:spPr>
            <p:txBody>
              <a:bodyPr>
                <a:normAutofit fontScale="92500" lnSpcReduction="20000"/>
              </a:bodyPr>
              <a:lstStyle/>
              <a:p>
                <a:pPr marL="800100" lvl="2" indent="0">
                  <a:buNone/>
                </a:pPr>
                <a:r>
                  <a:rPr lang="cy-GB" dirty="0" smtClean="0">
                    <a:latin typeface="Calisto MT" panose="02040603050505030304" pitchFamily="18" charset="0"/>
                  </a:rPr>
                  <a:t>1. Define Hyperparameters:</a:t>
                </a:r>
              </a:p>
              <a:p>
                <a:pPr marL="800100" lvl="2" indent="0">
                  <a:buNone/>
                </a:pPr>
                <a:r>
                  <a:rPr lang="cy-GB" dirty="0">
                    <a:latin typeface="Calisto MT" panose="02040603050505030304" pitchFamily="18" charset="0"/>
                  </a:rPr>
                  <a:t>   learning_rate = </a:t>
                </a:r>
                <a:r>
                  <a:rPr lang="el-GR" dirty="0">
                    <a:latin typeface="Calisto MT" panose="02040603050505030304" pitchFamily="18" charset="0"/>
                  </a:rPr>
                  <a:t>η</a:t>
                </a:r>
              </a:p>
              <a:p>
                <a:pPr marL="800100" lvl="2" indent="0">
                  <a:buNone/>
                </a:pPr>
                <a:r>
                  <a:rPr lang="el-GR" dirty="0">
                    <a:latin typeface="Calisto MT" panose="02040603050505030304" pitchFamily="18" charset="0"/>
                  </a:rPr>
                  <a:t>   </a:t>
                </a:r>
                <a:r>
                  <a:rPr lang="cy-GB" dirty="0">
                    <a:latin typeface="Calisto MT" panose="02040603050505030304" pitchFamily="18" charset="0"/>
                  </a:rPr>
                  <a:t>epochs = </a:t>
                </a:r>
                <a:r>
                  <a:rPr lang="cy-GB" dirty="0" smtClean="0">
                    <a:latin typeface="Calisto MT" panose="02040603050505030304" pitchFamily="18" charset="0"/>
                  </a:rPr>
                  <a:t>N</a:t>
                </a:r>
                <a:endParaRPr lang="cy-GB" dirty="0">
                  <a:latin typeface="Calisto MT" panose="02040603050505030304" pitchFamily="18" charset="0"/>
                </a:endParaRPr>
              </a:p>
              <a:p>
                <a:pPr marL="800100" lvl="2" indent="0">
                  <a:buNone/>
                </a:pPr>
                <a:r>
                  <a:rPr lang="cy-GB" dirty="0">
                    <a:latin typeface="Calisto MT" panose="02040603050505030304" pitchFamily="18" charset="0"/>
                  </a:rPr>
                  <a:t>2. Given dataset:</a:t>
                </a:r>
              </a:p>
              <a:p>
                <a:pPr marL="800100" lvl="2" indent="0">
                  <a:buNone/>
                </a:pPr>
                <a:r>
                  <a:rPr lang="cy-GB" dirty="0">
                    <a:latin typeface="Calisto MT" panose="02040603050505030304" pitchFamily="18" charset="0"/>
                  </a:rPr>
                  <a:t>   D = {(x₁,y₁), (x₂,y₂), ..., (xₙ,yₙ)}   (images with labels</a:t>
                </a:r>
                <a:r>
                  <a:rPr lang="cy-GB" dirty="0" smtClean="0">
                    <a:latin typeface="Calisto MT" panose="02040603050505030304" pitchFamily="18" charset="0"/>
                  </a:rPr>
                  <a:t>)</a:t>
                </a:r>
                <a:endParaRPr lang="cy-GB" dirty="0">
                  <a:latin typeface="Calisto MT" panose="02040603050505030304" pitchFamily="18" charset="0"/>
                </a:endParaRPr>
              </a:p>
              <a:p>
                <a:pPr marL="800100" lvl="2" indent="0">
                  <a:buNone/>
                </a:pPr>
                <a:r>
                  <a:rPr lang="cy-GB" dirty="0">
                    <a:latin typeface="Calisto MT" panose="02040603050505030304" pitchFamily="18" charset="0"/>
                  </a:rPr>
                  <a:t>3. Input Processing:</a:t>
                </a:r>
              </a:p>
              <a:p>
                <a:pPr marL="800100" lvl="2" indent="0">
                  <a:buNone/>
                </a:pPr>
                <a:r>
                  <a:rPr lang="cy-GB" dirty="0">
                    <a:latin typeface="Calisto MT" panose="02040603050505030304" pitchFamily="18" charset="0"/>
                  </a:rPr>
                  <a:t>   </a:t>
                </a:r>
                <a:r>
                  <a:rPr lang="cy-GB" b="1" dirty="0">
                    <a:latin typeface="Calisto MT" panose="02040603050505030304" pitchFamily="18" charset="0"/>
                  </a:rPr>
                  <a:t>x ∈ ℝ^(H×W×C)   </a:t>
                </a:r>
                <a:r>
                  <a:rPr lang="cy-GB" dirty="0">
                    <a:latin typeface="Calisto MT" panose="02040603050505030304" pitchFamily="18" charset="0"/>
                  </a:rPr>
                  <a:t>(image tensor</a:t>
                </a:r>
                <a:r>
                  <a:rPr lang="cy-GB" dirty="0" smtClean="0">
                    <a:latin typeface="Calisto MT" panose="02040603050505030304" pitchFamily="18" charset="0"/>
                  </a:rPr>
                  <a:t>)</a:t>
                </a:r>
                <a:endParaRPr lang="cy-GB" dirty="0">
                  <a:latin typeface="Calisto MT" panose="02040603050505030304" pitchFamily="18" charset="0"/>
                </a:endParaRPr>
              </a:p>
              <a:p>
                <a:pPr marL="800100" lvl="2" indent="0">
                  <a:buNone/>
                </a:pPr>
                <a:r>
                  <a:rPr lang="cy-GB" dirty="0">
                    <a:latin typeface="Calisto MT" panose="02040603050505030304" pitchFamily="18" charset="0"/>
                  </a:rPr>
                  <a:t>4. Initialize model parameters </a:t>
                </a:r>
                <a:r>
                  <a:rPr lang="el-GR" dirty="0">
                    <a:latin typeface="Calisto MT" panose="02040603050505030304" pitchFamily="18" charset="0"/>
                  </a:rPr>
                  <a:t>θ (</a:t>
                </a:r>
                <a:r>
                  <a:rPr lang="cy-GB" dirty="0">
                    <a:latin typeface="Calisto MT" panose="02040603050505030304" pitchFamily="18" charset="0"/>
                  </a:rPr>
                  <a:t>ResNet50</a:t>
                </a:r>
                <a:r>
                  <a:rPr lang="cy-GB" dirty="0" smtClean="0">
                    <a:latin typeface="Calisto MT" panose="02040603050505030304" pitchFamily="18" charset="0"/>
                  </a:rPr>
                  <a:t>)</a:t>
                </a:r>
                <a:endParaRPr lang="cy-GB" dirty="0">
                  <a:latin typeface="Calisto MT" panose="02040603050505030304" pitchFamily="18" charset="0"/>
                </a:endParaRPr>
              </a:p>
              <a:p>
                <a:pPr marL="800100" lvl="2" indent="0">
                  <a:buNone/>
                </a:pPr>
                <a:r>
                  <a:rPr lang="cy-GB" dirty="0">
                    <a:latin typeface="Calisto MT" panose="02040603050505030304" pitchFamily="18" charset="0"/>
                  </a:rPr>
                  <a:t>5. For each epoch:</a:t>
                </a:r>
              </a:p>
              <a:p>
                <a:pPr marL="800100" lvl="2" indent="0">
                  <a:buNone/>
                </a:pPr>
                <a:r>
                  <a:rPr lang="cy-GB" dirty="0">
                    <a:latin typeface="Calisto MT" panose="02040603050505030304" pitchFamily="18" charset="0"/>
                  </a:rPr>
                  <a:t>      For each sample (x, y</a:t>
                </a:r>
                <a:r>
                  <a:rPr lang="cy-GB" dirty="0" smtClean="0">
                    <a:latin typeface="Calisto MT" panose="02040603050505030304" pitchFamily="18" charset="0"/>
                  </a:rPr>
                  <a:t>):</a:t>
                </a:r>
                <a:endParaRPr lang="cy-GB" dirty="0">
                  <a:latin typeface="Calisto MT" panose="02040603050505030304" pitchFamily="18" charset="0"/>
                </a:endParaRPr>
              </a:p>
              <a:p>
                <a:pPr marL="800100" lvl="2" indent="0">
                  <a:buNone/>
                </a:pPr>
                <a:r>
                  <a:rPr lang="cy-GB" dirty="0">
                    <a:latin typeface="Calisto MT" panose="02040603050505030304" pitchFamily="18" charset="0"/>
                  </a:rPr>
                  <a:t>         Forward Pass:</a:t>
                </a:r>
              </a:p>
              <a:p>
                <a:pPr marL="800100" lvl="2" indent="0">
                  <a:buNone/>
                </a:pPr>
                <a:r>
                  <a:rPr lang="cy-GB" dirty="0">
                    <a:latin typeface="Calisto MT" panose="02040603050505030304" pitchFamily="18" charset="0"/>
                  </a:rPr>
                  <a:t>            h = ResNet50(x; </a:t>
                </a:r>
                <a:r>
                  <a:rPr lang="el-GR" dirty="0">
                    <a:latin typeface="Calisto MT" panose="02040603050505030304" pitchFamily="18" charset="0"/>
                  </a:rPr>
                  <a:t>θ</a:t>
                </a:r>
                <a:r>
                  <a:rPr lang="el-GR" dirty="0" smtClean="0">
                    <a:latin typeface="Calisto MT" panose="02040603050505030304" pitchFamily="18" charset="0"/>
                  </a:rPr>
                  <a:t>)</a:t>
                </a:r>
                <a:endParaRPr lang="el-GR" dirty="0">
                  <a:latin typeface="Calisto MT" panose="02040603050505030304" pitchFamily="18" charset="0"/>
                </a:endParaRPr>
              </a:p>
              <a:p>
                <a:pPr marL="800100" lvl="2" indent="0">
                  <a:buNone/>
                </a:pPr>
                <a:r>
                  <a:rPr lang="el-GR" dirty="0">
                    <a:latin typeface="Calisto MT" panose="02040603050505030304" pitchFamily="18" charset="0"/>
                  </a:rPr>
                  <a:t>         </a:t>
                </a:r>
                <a:r>
                  <a:rPr lang="cy-GB" dirty="0">
                    <a:latin typeface="Calisto MT" panose="02040603050505030304" pitchFamily="18" charset="0"/>
                  </a:rPr>
                  <a:t>Prediction:</a:t>
                </a:r>
              </a:p>
              <a:p>
                <a:pPr marL="800100" lvl="2" indent="0">
                  <a:buNone/>
                </a:pPr>
                <a:r>
                  <a:rPr lang="cy-GB" dirty="0">
                    <a:latin typeface="Calisto MT" panose="02040603050505030304" pitchFamily="18" charset="0"/>
                  </a:rPr>
                  <a:t>            ŷ = softmax(h</a:t>
                </a:r>
                <a:r>
                  <a:rPr lang="cy-GB" dirty="0" smtClean="0">
                    <a:latin typeface="Calisto MT" panose="02040603050505030304" pitchFamily="18" charset="0"/>
                  </a:rPr>
                  <a:t>)</a:t>
                </a:r>
                <a:endParaRPr lang="cy-GB" dirty="0">
                  <a:latin typeface="Calisto MT" panose="02040603050505030304" pitchFamily="18" charset="0"/>
                </a:endParaRPr>
              </a:p>
              <a:p>
                <a:pPr marL="800100" lvl="2" indent="0">
                  <a:buNone/>
                </a:pPr>
                <a:r>
                  <a:rPr lang="cy-GB" dirty="0">
                    <a:latin typeface="Calisto MT" panose="02040603050505030304" pitchFamily="18" charset="0"/>
                  </a:rPr>
                  <a:t>         Compute Loss (Cross-Entropy</a:t>
                </a:r>
                <a:r>
                  <a:rPr lang="cy-GB" dirty="0" smtClean="0">
                    <a:latin typeface="Calisto MT" panose="02040603050505030304" pitchFamily="18" charset="0"/>
                  </a:rPr>
                  <a:t>)</a:t>
                </a:r>
              </a:p>
              <a:p>
                <a:pPr marL="800100" lvl="2" indent="0">
                  <a:buNone/>
                </a:pPr>
                <a:r>
                  <a:rPr lang="cy-GB" dirty="0" smtClean="0">
                    <a:latin typeface="Calisto MT" panose="02040603050505030304" pitchFamily="18" charset="0"/>
                  </a:rPr>
                  <a:t>		</a:t>
                </a:r>
                <a14:m>
                  <m:oMath xmlns:m="http://schemas.openxmlformats.org/officeDocument/2006/math">
                    <m:r>
                      <a:rPr lang="en-US" b="1" i="1" smtClean="0">
                        <a:latin typeface="Cambria Math"/>
                      </a:rPr>
                      <m:t>𝑳</m:t>
                    </m:r>
                    <m:d>
                      <m:dPr>
                        <m:ctrlPr>
                          <a:rPr lang="en-US" b="1" i="1" smtClean="0">
                            <a:latin typeface="Cambria Math"/>
                          </a:rPr>
                        </m:ctrlPr>
                      </m:dPr>
                      <m:e>
                        <m:r>
                          <a:rPr lang="en-US" b="1" i="1" smtClean="0">
                            <a:latin typeface="Cambria Math"/>
                            <a:ea typeface="Cambria Math"/>
                          </a:rPr>
                          <m:t>𝜽</m:t>
                        </m:r>
                      </m:e>
                    </m:d>
                    <m:r>
                      <a:rPr lang="en-US" b="1" i="1" smtClean="0">
                        <a:latin typeface="Cambria Math"/>
                        <a:ea typeface="Cambria Math"/>
                      </a:rPr>
                      <m:t>=−</m:t>
                    </m:r>
                    <m:nary>
                      <m:naryPr>
                        <m:chr m:val="∑"/>
                        <m:ctrlPr>
                          <a:rPr lang="en-US" b="1" i="1" smtClean="0">
                            <a:latin typeface="Cambria Math"/>
                            <a:ea typeface="Cambria Math"/>
                          </a:rPr>
                        </m:ctrlPr>
                      </m:naryPr>
                      <m:sub>
                        <m:r>
                          <m:rPr>
                            <m:brk m:alnAt="23"/>
                          </m:rPr>
                          <a:rPr lang="en-US" b="1" i="1" smtClean="0">
                            <a:latin typeface="Cambria Math"/>
                            <a:ea typeface="Cambria Math"/>
                          </a:rPr>
                          <m:t>𝒄</m:t>
                        </m:r>
                        <m:r>
                          <a:rPr lang="en-US" b="1" i="1" smtClean="0">
                            <a:latin typeface="Cambria Math"/>
                            <a:ea typeface="Cambria Math"/>
                          </a:rPr>
                          <m:t>=</m:t>
                        </m:r>
                        <m:r>
                          <a:rPr lang="en-US" b="1" i="1" smtClean="0">
                            <a:latin typeface="Cambria Math"/>
                            <a:ea typeface="Cambria Math"/>
                          </a:rPr>
                          <m:t>𝟏</m:t>
                        </m:r>
                      </m:sub>
                      <m:sup>
                        <m:r>
                          <a:rPr lang="en-US" b="1" i="1" smtClean="0">
                            <a:latin typeface="Cambria Math"/>
                            <a:ea typeface="Cambria Math"/>
                          </a:rPr>
                          <m:t>𝑪</m:t>
                        </m:r>
                      </m:sup>
                      <m:e>
                        <m:sSub>
                          <m:sSubPr>
                            <m:ctrlPr>
                              <a:rPr lang="en-US" b="1" i="1" smtClean="0">
                                <a:latin typeface="Cambria Math"/>
                                <a:ea typeface="Cambria Math"/>
                              </a:rPr>
                            </m:ctrlPr>
                          </m:sSubPr>
                          <m:e>
                            <m:r>
                              <a:rPr lang="en-US" b="1" i="1" smtClean="0">
                                <a:latin typeface="Cambria Math"/>
                                <a:ea typeface="Cambria Math"/>
                              </a:rPr>
                              <m:t>𝒚</m:t>
                            </m:r>
                          </m:e>
                          <m:sub>
                            <m:r>
                              <a:rPr lang="en-US" b="1" i="1" smtClean="0">
                                <a:latin typeface="Cambria Math"/>
                                <a:ea typeface="Cambria Math"/>
                              </a:rPr>
                              <m:t>𝒄</m:t>
                            </m:r>
                          </m:sub>
                        </m:sSub>
                        <m:r>
                          <a:rPr lang="en-US" b="1" i="1" smtClean="0">
                            <a:latin typeface="Cambria Math"/>
                            <a:ea typeface="Cambria Math"/>
                          </a:rPr>
                          <m:t>𝒍𝒐𝒈</m:t>
                        </m:r>
                        <m:acc>
                          <m:accPr>
                            <m:chr m:val="̂"/>
                            <m:ctrlPr>
                              <a:rPr lang="en-US" b="1" i="1" smtClean="0">
                                <a:latin typeface="Cambria Math"/>
                                <a:ea typeface="Cambria Math"/>
                              </a:rPr>
                            </m:ctrlPr>
                          </m:accPr>
                          <m:e>
                            <m:sSub>
                              <m:sSubPr>
                                <m:ctrlPr>
                                  <a:rPr lang="en-US" b="1" i="1" smtClean="0">
                                    <a:latin typeface="Cambria Math"/>
                                    <a:ea typeface="Cambria Math"/>
                                  </a:rPr>
                                </m:ctrlPr>
                              </m:sSubPr>
                              <m:e>
                                <m:r>
                                  <a:rPr lang="en-US" b="1" i="1" smtClean="0">
                                    <a:latin typeface="Cambria Math"/>
                                    <a:ea typeface="Cambria Math"/>
                                  </a:rPr>
                                  <m:t>𝒚</m:t>
                                </m:r>
                              </m:e>
                              <m:sub>
                                <m:r>
                                  <a:rPr lang="en-US" b="1" i="1" smtClean="0">
                                    <a:latin typeface="Cambria Math"/>
                                    <a:ea typeface="Cambria Math"/>
                                  </a:rPr>
                                  <m:t>𝒄</m:t>
                                </m:r>
                              </m:sub>
                            </m:sSub>
                          </m:e>
                        </m:acc>
                      </m:e>
                    </m:nary>
                  </m:oMath>
                </a14:m>
                <a:endParaRPr lang="cy-GB" b="1" dirty="0">
                  <a:latin typeface="Calisto MT" panose="02040603050505030304" pitchFamily="18" charset="0"/>
                </a:endParaRPr>
              </a:p>
              <a:p>
                <a:pPr marL="800100" lvl="2" indent="0">
                  <a:buNone/>
                </a:pPr>
                <a:r>
                  <a:rPr lang="en-IN" dirty="0">
                    <a:latin typeface="Calisto MT" panose="02040603050505030304" pitchFamily="18" charset="0"/>
                  </a:rPr>
                  <a:t> Update parameters:</a:t>
                </a:r>
              </a:p>
              <a:p>
                <a:pPr marL="800100" lvl="2" indent="0">
                  <a:buNone/>
                </a:pPr>
                <a:r>
                  <a:rPr lang="en-IN" b="1" dirty="0">
                    <a:latin typeface="Calisto MT" panose="02040603050505030304" pitchFamily="18" charset="0"/>
                  </a:rPr>
                  <a:t>            </a:t>
                </a:r>
                <a:r>
                  <a:rPr lang="el-GR" b="1" dirty="0">
                    <a:latin typeface="Calisto MT" panose="02040603050505030304" pitchFamily="18" charset="0"/>
                  </a:rPr>
                  <a:t>θ ← θ − η ∇θ </a:t>
                </a:r>
                <a:r>
                  <a:rPr lang="en-IN" b="1" dirty="0">
                    <a:latin typeface="Calisto MT" panose="02040603050505030304" pitchFamily="18" charset="0"/>
                  </a:rPr>
                  <a:t>L(</a:t>
                </a:r>
                <a:r>
                  <a:rPr lang="el-GR" b="1" dirty="0">
                    <a:latin typeface="Calisto MT" panose="02040603050505030304" pitchFamily="18" charset="0"/>
                  </a:rPr>
                  <a:t>θ</a:t>
                </a:r>
                <a:r>
                  <a:rPr lang="el-GR" b="1" dirty="0" smtClean="0">
                    <a:latin typeface="Calisto MT" panose="02040603050505030304" pitchFamily="18" charset="0"/>
                  </a:rPr>
                  <a:t>)</a:t>
                </a:r>
                <a:endParaRPr lang="el-GR" b="1" dirty="0">
                  <a:latin typeface="Calisto MT" panose="02040603050505030304" pitchFamily="18" charset="0"/>
                </a:endParaRPr>
              </a:p>
              <a:p>
                <a:pPr marL="800100" lvl="2" indent="0">
                  <a:buNone/>
                </a:pPr>
                <a:r>
                  <a:rPr lang="el-GR" dirty="0">
                    <a:latin typeface="Calisto MT" panose="02040603050505030304" pitchFamily="18" charset="0"/>
                  </a:rPr>
                  <a:t>6. </a:t>
                </a:r>
                <a:r>
                  <a:rPr lang="en-IN" dirty="0">
                    <a:latin typeface="Calisto MT" panose="02040603050505030304" pitchFamily="18" charset="0"/>
                  </a:rPr>
                  <a:t>Output:</a:t>
                </a:r>
              </a:p>
              <a:p>
                <a:pPr marL="800100" lvl="2" indent="0">
                  <a:buNone/>
                </a:pPr>
                <a:r>
                  <a:rPr lang="en-IN" dirty="0">
                    <a:latin typeface="Calisto MT" panose="02040603050505030304" pitchFamily="18" charset="0"/>
                  </a:rPr>
                  <a:t>   Trained parameters </a:t>
                </a:r>
                <a:r>
                  <a:rPr lang="el-GR" dirty="0">
                    <a:latin typeface="Calisto MT" panose="02040603050505030304" pitchFamily="18" charset="0"/>
                  </a:rPr>
                  <a:t>θ*</a:t>
                </a:r>
                <a:endParaRPr lang="en-IN" dirty="0">
                  <a:latin typeface="Calisto MT" panose="02040603050505030304" pitchFamily="18" charset="0"/>
                </a:endParaRPr>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xfrm>
                <a:off x="609522" y="1066800"/>
                <a:ext cx="10895884" cy="5334000"/>
              </a:xfrm>
              <a:blipFill rotWithShape="1">
                <a:blip r:embed="rId2"/>
                <a:stretch>
                  <a:fillRect t="-1257"/>
                </a:stretch>
              </a:blipFill>
            </p:spPr>
            <p:txBody>
              <a:bodyPr/>
              <a:lstStyle/>
              <a:p>
                <a:r>
                  <a:rPr lang="en-IN">
                    <a:noFill/>
                  </a:rPr>
                  <a:t> </a:t>
                </a:r>
              </a:p>
            </p:txBody>
          </p:sp>
        </mc:Fallback>
      </mc:AlternateContent>
    </p:spTree>
    <p:extLst>
      <p:ext uri="{BB962C8B-B14F-4D97-AF65-F5344CB8AC3E}">
        <p14:creationId xmlns:p14="http://schemas.microsoft.com/office/powerpoint/2010/main" val="878242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2109</TotalTime>
  <Words>1785</Words>
  <Application>Microsoft Office PowerPoint</Application>
  <PresentationFormat>Custom</PresentationFormat>
  <Paragraphs>365</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Agenda</vt:lpstr>
      <vt:lpstr>Introduction</vt:lpstr>
      <vt:lpstr>Problem Statement</vt:lpstr>
      <vt:lpstr>PowerPoint Presentation</vt:lpstr>
      <vt:lpstr>Literature Survey</vt:lpstr>
      <vt:lpstr>PowerPoint Presentation</vt:lpstr>
      <vt:lpstr>PowerPoint Presentation</vt:lpstr>
      <vt:lpstr>Datasets Used</vt:lpstr>
      <vt:lpstr>Requirement Specifications</vt:lpstr>
      <vt:lpstr>PowerPoint Presentation</vt:lpstr>
      <vt:lpstr>PowerPoint Presentation</vt:lpstr>
      <vt:lpstr>PowerPoint Presentation</vt:lpstr>
      <vt:lpstr>Architecture diagram</vt:lpstr>
      <vt:lpstr>Implementation steps</vt:lpstr>
      <vt:lpstr>Execution</vt:lpstr>
      <vt:lpstr>Results obtained</vt:lpstr>
      <vt:lpstr>PowerPoint Presentation</vt:lpstr>
      <vt:lpstr>PowerPoint Presentation</vt:lpstr>
      <vt:lpstr>Interface Results</vt:lpstr>
      <vt:lpstr>Result analysis with charts</vt:lpstr>
      <vt:lpstr>PowerPoint Presentation</vt:lpstr>
      <vt:lpstr>Roberta (Disaster/Not) Detection</vt:lpstr>
      <vt:lpstr>Decision fusion and Quantitative comparison</vt:lpstr>
      <vt:lpstr>PowerPoint Presentation</vt:lpstr>
      <vt:lpstr>References</vt:lpstr>
      <vt:lpstr>Algorithms involved</vt:lpstr>
      <vt:lpstr>Algorithms involved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Niha</dc:creator>
  <cp:lastModifiedBy>HP</cp:lastModifiedBy>
  <cp:revision>226</cp:revision>
  <dcterms:created xsi:type="dcterms:W3CDTF">2006-08-16T00:00:00Z</dcterms:created>
  <dcterms:modified xsi:type="dcterms:W3CDTF">2026-04-21T01:12:37Z</dcterms:modified>
</cp:coreProperties>
</file>